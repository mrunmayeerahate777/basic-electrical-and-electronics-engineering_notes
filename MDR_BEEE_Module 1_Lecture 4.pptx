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02" r:id="rId2"/>
    <p:sldId id="294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2" r:id="rId11"/>
    <p:sldId id="281" r:id="rId12"/>
    <p:sldId id="283" r:id="rId13"/>
    <p:sldId id="284" r:id="rId14"/>
    <p:sldId id="285" r:id="rId15"/>
    <p:sldId id="286" r:id="rId16"/>
    <p:sldId id="297" r:id="rId17"/>
    <p:sldId id="298" r:id="rId18"/>
    <p:sldId id="30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82" autoAdjust="0"/>
  </p:normalViewPr>
  <p:slideViewPr>
    <p:cSldViewPr snapToGrid="0">
      <p:cViewPr>
        <p:scale>
          <a:sx n="80" d="100"/>
          <a:sy n="80" d="100"/>
        </p:scale>
        <p:origin x="136" y="-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764B6-0A6E-4EC6-A58F-423D2F9EB08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3434-ABD3-4B04-B437-3A7F424B23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83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98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3434-ABD3-4B04-B437-3A7F424B23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26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Given: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Vs = 24 V (Supply voltage)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Resistor R1 = 5 k</a:t>
            </a:r>
            <a:r>
              <a:rPr lang="el-GR" dirty="0"/>
              <a:t>Ω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Resistor R2 = 10 k</a:t>
            </a:r>
            <a:r>
              <a:rPr lang="el-GR" dirty="0"/>
              <a:t>Ω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Potentiometer Rp = 10 k</a:t>
            </a:r>
            <a:r>
              <a:rPr lang="el-GR" dirty="0"/>
              <a:t>Ω</a:t>
            </a:r>
            <a:r>
              <a:rPr lang="en-IN" dirty="0"/>
              <a:t> (connected in series)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V1 is the voltage across the potentiometer</a:t>
            </a:r>
          </a:p>
          <a:p>
            <a:endParaRPr lang="en-IN" b="1" dirty="0"/>
          </a:p>
          <a:p>
            <a:r>
              <a:rPr lang="en-IN" b="1" dirty="0"/>
              <a:t>Solution:</a:t>
            </a:r>
          </a:p>
          <a:p>
            <a:r>
              <a:rPr lang="en-IN" dirty="0"/>
              <a:t>The potentiometer Rp is connected in series with R1 and R2. The total resistance in the circuit is:</a:t>
            </a:r>
          </a:p>
          <a:p>
            <a:r>
              <a:rPr lang="en-IN" dirty="0"/>
              <a:t>                 </a:t>
            </a:r>
            <a:r>
              <a:rPr lang="en-IN" dirty="0" err="1"/>
              <a:t>Rtotal</a:t>
            </a:r>
            <a:r>
              <a:rPr lang="en-IN" dirty="0"/>
              <a:t> = R1+Rp+R2 = 5 k</a:t>
            </a:r>
            <a:r>
              <a:rPr lang="el-GR" dirty="0"/>
              <a:t>Ω+10 </a:t>
            </a:r>
            <a:r>
              <a:rPr lang="en-IN" dirty="0"/>
              <a:t>k</a:t>
            </a:r>
            <a:r>
              <a:rPr lang="el-GR" dirty="0"/>
              <a:t>Ω+10 </a:t>
            </a:r>
            <a:r>
              <a:rPr lang="en-IN" dirty="0"/>
              <a:t>k</a:t>
            </a:r>
            <a:r>
              <a:rPr lang="el-GR" dirty="0"/>
              <a:t>Ω</a:t>
            </a:r>
            <a:r>
              <a:rPr lang="en-IN" dirty="0"/>
              <a:t> </a:t>
            </a:r>
            <a:r>
              <a:rPr lang="el-GR" dirty="0"/>
              <a:t>=</a:t>
            </a:r>
            <a:r>
              <a:rPr lang="en-IN" dirty="0"/>
              <a:t> </a:t>
            </a:r>
            <a:r>
              <a:rPr lang="el-GR" dirty="0"/>
              <a:t>25 </a:t>
            </a:r>
            <a:r>
              <a:rPr lang="en-IN" dirty="0"/>
              <a:t>k</a:t>
            </a:r>
            <a:r>
              <a:rPr lang="el-GR" dirty="0"/>
              <a:t>Ω</a:t>
            </a:r>
            <a:endParaRPr lang="en-IN" dirty="0"/>
          </a:p>
          <a:p>
            <a:endParaRPr lang="en-IN" dirty="0"/>
          </a:p>
          <a:p>
            <a:r>
              <a:rPr lang="en-IN" dirty="0"/>
              <a:t>The total current I in the circuit is:</a:t>
            </a:r>
          </a:p>
          <a:p>
            <a:r>
              <a:rPr lang="en-IN" dirty="0"/>
              <a:t>I = Vs * </a:t>
            </a:r>
            <a:r>
              <a:rPr lang="en-IN" dirty="0" err="1"/>
              <a:t>Rtotal</a:t>
            </a:r>
            <a:r>
              <a:rPr lang="en-IN" dirty="0"/>
              <a:t> = 24 V * 25 k</a:t>
            </a:r>
            <a:r>
              <a:rPr lang="el-GR" dirty="0"/>
              <a:t>Ω</a:t>
            </a:r>
            <a:r>
              <a:rPr lang="en-IN" dirty="0"/>
              <a:t> = 0.96 mA</a:t>
            </a:r>
          </a:p>
          <a:p>
            <a:endParaRPr lang="en-IN" b="1" dirty="0"/>
          </a:p>
          <a:p>
            <a:r>
              <a:rPr lang="en-IN" b="1" dirty="0"/>
              <a:t>Range of V1</a:t>
            </a:r>
          </a:p>
          <a:p>
            <a:r>
              <a:rPr lang="en-IN" dirty="0"/>
              <a:t>V1 is the voltage across the potentiometer, which is adjustable between 0 and the full resistance of the potentiometer.</a:t>
            </a:r>
          </a:p>
          <a:p>
            <a:r>
              <a:rPr lang="en-IN" dirty="0"/>
              <a:t>If the potentiometer is adjusted from 0 to 10 k</a:t>
            </a:r>
            <a:r>
              <a:rPr lang="el-GR" dirty="0"/>
              <a:t>Ω</a:t>
            </a:r>
            <a:r>
              <a:rPr lang="en-IN" dirty="0"/>
              <a:t>, the voltage V1 across it will range from 0 to:</a:t>
            </a:r>
          </a:p>
          <a:p>
            <a:r>
              <a:rPr lang="en-IN" dirty="0"/>
              <a:t>V1max = I * Rp = 0.96 mA * 10 k</a:t>
            </a:r>
            <a:r>
              <a:rPr lang="el-GR" dirty="0"/>
              <a:t>Ω</a:t>
            </a:r>
            <a:r>
              <a:rPr lang="en-IN" dirty="0"/>
              <a:t> </a:t>
            </a:r>
            <a:r>
              <a:rPr lang="el-GR" dirty="0"/>
              <a:t>=</a:t>
            </a:r>
            <a:r>
              <a:rPr lang="en-IN" dirty="0"/>
              <a:t> </a:t>
            </a:r>
            <a:r>
              <a:rPr lang="el-GR" dirty="0"/>
              <a:t>9.6 </a:t>
            </a:r>
            <a:r>
              <a:rPr lang="en-IN" dirty="0"/>
              <a:t>V</a:t>
            </a:r>
          </a:p>
          <a:p>
            <a:endParaRPr lang="en-IN" b="1" dirty="0"/>
          </a:p>
          <a:p>
            <a:r>
              <a:rPr lang="en-IN" b="0" dirty="0"/>
              <a:t>Thus, the total range </a:t>
            </a:r>
            <a:r>
              <a:rPr lang="en-IN" dirty="0"/>
              <a:t>of voltage V1 that can be obtained by adjusting the potentiometer is: 0 V ≤ V1 ≤ 9.6 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3434-ABD3-4B04-B437-3A7F424B23D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53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nn-NO" sz="1800" b="1" baseline="0" dirty="0"/>
              <a:t>KCL:</a:t>
            </a:r>
          </a:p>
          <a:p>
            <a:pPr>
              <a:lnSpc>
                <a:spcPct val="150000"/>
              </a:lnSpc>
            </a:pPr>
            <a:r>
              <a:rPr lang="en-IN" sz="1800" b="0" baseline="0" dirty="0"/>
              <a:t>i3 = i1 – i2 </a:t>
            </a:r>
            <a:endParaRPr lang="nn-NO" sz="1800" b="0" baseline="0" dirty="0"/>
          </a:p>
          <a:p>
            <a:pPr>
              <a:lnSpc>
                <a:spcPct val="150000"/>
              </a:lnSpc>
            </a:pPr>
            <a:endParaRPr lang="nn-NO" sz="1800" b="1" baseline="0" dirty="0"/>
          </a:p>
          <a:p>
            <a:pPr>
              <a:lnSpc>
                <a:spcPct val="150000"/>
              </a:lnSpc>
            </a:pPr>
            <a:r>
              <a:rPr lang="nn-NO" sz="1800" b="1" baseline="0" dirty="0"/>
              <a:t>KVL in mesh 1: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n-NO" sz="1800" baseline="0" dirty="0"/>
              <a:t>15-5*i1​-10*i3-10 = 0</a:t>
            </a:r>
          </a:p>
          <a:p>
            <a:pPr>
              <a:lnSpc>
                <a:spcPct val="150000"/>
              </a:lnSpc>
            </a:pPr>
            <a:r>
              <a:rPr lang="nn-NO" sz="1800" baseline="0" dirty="0"/>
              <a:t>15-5*i1​-10*(i1​−i2​)-10 = 0</a:t>
            </a:r>
          </a:p>
          <a:p>
            <a:pPr>
              <a:lnSpc>
                <a:spcPct val="150000"/>
              </a:lnSpc>
            </a:pPr>
            <a:r>
              <a:rPr lang="en-IN" sz="1800" baseline="0" dirty="0"/>
              <a:t>3*i1​−2*i2 ​= 1 ……………………..(</a:t>
            </a:r>
            <a:r>
              <a:rPr lang="en-IN" sz="1800" baseline="0" dirty="0" err="1"/>
              <a:t>i</a:t>
            </a:r>
            <a:r>
              <a:rPr lang="en-IN" sz="1800" baseline="0" dirty="0"/>
              <a:t>)</a:t>
            </a:r>
          </a:p>
          <a:p>
            <a:pPr>
              <a:lnSpc>
                <a:spcPct val="150000"/>
              </a:lnSpc>
            </a:pPr>
            <a:endParaRPr lang="en-IN" sz="1800" baseline="0" dirty="0"/>
          </a:p>
          <a:p>
            <a:pPr>
              <a:lnSpc>
                <a:spcPct val="150000"/>
              </a:lnSpc>
            </a:pPr>
            <a:r>
              <a:rPr lang="en-IN" sz="1800" b="1" baseline="0" dirty="0"/>
              <a:t>KVL in mesh 2:</a:t>
            </a:r>
          </a:p>
          <a:p>
            <a:pPr>
              <a:lnSpc>
                <a:spcPct val="150000"/>
              </a:lnSpc>
            </a:pPr>
            <a:r>
              <a:rPr lang="en-IN" sz="1800" baseline="0" dirty="0"/>
              <a:t>-6*i2-4*i2+10+10*i3 = 0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baseline="0" dirty="0"/>
              <a:t>-6*i2-4*i2+10+10*(i1-i2) = 0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800" baseline="0" dirty="0"/>
              <a:t>-i1+2*I2 = 1 ………………………(ii)</a:t>
            </a:r>
          </a:p>
          <a:p>
            <a:pPr>
              <a:lnSpc>
                <a:spcPct val="150000"/>
              </a:lnSpc>
            </a:pPr>
            <a:endParaRPr lang="en-IN" sz="1800" baseline="0" dirty="0"/>
          </a:p>
          <a:p>
            <a:pPr>
              <a:lnSpc>
                <a:spcPct val="150000"/>
              </a:lnSpc>
            </a:pPr>
            <a:r>
              <a:rPr lang="en-IN" sz="1800" baseline="0" dirty="0"/>
              <a:t>Solving (</a:t>
            </a:r>
            <a:r>
              <a:rPr lang="en-IN" sz="1800" baseline="0" dirty="0" err="1"/>
              <a:t>i</a:t>
            </a:r>
            <a:r>
              <a:rPr lang="en-IN" sz="1800" baseline="0" dirty="0"/>
              <a:t>) and (ii) we get,</a:t>
            </a:r>
          </a:p>
          <a:p>
            <a:pPr>
              <a:lnSpc>
                <a:spcPct val="150000"/>
              </a:lnSpc>
            </a:pPr>
            <a:r>
              <a:rPr lang="en-IN" sz="1800" b="1" baseline="0" dirty="0"/>
              <a:t>i1 = 1 A</a:t>
            </a:r>
          </a:p>
          <a:p>
            <a:pPr>
              <a:lnSpc>
                <a:spcPct val="150000"/>
              </a:lnSpc>
            </a:pPr>
            <a:r>
              <a:rPr lang="en-IN" sz="1800" b="1" baseline="0" dirty="0"/>
              <a:t>i2 = 1 A</a:t>
            </a:r>
          </a:p>
          <a:p>
            <a:pPr>
              <a:lnSpc>
                <a:spcPct val="150000"/>
              </a:lnSpc>
            </a:pPr>
            <a:endParaRPr lang="en-IN" sz="1800" b="1" baseline="0" dirty="0"/>
          </a:p>
          <a:p>
            <a:pPr>
              <a:lnSpc>
                <a:spcPct val="150000"/>
              </a:lnSpc>
            </a:pPr>
            <a:r>
              <a:rPr lang="en-IN" sz="1800" b="1" baseline="0" dirty="0"/>
              <a:t>i3 = 0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3434-ABD3-4B04-B437-3A7F424B23D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926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FB9C-BEA0-EA8D-D6AD-A6B199D51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E1A06-FC21-4173-0332-8AA4EFD59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B0BD5-2754-362C-9DC2-9F13732E0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017E-40B4-4DE5-9AA5-D25F323CBC4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284AE-F8EB-3624-942A-6D39D9BD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00487-A462-DA44-3891-2DAB7B2B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C9FF-09AA-4B89-8BCD-B7BBCBA2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2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697F-1E08-3660-EA07-66367CB8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819EF-D4C2-FEA4-0269-E272ACB92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53866-F64B-A362-9515-8EFEBB08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017E-40B4-4DE5-9AA5-D25F323CBC4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BFB02-391B-24D3-E884-CB7D18512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BA98D-93B5-A205-4B41-84E4C849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C9FF-09AA-4B89-8BCD-B7BBCBA2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52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CBC08-0CAA-1E4B-F78B-56DD86DFC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595B6-7B0F-FAE1-2D76-F2D419AF5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C1316-A464-A42D-7AD6-17EC57FC4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017E-40B4-4DE5-9AA5-D25F323CBC4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D58DA-78CC-545B-3C46-41C89ED2D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C2F30-4CCE-0A25-0DD2-B0F15225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C9FF-09AA-4B89-8BCD-B7BBCBA2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07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897F3-34D3-CB74-91ED-5EC905A55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C8D2E-EE04-6E3A-1DF9-4152BD1C8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2E686-CF5D-06A4-789F-8445D6E88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9D4CD-B30D-C7F1-9FCE-3A63CEEC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017E-40B4-4DE5-9AA5-D25F323CBC4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D1C24-4954-5468-18B2-E88BF8F7F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365E7-BB06-4391-1117-EE0340C57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C9FF-09AA-4B89-8BCD-B7BBCBA2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78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32643-3165-C379-E8C8-D491F0204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32DD0-1ABC-FE29-95C2-9636E538B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E1A11-B7E3-7279-0DE1-6DA85A4A3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C99F8-D1D5-B7E1-6316-6DEA98734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98AC4-08B6-F072-BED0-ED6DF21C3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96AED9-0F2F-F0C0-C003-45DB96359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017E-40B4-4DE5-9AA5-D25F323CBC4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41F9FF-EFAC-639B-8409-FF774650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5919E2-1E57-571E-369B-4FD4EE64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C9FF-09AA-4B89-8BCD-B7BBCBA2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26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B76C-61AD-16FA-B9A1-9F540591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40500E-249B-C8C9-D34B-41C29DD30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017E-40B4-4DE5-9AA5-D25F323CBC4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66491-5578-EBD2-E428-08E22F4F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BC209-E41F-4198-1BA9-ABDD4201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C9FF-09AA-4B89-8BCD-B7BBCBA2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B95A2F-588E-9A25-51AC-B837F2675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017E-40B4-4DE5-9AA5-D25F323CBC4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6E1CA7-148A-58FE-B4F6-3EAAE0235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7414A-6BDB-CF36-1EB8-9A958E5C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C9FF-09AA-4B89-8BCD-B7BBCBA2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9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BC393-EA0D-D9B2-5E4A-A65E5BF3B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486EE-07F9-913B-D240-508B8F546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DAB8D-DDED-49AF-ED0A-4EB391836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1F162-0FB6-D038-9363-652F0942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017E-40B4-4DE5-9AA5-D25F323CBC4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CDABD-609D-E34F-575E-040AF47A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AF17A-8CCB-6D8C-16F5-8F34D27F7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C9FF-09AA-4B89-8BCD-B7BBCBA2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88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80056-3295-B2A6-3C62-2652FC179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F1B7C6-003F-3547-5746-0ED8399BE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2789F-F300-0046-D34B-9BF5C3506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99B73-3AB0-86DE-7885-0D22E006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017E-40B4-4DE5-9AA5-D25F323CBC4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475B4-0BCC-3EC9-9AE2-71CA48FE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92F24-DFED-EF0B-158E-F7121920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C9FF-09AA-4B89-8BCD-B7BBCBA2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90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497B6-90CD-3637-14BF-1C982C0EE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7A112-D351-F74E-D034-DB8820B1F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C2134-E557-5BA3-AC41-3EEF42834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017E-40B4-4DE5-9AA5-D25F323CBC4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EA949-B864-8FFA-E85A-E8896910B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13834-DD25-4374-541D-A4072D263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C9FF-09AA-4B89-8BCD-B7BBCBA2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9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5F834-90E9-BB77-C6CB-7D57A3119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B0B045-5EB2-F9B0-1219-F6274EA3A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FDAAA-4322-4F9B-AD8A-524D0B743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2017E-40B4-4DE5-9AA5-D25F323CBC4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73E98-EED6-A223-2CBD-ADDF5223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9193C-2634-9CC3-95CA-E720D949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8C9FF-09AA-4B89-8BCD-B7BBCBA2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977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77364C-2E22-CF04-49C3-1BDDD3EEE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D01D5-D44F-8BDF-C8ED-83D0DA57E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32E67-F951-056C-5F67-DD32C9A105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2017E-40B4-4DE5-9AA5-D25F323CBC4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01513-5507-03C3-A1D3-808B94834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E560F-9BCE-BBFB-87FF-DB96F169D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8C9FF-09AA-4B89-8BCD-B7BBCBA22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0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16137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0662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1: Fundamentals of Electrical Circuits</a:t>
            </a:r>
          </a:p>
          <a:p>
            <a:pPr algn="ctr"/>
            <a:endParaRPr lang="en-IN" sz="3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600" b="1">
                <a:solidFill>
                  <a:srgbClr val="FFFF00"/>
                </a:solidFill>
                <a:latin typeface="Arial" panose="020B0604020202020204" pitchFamily="34" charset="0"/>
              </a:rPr>
              <a:t>Lecture 4: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algn="ctr" defTabSz="457200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</a:rPr>
              <a:t>Mesh Analysis and Numerical</a:t>
            </a:r>
            <a:endParaRPr lang="en-IN" sz="40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89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E0D014-D9EC-C359-9059-4E240268B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3" t="3008" r="2206" b="6144"/>
          <a:stretch/>
        </p:blipFill>
        <p:spPr>
          <a:xfrm>
            <a:off x="911603" y="587230"/>
            <a:ext cx="10368794" cy="555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926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C5CD7B-0AC7-E732-4E97-09F73A4B86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7" t="3334" r="2344" b="7639"/>
          <a:stretch/>
        </p:blipFill>
        <p:spPr>
          <a:xfrm>
            <a:off x="1054216" y="494951"/>
            <a:ext cx="10083567" cy="528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40104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207C47-FCF4-A0C2-504B-C7E0531670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3" t="2917" r="1953" b="7500"/>
          <a:stretch/>
        </p:blipFill>
        <p:spPr>
          <a:xfrm>
            <a:off x="722851" y="419450"/>
            <a:ext cx="10746297" cy="563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33441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27D82-990C-30E6-CFD2-115FF92ED3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1" t="2778" r="2031" b="6805"/>
          <a:stretch/>
        </p:blipFill>
        <p:spPr>
          <a:xfrm>
            <a:off x="652408" y="372475"/>
            <a:ext cx="10887183" cy="577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0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2F43C-7214-E11C-99EA-75B8560173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3" t="2857" r="2321" b="7301"/>
          <a:stretch/>
        </p:blipFill>
        <p:spPr>
          <a:xfrm>
            <a:off x="659934" y="293616"/>
            <a:ext cx="10872132" cy="575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74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ED0CA5-538F-AC70-A811-29FA9DA935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3" t="3333" r="2053" b="7460"/>
          <a:stretch/>
        </p:blipFill>
        <p:spPr>
          <a:xfrm>
            <a:off x="780177" y="341852"/>
            <a:ext cx="11009221" cy="57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34720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20D26A-B6A5-6C7B-F70E-D494306B11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3" t="3490" r="2589" b="7462"/>
          <a:stretch/>
        </p:blipFill>
        <p:spPr>
          <a:xfrm>
            <a:off x="471674" y="570451"/>
            <a:ext cx="11248652" cy="591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22078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C7A138-4C5B-2816-B950-ED8AFB703B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4" t="2699" r="2022" b="7460"/>
          <a:stretch/>
        </p:blipFill>
        <p:spPr>
          <a:xfrm>
            <a:off x="427839" y="251670"/>
            <a:ext cx="11577753" cy="610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55844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C79CBA-3A26-4319-00F4-69B69583CF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1" t="3492" r="2054" b="7143"/>
          <a:stretch/>
        </p:blipFill>
        <p:spPr>
          <a:xfrm>
            <a:off x="768991" y="511730"/>
            <a:ext cx="10654018" cy="560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282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10003E-57D4-321A-9C9A-78ED51520A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3" t="3333" r="2143" b="7143"/>
          <a:stretch/>
        </p:blipFill>
        <p:spPr>
          <a:xfrm>
            <a:off x="739629" y="543421"/>
            <a:ext cx="10712741" cy="563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0224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A91998-4FA5-6D27-2059-302D1EF8E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2" y="178666"/>
            <a:ext cx="11199303" cy="605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507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B858E9-3699-1201-C9B6-600F49B2A3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3" t="3333" r="2411" b="7778"/>
          <a:stretch/>
        </p:blipFill>
        <p:spPr>
          <a:xfrm>
            <a:off x="315985" y="310394"/>
            <a:ext cx="11560030" cy="606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057341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BAC0A3-1D3A-CDB2-CDC3-F883E3CB3B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9" t="2699" r="2233" b="6984"/>
          <a:stretch/>
        </p:blipFill>
        <p:spPr>
          <a:xfrm>
            <a:off x="729842" y="318783"/>
            <a:ext cx="11107024" cy="592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73356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157EE-7C0E-0723-F6A5-F6977E4BD4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08" t="2765" r="2035" b="7140"/>
          <a:stretch/>
        </p:blipFill>
        <p:spPr>
          <a:xfrm>
            <a:off x="228601" y="85599"/>
            <a:ext cx="11506200" cy="607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16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06B572-2C7E-4E07-C9F4-BB094A6EA0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73" t="2963" r="2196" b="7744"/>
          <a:stretch/>
        </p:blipFill>
        <p:spPr>
          <a:xfrm>
            <a:off x="272473" y="149934"/>
            <a:ext cx="11647054" cy="612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57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735580" y="2752344"/>
            <a:ext cx="6720840" cy="2688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8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59883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6850</TotalTime>
  <Words>350</Words>
  <Application>Microsoft Office PowerPoint</Application>
  <PresentationFormat>Widescreen</PresentationFormat>
  <Paragraphs>53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Source Sans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51</cp:revision>
  <dcterms:created xsi:type="dcterms:W3CDTF">2023-08-25T04:36:49Z</dcterms:created>
  <dcterms:modified xsi:type="dcterms:W3CDTF">2025-09-25T17:13:16Z</dcterms:modified>
</cp:coreProperties>
</file>