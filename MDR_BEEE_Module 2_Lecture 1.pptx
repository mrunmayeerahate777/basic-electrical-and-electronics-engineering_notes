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8.jpg" ContentType="image/jpg"/>
  <Override PartName="/ppt/media/image9.jpg" ContentType="image/jpg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79" r:id="rId3"/>
    <p:sldId id="280" r:id="rId4"/>
    <p:sldId id="257" r:id="rId5"/>
    <p:sldId id="258" r:id="rId6"/>
    <p:sldId id="261" r:id="rId7"/>
    <p:sldId id="262" r:id="rId8"/>
    <p:sldId id="422" r:id="rId9"/>
    <p:sldId id="463" r:id="rId10"/>
    <p:sldId id="465" r:id="rId11"/>
    <p:sldId id="466" r:id="rId12"/>
    <p:sldId id="263" r:id="rId13"/>
    <p:sldId id="467" r:id="rId14"/>
    <p:sldId id="265" r:id="rId15"/>
    <p:sldId id="348" r:id="rId16"/>
    <p:sldId id="266" r:id="rId17"/>
    <p:sldId id="28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457" autoAdjust="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C57C04-2F31-4F25-BBB5-DF30993EEB5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17BAD3-28E6-4C15-A559-6F869165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38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CCC6F-D71C-43FE-B589-BB073785CC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1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7BAD3-28E6-4C15-A559-6F869165B6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3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Number of electrons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𝒕𝒉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IN" b="1" dirty="0"/>
                  <a:t>shell </a:t>
                </a:r>
                <a:r>
                  <a:rPr lang="en-IN" dirty="0"/>
                  <a:t>is equal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dirty="0"/>
                  <a:t>.</a:t>
                </a:r>
              </a:p>
              <a:p>
                <a:r>
                  <a:rPr lang="en-GB" dirty="0"/>
                  <a:t>For most atoms (in Groups 1–18 of the periodic table), </a:t>
                </a:r>
                <a:r>
                  <a:rPr lang="en-GB" b="1" dirty="0"/>
                  <a:t>stability is achieved when the outermost shell has 8 electrons — this is called the octet rule</a:t>
                </a:r>
                <a:r>
                  <a:rPr lang="en-GB" b="0" dirty="0"/>
                  <a:t>.</a:t>
                </a:r>
              </a:p>
              <a:p>
                <a:r>
                  <a:rPr lang="en-GB" dirty="0"/>
                  <a:t>A full shell (8 valence electrons) makes the atom </a:t>
                </a:r>
                <a:r>
                  <a:rPr lang="en-GB" b="1" dirty="0"/>
                  <a:t>very stable but nonconductive</a:t>
                </a:r>
                <a:r>
                  <a:rPr lang="en-GB" dirty="0"/>
                  <a:t> — because there are </a:t>
                </a:r>
                <a:r>
                  <a:rPr lang="en-GB" b="1" dirty="0"/>
                  <a:t>no free electrons</a:t>
                </a:r>
                <a:r>
                  <a:rPr lang="en-GB" dirty="0"/>
                  <a:t> to move.</a:t>
                </a:r>
                <a:endParaRPr lang="en-GB" b="0" dirty="0"/>
              </a:p>
              <a:p>
                <a:endParaRPr lang="en-GB" dirty="0"/>
              </a:p>
              <a:p>
                <a:r>
                  <a:rPr lang="en-GB" b="1" dirty="0"/>
                  <a:t>Conductor: </a:t>
                </a:r>
                <a:r>
                  <a:rPr lang="en-GB" dirty="0"/>
                  <a:t>Most conductors have </a:t>
                </a:r>
                <a:r>
                  <a:rPr lang="en-GB" b="1" dirty="0"/>
                  <a:t>few valence electrons</a:t>
                </a:r>
                <a:r>
                  <a:rPr lang="en-GB" dirty="0"/>
                  <a:t> that are </a:t>
                </a:r>
                <a:r>
                  <a:rPr lang="en-GB" b="1" dirty="0"/>
                  <a:t>loosely bound</a:t>
                </a:r>
                <a:r>
                  <a:rPr lang="en-GB" dirty="0"/>
                  <a:t> and can move freely.</a:t>
                </a:r>
              </a:p>
              <a:p>
                <a:r>
                  <a:rPr lang="en-GB" b="1" dirty="0"/>
                  <a:t>Ex: </a:t>
                </a:r>
                <a:r>
                  <a:rPr lang="en-GB" b="0" dirty="0"/>
                  <a:t>Gold (Au), Silver (Ag), Copper (Cu)) have only 1 valence electron</a:t>
                </a:r>
              </a:p>
              <a:p>
                <a:endParaRPr lang="en-GB" b="0" dirty="0"/>
              </a:p>
              <a:p>
                <a:endParaRPr lang="en-GB" b="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Number of electrons in </a:t>
                </a:r>
                <a:r>
                  <a:rPr lang="en-IN" b="1" i="0">
                    <a:latin typeface="Cambria Math" panose="02040503050406030204" pitchFamily="18" charset="0"/>
                  </a:rPr>
                  <a:t>𝒏^(𝒕𝒉 )</a:t>
                </a:r>
                <a:r>
                  <a:rPr lang="en-IN" b="1" dirty="0"/>
                  <a:t>shell </a:t>
                </a:r>
                <a:r>
                  <a:rPr lang="en-IN" dirty="0"/>
                  <a:t>is equal to </a:t>
                </a:r>
                <a:r>
                  <a:rPr lang="en-IN" b="1" i="0">
                    <a:latin typeface="Cambria Math" panose="02040503050406030204" pitchFamily="18" charset="0"/>
                  </a:rPr>
                  <a:t>〖𝟐𝒏〗^𝟐</a:t>
                </a:r>
                <a:r>
                  <a:rPr lang="en-IN" dirty="0"/>
                  <a:t>.</a:t>
                </a:r>
              </a:p>
              <a:p>
                <a:r>
                  <a:rPr lang="en-GB" dirty="0"/>
                  <a:t>For most atoms (in Groups 1–18 of the periodic table), </a:t>
                </a:r>
                <a:r>
                  <a:rPr lang="en-GB" b="1" dirty="0"/>
                  <a:t>stability is achieved when the outermost shell has 8 electrons — this is called the octet rule</a:t>
                </a:r>
                <a:r>
                  <a:rPr lang="en-GB" b="0" dirty="0"/>
                  <a:t>.</a:t>
                </a:r>
              </a:p>
              <a:p>
                <a:r>
                  <a:rPr lang="en-GB" dirty="0"/>
                  <a:t>A full shell (8 valence electrons) makes the atom </a:t>
                </a:r>
                <a:r>
                  <a:rPr lang="en-GB" b="1" dirty="0"/>
                  <a:t>very stable but nonconductive</a:t>
                </a:r>
                <a:r>
                  <a:rPr lang="en-GB" dirty="0"/>
                  <a:t> — because there are </a:t>
                </a:r>
                <a:r>
                  <a:rPr lang="en-GB" b="1" dirty="0"/>
                  <a:t>no free electrons</a:t>
                </a:r>
                <a:r>
                  <a:rPr lang="en-GB" dirty="0"/>
                  <a:t> to move.</a:t>
                </a:r>
                <a:endParaRPr lang="en-GB" b="0" dirty="0"/>
              </a:p>
              <a:p>
                <a:endParaRPr lang="en-GB" dirty="0"/>
              </a:p>
              <a:p>
                <a:r>
                  <a:rPr lang="en-GB" b="1" dirty="0"/>
                  <a:t>Conductor: </a:t>
                </a:r>
                <a:r>
                  <a:rPr lang="en-GB" dirty="0"/>
                  <a:t>Most conductors have </a:t>
                </a:r>
                <a:r>
                  <a:rPr lang="en-GB" b="1" dirty="0"/>
                  <a:t>few valence electrons</a:t>
                </a:r>
                <a:r>
                  <a:rPr lang="en-GB" dirty="0"/>
                  <a:t> that are </a:t>
                </a:r>
                <a:r>
                  <a:rPr lang="en-GB" b="1" dirty="0"/>
                  <a:t>loosely bound</a:t>
                </a:r>
                <a:r>
                  <a:rPr lang="en-GB" dirty="0"/>
                  <a:t> and can move freely.</a:t>
                </a:r>
              </a:p>
              <a:p>
                <a:r>
                  <a:rPr lang="en-GB" b="1" dirty="0"/>
                  <a:t>Ex: </a:t>
                </a:r>
                <a:r>
                  <a:rPr lang="en-GB" b="0" dirty="0"/>
                  <a:t>Gold (Au), Silver (Ag), Copper (Cu)) have only 1 valence electron</a:t>
                </a:r>
              </a:p>
              <a:p>
                <a:endParaRPr lang="en-GB" b="0" dirty="0"/>
              </a:p>
              <a:p>
                <a:endParaRPr lang="en-GB" b="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7BAD3-28E6-4C15-A559-6F869165B6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884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rtl="0"/>
                <a:r>
                  <a:rPr lang="en-GB" dirty="0"/>
                  <a:t>The number of dopant atoms in a semiconductor varies based on the desired electrical conductivity and is typically in a range that is much smaller than the host semiconductor atoms. Low doping levels are around one dopant atom per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GB" dirty="0"/>
                  <a:t> host atoms, while high doping levels are on the order of one dopant atom per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GB" dirty="0"/>
                  <a:t> host atoms. </a:t>
                </a:r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rtl="0"/>
                <a:r>
                  <a:rPr lang="en-GB" dirty="0"/>
                  <a:t>The number of dopant atoms in a semiconductor varies based on the desired electrical conductivity and is typically in a range that is much smaller than the host semiconductor atoms. Low doping levels are around one dopant atom per </a:t>
                </a:r>
                <a:r>
                  <a:rPr lang="en-IN" b="0" i="0">
                    <a:latin typeface="Cambria Math" panose="02040503050406030204" pitchFamily="18" charset="0"/>
                  </a:rPr>
                  <a:t>10</a:t>
                </a:r>
                <a:r>
                  <a:rPr lang="en-GB" b="0" i="0">
                    <a:latin typeface="Cambria Math" panose="02040503050406030204" pitchFamily="18" charset="0"/>
                  </a:rPr>
                  <a:t>^</a:t>
                </a:r>
                <a:r>
                  <a:rPr lang="en-IN" b="0" i="0">
                    <a:latin typeface="Cambria Math" panose="02040503050406030204" pitchFamily="18" charset="0"/>
                  </a:rPr>
                  <a:t>8</a:t>
                </a:r>
                <a:r>
                  <a:rPr lang="en-GB" dirty="0"/>
                  <a:t> or </a:t>
                </a:r>
                <a:r>
                  <a:rPr lang="en-IN" b="0" i="0">
                    <a:latin typeface="Cambria Math" panose="02040503050406030204" pitchFamily="18" charset="0"/>
                  </a:rPr>
                  <a:t>10</a:t>
                </a:r>
                <a:r>
                  <a:rPr lang="en-GB" b="0" i="0">
                    <a:latin typeface="Cambria Math" panose="02040503050406030204" pitchFamily="18" charset="0"/>
                  </a:rPr>
                  <a:t>^</a:t>
                </a:r>
                <a:r>
                  <a:rPr lang="en-IN" b="0" i="0">
                    <a:latin typeface="Cambria Math" panose="02040503050406030204" pitchFamily="18" charset="0"/>
                  </a:rPr>
                  <a:t>7</a:t>
                </a:r>
                <a:r>
                  <a:rPr lang="en-GB" dirty="0"/>
                  <a:t> host atoms, while high doping levels are on the order of one dopant atom per </a:t>
                </a:r>
                <a:r>
                  <a:rPr lang="en-IN" b="0" i="0">
                    <a:latin typeface="Cambria Math" panose="02040503050406030204" pitchFamily="18" charset="0"/>
                  </a:rPr>
                  <a:t>10</a:t>
                </a:r>
                <a:r>
                  <a:rPr lang="en-GB" b="0" i="0">
                    <a:latin typeface="Cambria Math" panose="02040503050406030204" pitchFamily="18" charset="0"/>
                  </a:rPr>
                  <a:t>^</a:t>
                </a:r>
                <a:r>
                  <a:rPr lang="en-IN" b="0" i="0">
                    <a:latin typeface="Cambria Math" panose="02040503050406030204" pitchFamily="18" charset="0"/>
                  </a:rPr>
                  <a:t>4</a:t>
                </a:r>
                <a:r>
                  <a:rPr lang="en-GB" dirty="0"/>
                  <a:t> host atoms. </a:t>
                </a:r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17BAD3-28E6-4C15-A559-6F869165B6F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81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8CEAB-0A1F-AB86-EC59-11BC8F54B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3A3A6-3664-E7E2-A9A1-949FC07B8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19E77-E1C4-C078-9F3D-8E28BD93B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D29B3-D08A-A3D2-CA7E-45CCF3B3D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29D5-9B9C-2AA8-9224-13D19561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35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683B5-3E34-6DBC-E130-A00FF71AC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F2B5-693E-F87E-51C4-6ECB28CB7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04E2F-8289-1E78-C4A5-BC2E913B3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112AC-2238-3265-D0AE-3D6C9F475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BBB05-047D-3840-D05E-9DF40DF12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5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3B598-67E8-692A-9AE1-15B0C3925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14883-D32C-B2BD-74BE-C5ED08889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F3BC4-955D-2531-CE1D-875C8354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4FC4A-5BBB-8669-E6C5-8201A11A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A2201-E8E0-8603-B94A-65BFECFA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7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FBF5-0376-ED89-EEAE-AC18DE78B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3A136-0193-DE4A-0937-364333D0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99852-E770-C387-A686-30B42EFEB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2E685-49E5-482D-DFAC-D32F6D9DA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7A4E-ADEB-DA91-E6CC-891827BE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6FE66-7262-FEF9-166B-07F68D1E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6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EBB6D-C441-C05E-3CE5-EA892C314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8C1DB-DC24-1AD7-D8BF-69E36C7FE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790CF-86DE-4BA5-2FC4-F2B7A2A02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7DE7DC-EC74-9E2C-385A-F494A7C0E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400069-1418-2A18-43DD-34B1E46B1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21363F-8A2F-7B62-0763-3C8087F7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B4E9FA-67C8-925C-2E42-DE3B451E7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1D293-8835-CCD1-B239-EC7E4AD18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78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0D9ED-837E-C32F-EDC2-5FD49386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18F4B8-12B4-B0A6-ACA5-5C619EB2C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ACE45-D2C9-EAFE-778B-FB04FC09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3E833-FBF3-C367-586B-96EE6819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5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2B5FF8-09C6-707E-23BC-49776D9F1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AC8F52-BF46-557E-E3DA-7BEC00076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A3FCF-3A72-6289-EB15-97C87BED0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0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883EF-5963-3D96-1E17-E864AD862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F57B7-A6DD-D093-8169-EC4B26EE1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7B1E0-ECA2-BA3B-33A5-0E6296FEC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5A236-C91B-6E12-E418-E301707F5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66C55-7A81-0D7E-300E-183CC56CB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D360F-F581-A7EA-25A9-52DD50BFA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72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EEC47-C7B5-D8F1-7739-04259B103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DF1994-016A-405E-3215-0FC22C362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6ECF5-2CB5-C8D8-37F8-392477C3E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35023-4D1C-84AC-EBA9-B4BE6D86F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E9F3A-91E5-356E-F9D0-2A4A38BF2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4A810-5888-20BE-F0F5-4E0CE48D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424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524C8-E9C6-ACFA-2C8A-089154B8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F989E-4201-24FC-E23A-38CD40636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F11EA-FED7-7FD1-85C7-62F6F8EF7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85267-24C8-645D-11B3-B380FEF1E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4CADE-0DC4-BD5C-7BCC-947A7B19F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32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1BB76-B9FE-1A98-7EB0-A56C65B98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AB35A-FDC3-7A46-B4DC-7A1260EFF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21E94-B000-FDB4-B440-757D4940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6FAA-11C2-48AA-B280-45997166082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BC9D8-E171-8A81-BB5C-98262AEDD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C4F0C-2524-C5BB-16EB-37D16BC4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883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647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01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52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84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24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09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6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438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00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230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26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CF9A07-BCCA-BD26-668E-9DE954D3B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F6069-23BF-A61F-72BE-C97F442C6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DA431-EE53-305F-E6E9-459893C0B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B6FAA-11C2-48AA-B280-45997166082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B1A5C-6EB5-1DFD-9D2F-6FB91C5E8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CD868-5232-AE3F-3EE8-E9298ED42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74BF4-625F-4B6C-8271-BDB5228CA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21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5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D925B0-AE19-E2B9-658A-C8272B84BF68}"/>
              </a:ext>
            </a:extLst>
          </p:cNvPr>
          <p:cNvSpPr txBox="1"/>
          <p:nvPr/>
        </p:nvSpPr>
        <p:spPr>
          <a:xfrm>
            <a:off x="0" y="32183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AND ELECTRONICS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62FAA-F529-C553-DAA9-DE1301ED3032}"/>
              </a:ext>
            </a:extLst>
          </p:cNvPr>
          <p:cNvSpPr txBox="1"/>
          <p:nvPr/>
        </p:nvSpPr>
        <p:spPr>
          <a:xfrm>
            <a:off x="0" y="92247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9A555-6C9B-8A0A-5EF3-8850BD6F8A4C}"/>
              </a:ext>
            </a:extLst>
          </p:cNvPr>
          <p:cNvSpPr txBox="1"/>
          <p:nvPr/>
        </p:nvSpPr>
        <p:spPr>
          <a:xfrm>
            <a:off x="0" y="4624604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Mrunmayee Rahate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DYPIU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C1866A-9491-240C-FA66-458DACD0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86" y="2312437"/>
            <a:ext cx="1800225" cy="1800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42395-5764-B4A9-7211-391B05C4E175}"/>
              </a:ext>
            </a:extLst>
          </p:cNvPr>
          <p:cNvSpPr txBox="1"/>
          <p:nvPr/>
        </p:nvSpPr>
        <p:spPr>
          <a:xfrm>
            <a:off x="2" y="1573301"/>
            <a:ext cx="1219199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ENGINEERING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2708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BC2278-4B8F-9818-462E-E7E8827B7D79}"/>
              </a:ext>
            </a:extLst>
          </p:cNvPr>
          <p:cNvSpPr txBox="1"/>
          <p:nvPr/>
        </p:nvSpPr>
        <p:spPr>
          <a:xfrm>
            <a:off x="0" y="1997839"/>
            <a:ext cx="12192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Module 2: Semiconductor Devices and Applications</a:t>
            </a:r>
            <a:endParaRPr lang="en-IN" sz="3600" b="1" dirty="0">
              <a:solidFill>
                <a:srgbClr val="00206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ctr"/>
            <a:endParaRPr lang="en-IN" sz="3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Lecture 1: </a:t>
            </a:r>
            <a:r>
              <a:rPr lang="en-GB" sz="3200" b="1" dirty="0">
                <a:solidFill>
                  <a:srgbClr val="C00000"/>
                </a:solidFill>
                <a:latin typeface="Arial" panose="020B0604020202020204" pitchFamily="34" charset="0"/>
              </a:rPr>
              <a:t>Introduction to Semiconductors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4C5E-51B5-4EEC-C27F-4B5FC2C29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144" y="197614"/>
            <a:ext cx="1366275" cy="13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80628"/>
      </p:ext>
    </p:extLst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6EEFB4-5753-BA60-A5D5-44BA0E4CD8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94" t="3827" r="13194" b="10864"/>
          <a:stretch/>
        </p:blipFill>
        <p:spPr>
          <a:xfrm>
            <a:off x="1521968" y="256032"/>
            <a:ext cx="9498628" cy="619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45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F67420-B7A4-251D-E4C2-C5A80068CE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236" t="3210" r="13750" b="11728"/>
          <a:stretch/>
        </p:blipFill>
        <p:spPr>
          <a:xfrm>
            <a:off x="1628862" y="947085"/>
            <a:ext cx="8934275" cy="59360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98520B-BE8E-4C6B-8D4F-7CAB81C8C546}"/>
              </a:ext>
            </a:extLst>
          </p:cNvPr>
          <p:cNvSpPr txBox="1"/>
          <p:nvPr/>
        </p:nvSpPr>
        <p:spPr>
          <a:xfrm>
            <a:off x="3552738" y="337143"/>
            <a:ext cx="60946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rial Black" panose="020B0A04020102020204" pitchFamily="34" charset="0"/>
              </a:rPr>
              <a:t>Semiconductor Material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04933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A908D5-BD7F-FA68-BD05-32D47A6273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50" t="1605" r="13750" b="10123"/>
          <a:stretch/>
        </p:blipFill>
        <p:spPr>
          <a:xfrm>
            <a:off x="1655912" y="388135"/>
            <a:ext cx="8880175" cy="608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70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A8DCBF-23DD-5C78-374A-E21FBC463F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33" t="1852" r="13195" b="10617"/>
          <a:stretch/>
        </p:blipFill>
        <p:spPr>
          <a:xfrm>
            <a:off x="1484699" y="467187"/>
            <a:ext cx="9222601" cy="618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198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Arial Black" panose="020B0A04020102020204" pitchFamily="34" charset="0"/>
              </a:rPr>
              <a:t>Types of Semiconductor</a:t>
            </a:r>
          </a:p>
        </p:txBody>
      </p:sp>
      <p:sp>
        <p:nvSpPr>
          <p:cNvPr id="11266" name="AutoShape 2" descr="What is Semiconductors? - Types, Examples, Properties, Applications &amp; More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68" name="AutoShape 4" descr="https://media.geeksforgeeks.org/wp-content/uploads/20230821182051/Two-Input-NAND-Gate_Classification-of-Semiconductors-768.webp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0" name="AutoShape 6" descr="https://media.geeksforgeeks.org/wp-content/uploads/20230821182051/Two-Input-NAND-Gate_Classification-of-Semiconductors-768.webp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30282" t="33333" r="29722" b="25000"/>
          <a:stretch>
            <a:fillRect/>
          </a:stretch>
        </p:blipFill>
        <p:spPr bwMode="auto">
          <a:xfrm>
            <a:off x="2464966" y="1811322"/>
            <a:ext cx="8236723" cy="4824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958046" y="176703"/>
                <a:ext cx="10679884" cy="1002281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sz="3200" b="1" dirty="0">
                    <a:solidFill>
                      <a:srgbClr val="C00000"/>
                    </a:solidFill>
                    <a:latin typeface="Arial Black" panose="020B0A04020102020204" pitchFamily="34" charset="0"/>
                  </a:rPr>
                  <a:t>Intrinsic Semiconductor (At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2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IN" sz="32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𝐨</m:t>
                        </m:r>
                      </m:sup>
                    </m:sSup>
                    <m:r>
                      <a:rPr lang="en-IN" sz="32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b="1" dirty="0">
                    <a:solidFill>
                      <a:srgbClr val="C00000"/>
                    </a:solidFill>
                    <a:latin typeface="Arial Black" panose="020B0A04020102020204" pitchFamily="34" charset="0"/>
                  </a:rPr>
                  <a:t>Kelvin)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58046" y="176703"/>
                <a:ext cx="10679884" cy="100228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6" descr="Intrinsic Semiconductor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89210" y="1084881"/>
            <a:ext cx="6982148" cy="3929951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22E97FD-F616-43AF-A1CB-0B75BC779C00}"/>
              </a:ext>
            </a:extLst>
          </p:cNvPr>
          <p:cNvSpPr txBox="1">
            <a:spLocks/>
          </p:cNvSpPr>
          <p:nvPr/>
        </p:nvSpPr>
        <p:spPr>
          <a:xfrm>
            <a:off x="1670086" y="5456479"/>
            <a:ext cx="9967843" cy="1002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rgbClr val="C00000"/>
                </a:solidFill>
                <a:latin typeface="Arial Black" panose="020B0A04020102020204" pitchFamily="34" charset="0"/>
              </a:rPr>
              <a:t>At low temperatures (near absolute zero), semiconductors act like insulators because all electrons are in the valence band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8A5D2DF-1926-4B63-A114-F2E64DDD89A2}"/>
              </a:ext>
            </a:extLst>
          </p:cNvPr>
          <p:cNvSpPr txBox="1">
            <a:spLocks/>
          </p:cNvSpPr>
          <p:nvPr/>
        </p:nvSpPr>
        <p:spPr>
          <a:xfrm>
            <a:off x="6096000" y="4722479"/>
            <a:ext cx="4066249" cy="5847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1800" dirty="0">
                <a:solidFill>
                  <a:srgbClr val="C00000"/>
                </a:solidFill>
                <a:latin typeface="Arial Black" panose="020B0A04020102020204" pitchFamily="34" charset="0"/>
              </a:rPr>
              <a:t>   </a:t>
            </a:r>
            <a:r>
              <a:rPr lang="en-IN" sz="1600" dirty="0">
                <a:solidFill>
                  <a:srgbClr val="C00000"/>
                </a:solidFill>
                <a:latin typeface="Arial Black" panose="020B0A04020102020204" pitchFamily="34" charset="0"/>
              </a:rPr>
              <a:t>Stable Crystalline Structure</a:t>
            </a:r>
            <a:endParaRPr lang="en-IN" sz="18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325D6CD1-39D8-4BBA-A929-D128092EA0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7004" y="963371"/>
            <a:ext cx="8317992" cy="352633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81A4D9ED-33A0-427B-B1D7-AA250BE70DD9}"/>
              </a:ext>
            </a:extLst>
          </p:cNvPr>
          <p:cNvSpPr txBox="1"/>
          <p:nvPr/>
        </p:nvSpPr>
        <p:spPr>
          <a:xfrm>
            <a:off x="916777" y="4732082"/>
            <a:ext cx="10901689" cy="1990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>
              <a:spcBef>
                <a:spcPts val="670"/>
              </a:spcBef>
              <a:buClr>
                <a:srgbClr val="CC9900"/>
              </a:buClr>
              <a:buSzPct val="64285"/>
              <a:tabLst>
                <a:tab pos="355600" algn="l"/>
                <a:tab pos="356235" algn="l"/>
              </a:tabLst>
            </a:pPr>
            <a:r>
              <a:rPr lang="en-GB" sz="2000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	</a:t>
            </a:r>
            <a:r>
              <a:rPr lang="en-GB" sz="20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As a semiconductor is heated, thermal agitation gives electrons enough energy to jump from the 	valence band to the conduction band</a:t>
            </a:r>
          </a:p>
          <a:p>
            <a:pPr marL="12065" marR="5080">
              <a:spcBef>
                <a:spcPts val="670"/>
              </a:spcBef>
              <a:buClr>
                <a:srgbClr val="CC9900"/>
              </a:buClr>
              <a:buSzPct val="64285"/>
              <a:tabLst>
                <a:tab pos="355600" algn="l"/>
                <a:tab pos="356235" algn="l"/>
              </a:tabLst>
            </a:pPr>
            <a:r>
              <a:rPr lang="en-GB" sz="20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	Creates electron-hole pairs in a crystalline structure</a:t>
            </a:r>
          </a:p>
          <a:p>
            <a:pPr marL="12065" marR="5080">
              <a:lnSpc>
                <a:spcPct val="150000"/>
              </a:lnSpc>
              <a:spcBef>
                <a:spcPts val="670"/>
              </a:spcBef>
              <a:buClr>
                <a:srgbClr val="CC9900"/>
              </a:buClr>
              <a:buSzPct val="64285"/>
              <a:tabLst>
                <a:tab pos="355600" algn="l"/>
                <a:tab pos="356235" algn="l"/>
              </a:tabLst>
            </a:pPr>
            <a:r>
              <a:rPr lang="en-GB" sz="2000" dirty="0">
                <a:solidFill>
                  <a:srgbClr val="C00000"/>
                </a:solidFill>
                <a:latin typeface="Arial Black" panose="020B0A04020102020204" pitchFamily="34" charset="0"/>
                <a:ea typeface="+mj-ea"/>
                <a:cs typeface="+mj-cs"/>
              </a:rPr>
              <a:t>	Increase in temperature increases the number of free charge carriers (both 	electrons and holes)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339C01-28DA-4E74-B47B-F02D7ADEB128}"/>
              </a:ext>
            </a:extLst>
          </p:cNvPr>
          <p:cNvSpPr txBox="1">
            <a:spLocks/>
          </p:cNvSpPr>
          <p:nvPr/>
        </p:nvSpPr>
        <p:spPr>
          <a:xfrm>
            <a:off x="373534" y="348835"/>
            <a:ext cx="11444932" cy="86142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C00000"/>
                </a:solidFill>
                <a:latin typeface="Arial Black" panose="020B0A04020102020204" pitchFamily="34" charset="0"/>
              </a:rPr>
              <a:t>Intrinsic Semiconductor (At Room Temperature)</a:t>
            </a:r>
          </a:p>
        </p:txBody>
      </p:sp>
    </p:spTree>
    <p:extLst>
      <p:ext uri="{BB962C8B-B14F-4D97-AF65-F5344CB8AC3E}">
        <p14:creationId xmlns:p14="http://schemas.microsoft.com/office/powerpoint/2010/main" val="1366074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1A4D9ED-33A0-427B-B1D7-AA250BE70DD9}"/>
              </a:ext>
            </a:extLst>
          </p:cNvPr>
          <p:cNvSpPr txBox="1"/>
          <p:nvPr/>
        </p:nvSpPr>
        <p:spPr>
          <a:xfrm>
            <a:off x="916777" y="5632038"/>
            <a:ext cx="10901689" cy="8236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>
              <a:spcBef>
                <a:spcPts val="670"/>
              </a:spcBef>
              <a:buClr>
                <a:srgbClr val="CC9900"/>
              </a:buClr>
              <a:buSzPct val="64285"/>
              <a:tabLst>
                <a:tab pos="355600" algn="l"/>
                <a:tab pos="356235" algn="l"/>
              </a:tabLst>
            </a:pPr>
            <a:r>
              <a:rPr lang="en-GB" sz="20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	Free	electrons are being generated continuously while some recombine with holes</a:t>
            </a:r>
          </a:p>
          <a:p>
            <a:pPr marL="12065" marR="5080">
              <a:lnSpc>
                <a:spcPct val="150000"/>
              </a:lnSpc>
              <a:spcBef>
                <a:spcPts val="670"/>
              </a:spcBef>
              <a:buClr>
                <a:srgbClr val="CC9900"/>
              </a:buClr>
              <a:buSzPct val="64285"/>
              <a:tabLst>
                <a:tab pos="355600" algn="l"/>
                <a:tab pos="356235" algn="l"/>
              </a:tabLst>
            </a:pPr>
            <a:r>
              <a:rPr lang="en-GB" sz="2000" dirty="0">
                <a:solidFill>
                  <a:srgbClr val="C00000"/>
                </a:solidFill>
                <a:latin typeface="Arial Black" panose="020B0A04020102020204" pitchFamily="34" charset="0"/>
                <a:ea typeface="+mj-ea"/>
                <a:cs typeface="+mj-cs"/>
              </a:rPr>
              <a:t>	Conductivity of a semiconductor material increases with the temperature</a:t>
            </a:r>
            <a:endParaRPr lang="en-GB" sz="2000" dirty="0">
              <a:solidFill>
                <a:schemeClr val="accent1"/>
              </a:solidFill>
              <a:ea typeface="+mj-ea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339C01-28DA-4E74-B47B-F02D7ADEB128}"/>
              </a:ext>
            </a:extLst>
          </p:cNvPr>
          <p:cNvSpPr txBox="1">
            <a:spLocks/>
          </p:cNvSpPr>
          <p:nvPr/>
        </p:nvSpPr>
        <p:spPr>
          <a:xfrm>
            <a:off x="373534" y="348835"/>
            <a:ext cx="11444932" cy="86142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C00000"/>
                </a:solidFill>
                <a:latin typeface="Arial Black" panose="020B0A04020102020204" pitchFamily="34" charset="0"/>
              </a:rPr>
              <a:t>Intrinsic Semiconductor (At Room Temperature)</a:t>
            </a:r>
          </a:p>
        </p:txBody>
      </p:sp>
      <p:pic>
        <p:nvPicPr>
          <p:cNvPr id="6" name="object 10">
            <a:extLst>
              <a:ext uri="{FF2B5EF4-FFF2-40B4-BE49-F238E27FC236}">
                <a16:creationId xmlns:a16="http://schemas.microsoft.com/office/drawing/2014/main" id="{24DFDCB3-A162-4FA8-B127-7CF5FEAB3E7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8735" y="1210259"/>
            <a:ext cx="5988465" cy="399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314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E927A6-F80F-CC73-BADB-7A493E76DB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03" t="11116" r="13402" b="10646"/>
          <a:stretch/>
        </p:blipFill>
        <p:spPr>
          <a:xfrm>
            <a:off x="2351647" y="1222067"/>
            <a:ext cx="7340993" cy="441386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3303CD9-0463-4EEA-BEF8-0D97F0BED88B}"/>
              </a:ext>
            </a:extLst>
          </p:cNvPr>
          <p:cNvSpPr txBox="1">
            <a:spLocks/>
          </p:cNvSpPr>
          <p:nvPr/>
        </p:nvSpPr>
        <p:spPr>
          <a:xfrm>
            <a:off x="756058" y="542463"/>
            <a:ext cx="10783670" cy="67960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  <a:latin typeface="Arial Black" panose="020B0A04020102020204" pitchFamily="34" charset="0"/>
              </a:rPr>
              <a:t>Extrinsic Semiconductor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249940-C52E-4E0E-8159-8CF629FCD551}"/>
              </a:ext>
            </a:extLst>
          </p:cNvPr>
          <p:cNvSpPr txBox="1"/>
          <p:nvPr/>
        </p:nvSpPr>
        <p:spPr>
          <a:xfrm>
            <a:off x="413766" y="5837101"/>
            <a:ext cx="11656314" cy="967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solidFill>
                  <a:srgbClr val="C00000"/>
                </a:solidFill>
                <a:latin typeface="Arial Black" panose="020B0A04020102020204" pitchFamily="34" charset="0"/>
                <a:ea typeface="+mj-ea"/>
                <a:cs typeface="+mj-cs"/>
              </a:rPr>
              <a:t>A large surplus of negative charge carriers are created, making the material much more conductive than it was in its pure, intrinsic state</a:t>
            </a:r>
            <a:endParaRPr lang="en-IN" sz="2000" dirty="0">
              <a:solidFill>
                <a:srgbClr val="C00000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9768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8582" y="1401110"/>
            <a:ext cx="5703285" cy="44220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lang="en-IN" sz="2800" b="1" spc="-71" dirty="0">
                <a:solidFill>
                  <a:srgbClr val="C00000"/>
                </a:solidFill>
                <a:latin typeface="Arial Rounded MT Bold" panose="020F0704030504030204" pitchFamily="34" charset="0"/>
              </a:rPr>
              <a:t>n</a:t>
            </a:r>
            <a:r>
              <a:rPr sz="2800" b="1" spc="-71" dirty="0">
                <a:solidFill>
                  <a:srgbClr val="C00000"/>
                </a:solidFill>
                <a:latin typeface="Arial Rounded MT Bold" panose="020F0704030504030204" pitchFamily="34" charset="0"/>
              </a:rPr>
              <a:t>-</a:t>
            </a:r>
            <a:r>
              <a:rPr lang="en-IN" sz="2800" b="1" spc="-71" dirty="0">
                <a:solidFill>
                  <a:srgbClr val="C00000"/>
                </a:solidFill>
                <a:latin typeface="Arial Rounded MT Bold" panose="020F0704030504030204" pitchFamily="34" charset="0"/>
              </a:rPr>
              <a:t>T</a:t>
            </a:r>
            <a:r>
              <a:rPr sz="2800" b="1" spc="-71" dirty="0" err="1">
                <a:solidFill>
                  <a:srgbClr val="C00000"/>
                </a:solidFill>
                <a:latin typeface="Arial Rounded MT Bold" panose="020F0704030504030204" pitchFamily="34" charset="0"/>
              </a:rPr>
              <a:t>ype</a:t>
            </a:r>
            <a:r>
              <a:rPr sz="2800" b="1" spc="-26" dirty="0">
                <a:solidFill>
                  <a:srgbClr val="C00000"/>
                </a:solidFill>
                <a:latin typeface="Arial Rounded MT Bold" panose="020F0704030504030204" pitchFamily="34" charset="0"/>
              </a:rPr>
              <a:t> </a:t>
            </a:r>
            <a:r>
              <a:rPr lang="en-IN" sz="2800" b="1" spc="-53" dirty="0">
                <a:solidFill>
                  <a:srgbClr val="C00000"/>
                </a:solidFill>
                <a:latin typeface="Arial Rounded MT Bold" panose="020F0704030504030204" pitchFamily="34" charset="0"/>
              </a:rPr>
              <a:t>Material</a:t>
            </a:r>
            <a:endParaRPr sz="2800" b="1" spc="-53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34782" y="1516367"/>
            <a:ext cx="137272" cy="196267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1191" spc="-291" dirty="0">
                <a:solidFill>
                  <a:srgbClr val="CC9900"/>
                </a:solidFill>
                <a:latin typeface="PMingLiU-ExtB"/>
                <a:cs typeface="PMingLiU-ExtB"/>
              </a:rPr>
              <a:t>■</a:t>
            </a:r>
            <a:endParaRPr sz="1191">
              <a:latin typeface="PMingLiU-ExtB"/>
              <a:cs typeface="PMingLiU-ExtB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993152" y="1825922"/>
            <a:ext cx="10944848" cy="4328631"/>
          </a:xfrm>
          <a:prstGeom prst="rect">
            <a:avLst/>
          </a:prstGeom>
        </p:spPr>
        <p:txBody>
          <a:bodyPr vert="horz" wrap="square" lIns="0" tIns="344688" rIns="0" bIns="0" rtlCol="0">
            <a:spAutoFit/>
          </a:bodyPr>
          <a:lstStyle/>
          <a:p>
            <a:pPr marL="313221" marR="8405">
              <a:lnSpc>
                <a:spcPct val="100000"/>
              </a:lnSpc>
              <a:spcBef>
                <a:spcPts val="88"/>
              </a:spcBef>
            </a:pPr>
            <a:r>
              <a:rPr lang="en-GB" sz="2200" dirty="0"/>
              <a:t>Each</a:t>
            </a:r>
            <a:r>
              <a:rPr lang="en-GB" sz="2200" spc="331" dirty="0"/>
              <a:t> </a:t>
            </a:r>
            <a:r>
              <a:rPr lang="en-GB" sz="2200" spc="-9" dirty="0"/>
              <a:t>pentavalent</a:t>
            </a:r>
            <a:r>
              <a:rPr lang="en-GB" sz="2200" spc="349" dirty="0"/>
              <a:t> </a:t>
            </a:r>
            <a:r>
              <a:rPr lang="en-GB" sz="2200" spc="-9" dirty="0"/>
              <a:t>atom</a:t>
            </a:r>
            <a:r>
              <a:rPr lang="en-GB" sz="2200" spc="361" dirty="0"/>
              <a:t> </a:t>
            </a:r>
            <a:r>
              <a:rPr lang="en-GB" sz="2200" spc="-9" dirty="0"/>
              <a:t>(antimony,</a:t>
            </a:r>
            <a:r>
              <a:rPr lang="en-GB" sz="2200" spc="326" dirty="0"/>
              <a:t> </a:t>
            </a:r>
            <a:r>
              <a:rPr lang="en-GB" sz="2200" dirty="0"/>
              <a:t>in</a:t>
            </a:r>
            <a:r>
              <a:rPr lang="en-GB" sz="2200" spc="335" dirty="0"/>
              <a:t> </a:t>
            </a:r>
            <a:r>
              <a:rPr lang="en-GB" sz="2200" spc="-9" dirty="0"/>
              <a:t>this</a:t>
            </a:r>
            <a:r>
              <a:rPr lang="en-GB" sz="2200" spc="344" dirty="0"/>
              <a:t> </a:t>
            </a:r>
            <a:r>
              <a:rPr lang="en-GB" sz="2200" spc="-4" dirty="0"/>
              <a:t>case)</a:t>
            </a:r>
            <a:r>
              <a:rPr lang="en-GB" sz="2200" spc="340" dirty="0"/>
              <a:t> </a:t>
            </a:r>
            <a:r>
              <a:rPr lang="en-GB" sz="2200" spc="-9" dirty="0"/>
              <a:t>forms</a:t>
            </a:r>
            <a:r>
              <a:rPr lang="en-GB" sz="2200" spc="366" dirty="0"/>
              <a:t> </a:t>
            </a:r>
            <a:r>
              <a:rPr lang="en-GB" sz="2200" spc="-13" dirty="0"/>
              <a:t>covalent </a:t>
            </a:r>
            <a:r>
              <a:rPr lang="en-GB" sz="2200" spc="-476" dirty="0"/>
              <a:t> </a:t>
            </a:r>
            <a:r>
              <a:rPr lang="en-GB" sz="2200" spc="-4" dirty="0"/>
              <a:t>bonds</a:t>
            </a:r>
            <a:r>
              <a:rPr lang="en-GB" sz="2200" dirty="0"/>
              <a:t> </a:t>
            </a:r>
            <a:r>
              <a:rPr lang="en-GB" sz="2200" spc="-4" dirty="0"/>
              <a:t>with</a:t>
            </a:r>
            <a:r>
              <a:rPr lang="en-GB" sz="2200" spc="13" dirty="0"/>
              <a:t> </a:t>
            </a:r>
            <a:r>
              <a:rPr lang="en-GB" sz="2200" spc="-9" dirty="0"/>
              <a:t>four</a:t>
            </a:r>
            <a:r>
              <a:rPr lang="en-GB" sz="2200" spc="35" dirty="0"/>
              <a:t> </a:t>
            </a:r>
            <a:r>
              <a:rPr lang="en-GB" sz="2200" spc="-9" dirty="0"/>
              <a:t>adjacent</a:t>
            </a:r>
            <a:r>
              <a:rPr lang="en-GB" sz="2200" spc="26" dirty="0"/>
              <a:t> </a:t>
            </a:r>
            <a:r>
              <a:rPr lang="en-GB" sz="2200" spc="-4" dirty="0"/>
              <a:t>silicon</a:t>
            </a:r>
            <a:r>
              <a:rPr lang="en-GB" sz="2200" spc="-22" dirty="0"/>
              <a:t> </a:t>
            </a:r>
            <a:r>
              <a:rPr lang="en-GB" sz="2200" dirty="0"/>
              <a:t>atoms</a:t>
            </a:r>
          </a:p>
          <a:p>
            <a:pPr marL="313221" marR="7845" indent="-302575">
              <a:lnSpc>
                <a:spcPct val="100000"/>
              </a:lnSpc>
              <a:spcBef>
                <a:spcPts val="441"/>
              </a:spcBef>
              <a:buClr>
                <a:srgbClr val="CC9900"/>
              </a:buClr>
              <a:buSzPct val="64285"/>
              <a:buFont typeface="PMingLiU-ExtB"/>
              <a:buChar char="■"/>
              <a:tabLst>
                <a:tab pos="313221" algn="l"/>
                <a:tab pos="313781" algn="l"/>
              </a:tabLst>
            </a:pPr>
            <a:r>
              <a:rPr lang="en-GB" sz="2200" spc="-4" dirty="0"/>
              <a:t>Four of the antimony atom’s valence electrons are used to form  the covalent bonds with silicon atoms, leaving one extra electron</a:t>
            </a:r>
          </a:p>
          <a:p>
            <a:pPr marL="313221" marR="5603" indent="-302575">
              <a:lnSpc>
                <a:spcPct val="100000"/>
              </a:lnSpc>
              <a:spcBef>
                <a:spcPts val="446"/>
              </a:spcBef>
              <a:buClr>
                <a:srgbClr val="CC9900"/>
              </a:buClr>
              <a:buSzPct val="64285"/>
              <a:buFont typeface="PMingLiU-ExtB"/>
              <a:buChar char="■"/>
              <a:tabLst>
                <a:tab pos="313221" algn="l"/>
                <a:tab pos="313781" algn="l"/>
              </a:tabLst>
            </a:pPr>
            <a:r>
              <a:rPr lang="en-GB" sz="2200" spc="-4" dirty="0"/>
              <a:t>This</a:t>
            </a:r>
            <a:r>
              <a:rPr lang="en-GB" sz="2200" spc="194" dirty="0"/>
              <a:t> </a:t>
            </a:r>
            <a:r>
              <a:rPr lang="en-GB" sz="2200" spc="-4" dirty="0"/>
              <a:t>extra</a:t>
            </a:r>
            <a:r>
              <a:rPr lang="en-GB" sz="2200" spc="185" dirty="0"/>
              <a:t> </a:t>
            </a:r>
            <a:r>
              <a:rPr lang="en-GB" sz="2200" spc="-9" dirty="0"/>
              <a:t>electron</a:t>
            </a:r>
            <a:r>
              <a:rPr lang="en-GB" sz="2200" spc="190" dirty="0"/>
              <a:t> </a:t>
            </a:r>
            <a:r>
              <a:rPr lang="en-GB" sz="2200" spc="-9" dirty="0"/>
              <a:t>becomes</a:t>
            </a:r>
            <a:r>
              <a:rPr lang="en-GB" sz="2200" spc="194" dirty="0"/>
              <a:t> </a:t>
            </a:r>
            <a:r>
              <a:rPr lang="en-GB" sz="2200" dirty="0"/>
              <a:t>a</a:t>
            </a:r>
            <a:r>
              <a:rPr lang="en-GB" sz="2200" spc="172" dirty="0"/>
              <a:t> </a:t>
            </a:r>
            <a:r>
              <a:rPr lang="en-GB" sz="2200" spc="-9" dirty="0"/>
              <a:t>conduction</a:t>
            </a:r>
            <a:r>
              <a:rPr lang="en-GB" sz="2200" spc="185" dirty="0"/>
              <a:t> </a:t>
            </a:r>
            <a:r>
              <a:rPr lang="en-GB" sz="2200" spc="-9" dirty="0"/>
              <a:t>electron</a:t>
            </a:r>
            <a:r>
              <a:rPr lang="en-GB" sz="2200" spc="190" dirty="0"/>
              <a:t> </a:t>
            </a:r>
            <a:r>
              <a:rPr lang="en-GB" sz="2200" spc="-9" dirty="0"/>
              <a:t>because</a:t>
            </a:r>
            <a:r>
              <a:rPr lang="en-GB" sz="2200" spc="185" dirty="0"/>
              <a:t> </a:t>
            </a:r>
            <a:r>
              <a:rPr lang="en-GB" sz="2200" spc="-22" dirty="0"/>
              <a:t>it</a:t>
            </a:r>
            <a:r>
              <a:rPr lang="en-GB" sz="2200" spc="199" dirty="0"/>
              <a:t> </a:t>
            </a:r>
            <a:r>
              <a:rPr lang="en-GB" sz="2200" spc="-9" dirty="0"/>
              <a:t>is </a:t>
            </a:r>
            <a:r>
              <a:rPr lang="en-GB" sz="2200" spc="-476" dirty="0"/>
              <a:t> </a:t>
            </a:r>
            <a:r>
              <a:rPr lang="en-GB" sz="2200" spc="-4" dirty="0"/>
              <a:t>not</a:t>
            </a:r>
            <a:r>
              <a:rPr lang="en-GB" sz="2200" spc="22" dirty="0"/>
              <a:t> </a:t>
            </a:r>
            <a:r>
              <a:rPr lang="en-GB" sz="2200" spc="-9" dirty="0"/>
              <a:t>involved</a:t>
            </a:r>
            <a:r>
              <a:rPr lang="en-GB" sz="2200" spc="13" dirty="0"/>
              <a:t> </a:t>
            </a:r>
            <a:r>
              <a:rPr lang="en-GB" sz="2200" spc="-9" dirty="0"/>
              <a:t>in</a:t>
            </a:r>
            <a:r>
              <a:rPr lang="en-GB" sz="2200" spc="31" dirty="0"/>
              <a:t> </a:t>
            </a:r>
            <a:r>
              <a:rPr lang="en-GB" sz="2200" spc="-9" dirty="0"/>
              <a:t>bonding</a:t>
            </a:r>
            <a:endParaRPr lang="en-GB" sz="2200" dirty="0"/>
          </a:p>
          <a:p>
            <a:pPr marL="313221" marR="4483" indent="-302575">
              <a:lnSpc>
                <a:spcPct val="100000"/>
              </a:lnSpc>
              <a:spcBef>
                <a:spcPts val="446"/>
              </a:spcBef>
              <a:buClr>
                <a:srgbClr val="CC9900"/>
              </a:buClr>
              <a:buSzPct val="64285"/>
              <a:buFont typeface="PMingLiU-ExtB"/>
              <a:buChar char="■"/>
              <a:tabLst>
                <a:tab pos="313221" algn="l"/>
                <a:tab pos="313781" algn="l"/>
              </a:tabLst>
            </a:pPr>
            <a:r>
              <a:rPr lang="en-GB" sz="2200" spc="-4" dirty="0"/>
              <a:t>Because</a:t>
            </a:r>
            <a:r>
              <a:rPr lang="en-GB" sz="2200" spc="331" dirty="0"/>
              <a:t> </a:t>
            </a:r>
            <a:r>
              <a:rPr lang="en-GB" sz="2200" spc="-4" dirty="0"/>
              <a:t>the</a:t>
            </a:r>
            <a:r>
              <a:rPr lang="en-GB" sz="2200" spc="318" dirty="0"/>
              <a:t> </a:t>
            </a:r>
            <a:r>
              <a:rPr lang="en-GB" sz="2200" spc="-9" dirty="0"/>
              <a:t>pentavalent</a:t>
            </a:r>
            <a:r>
              <a:rPr lang="en-GB" sz="2200" spc="326" dirty="0"/>
              <a:t> </a:t>
            </a:r>
            <a:r>
              <a:rPr lang="en-GB" sz="2200" spc="-4" dirty="0"/>
              <a:t>atom</a:t>
            </a:r>
            <a:r>
              <a:rPr lang="en-GB" sz="2200" spc="340" dirty="0"/>
              <a:t> </a:t>
            </a:r>
            <a:r>
              <a:rPr lang="en-GB" sz="2200" spc="-9" dirty="0"/>
              <a:t>gives</a:t>
            </a:r>
            <a:r>
              <a:rPr lang="en-GB" sz="2200" spc="326" dirty="0"/>
              <a:t> </a:t>
            </a:r>
            <a:r>
              <a:rPr lang="en-GB" sz="2200" spc="-9" dirty="0"/>
              <a:t>up</a:t>
            </a:r>
            <a:r>
              <a:rPr lang="en-GB" sz="2200" spc="331" dirty="0"/>
              <a:t> </a:t>
            </a:r>
            <a:r>
              <a:rPr lang="en-GB" sz="2200" spc="-9" dirty="0"/>
              <a:t>an</a:t>
            </a:r>
            <a:r>
              <a:rPr lang="en-GB" sz="2200" spc="335" dirty="0"/>
              <a:t> </a:t>
            </a:r>
            <a:r>
              <a:rPr lang="en-GB" sz="2200" spc="-9" dirty="0"/>
              <a:t>electron,</a:t>
            </a:r>
            <a:r>
              <a:rPr lang="en-GB" sz="2200" spc="344" dirty="0"/>
              <a:t> </a:t>
            </a:r>
            <a:r>
              <a:rPr lang="en-GB" sz="2200" spc="-9" dirty="0"/>
              <a:t>it</a:t>
            </a:r>
            <a:r>
              <a:rPr lang="en-GB" sz="2200" spc="331" dirty="0"/>
              <a:t> </a:t>
            </a:r>
            <a:r>
              <a:rPr lang="en-GB" sz="2200" dirty="0"/>
              <a:t>is</a:t>
            </a:r>
            <a:r>
              <a:rPr lang="en-GB" sz="2200" spc="326" dirty="0"/>
              <a:t> </a:t>
            </a:r>
            <a:r>
              <a:rPr lang="en-GB" sz="2200" spc="-9" dirty="0"/>
              <a:t>often </a:t>
            </a:r>
            <a:r>
              <a:rPr lang="en-GB" sz="2200" spc="-481" dirty="0"/>
              <a:t> </a:t>
            </a:r>
            <a:r>
              <a:rPr lang="en-GB" sz="2200" spc="-4" dirty="0"/>
              <a:t>called</a:t>
            </a:r>
            <a:r>
              <a:rPr lang="en-GB" sz="2200" spc="-9" dirty="0"/>
              <a:t> </a:t>
            </a:r>
            <a:r>
              <a:rPr lang="en-GB" sz="2200" dirty="0"/>
              <a:t>a</a:t>
            </a:r>
            <a:r>
              <a:rPr lang="en-GB" sz="2200" spc="22" dirty="0"/>
              <a:t> </a:t>
            </a:r>
            <a:r>
              <a:rPr lang="en-GB" sz="2200" i="1" spc="-4" dirty="0">
                <a:solidFill>
                  <a:srgbClr val="FF0000"/>
                </a:solidFill>
                <a:latin typeface="Arial"/>
                <a:cs typeface="Arial"/>
              </a:rPr>
              <a:t>donor atom</a:t>
            </a:r>
            <a:endParaRPr lang="en-GB" sz="2200" dirty="0">
              <a:latin typeface="Arial"/>
              <a:cs typeface="Arial"/>
            </a:endParaRPr>
          </a:p>
          <a:p>
            <a:pPr marL="313221" marR="4483" indent="-302575">
              <a:lnSpc>
                <a:spcPct val="100000"/>
              </a:lnSpc>
              <a:spcBef>
                <a:spcPts val="446"/>
              </a:spcBef>
              <a:buClr>
                <a:srgbClr val="CC9900"/>
              </a:buClr>
              <a:buSzPct val="64285"/>
              <a:buFont typeface="PMingLiU-ExtB"/>
              <a:buChar char="■"/>
              <a:tabLst>
                <a:tab pos="313221" algn="l"/>
                <a:tab pos="313781" algn="l"/>
              </a:tabLst>
            </a:pPr>
            <a:r>
              <a:rPr lang="en-GB" sz="2200" dirty="0"/>
              <a:t>The</a:t>
            </a:r>
            <a:r>
              <a:rPr lang="en-GB" sz="2200" spc="278" dirty="0"/>
              <a:t> </a:t>
            </a:r>
            <a:r>
              <a:rPr lang="en-GB" sz="2200" spc="-4" dirty="0"/>
              <a:t>number</a:t>
            </a:r>
            <a:r>
              <a:rPr lang="en-GB" sz="2200" spc="269" dirty="0"/>
              <a:t> </a:t>
            </a:r>
            <a:r>
              <a:rPr lang="en-GB" sz="2200" dirty="0"/>
              <a:t>of</a:t>
            </a:r>
            <a:r>
              <a:rPr lang="en-GB" sz="2200" spc="274" dirty="0"/>
              <a:t> </a:t>
            </a:r>
            <a:r>
              <a:rPr lang="en-GB" sz="2200" spc="-9" dirty="0"/>
              <a:t>conduction</a:t>
            </a:r>
            <a:r>
              <a:rPr lang="en-GB" sz="2200" spc="282" dirty="0"/>
              <a:t> </a:t>
            </a:r>
            <a:r>
              <a:rPr lang="en-GB" sz="2200" spc="-9" dirty="0"/>
              <a:t>electrons</a:t>
            </a:r>
            <a:r>
              <a:rPr lang="en-GB" sz="2200" spc="274" dirty="0"/>
              <a:t> </a:t>
            </a:r>
            <a:r>
              <a:rPr lang="en-GB" sz="2200" dirty="0"/>
              <a:t>can</a:t>
            </a:r>
            <a:r>
              <a:rPr lang="en-GB" sz="2200" spc="282" dirty="0"/>
              <a:t> </a:t>
            </a:r>
            <a:r>
              <a:rPr lang="en-GB" sz="2200" spc="-9" dirty="0"/>
              <a:t>be</a:t>
            </a:r>
            <a:r>
              <a:rPr lang="en-GB" sz="2200" spc="278" dirty="0"/>
              <a:t> </a:t>
            </a:r>
            <a:r>
              <a:rPr lang="en-GB" sz="2200" spc="-9" dirty="0">
                <a:solidFill>
                  <a:srgbClr val="FF0000"/>
                </a:solidFill>
              </a:rPr>
              <a:t>carefully</a:t>
            </a:r>
            <a:r>
              <a:rPr lang="en-GB" sz="2200" spc="278" dirty="0">
                <a:solidFill>
                  <a:srgbClr val="FF0000"/>
                </a:solidFill>
              </a:rPr>
              <a:t> </a:t>
            </a:r>
            <a:r>
              <a:rPr lang="en-GB" sz="2200" spc="-9" dirty="0">
                <a:solidFill>
                  <a:srgbClr val="FF0000"/>
                </a:solidFill>
              </a:rPr>
              <a:t>controlled </a:t>
            </a:r>
            <a:r>
              <a:rPr lang="en-GB" sz="2200" spc="-481" dirty="0">
                <a:solidFill>
                  <a:srgbClr val="FF0000"/>
                </a:solidFill>
              </a:rPr>
              <a:t> </a:t>
            </a:r>
            <a:r>
              <a:rPr lang="en-GB" sz="2200" spc="-9" dirty="0"/>
              <a:t>by</a:t>
            </a:r>
            <a:r>
              <a:rPr lang="en-GB" sz="2200" spc="22" dirty="0"/>
              <a:t> </a:t>
            </a:r>
            <a:r>
              <a:rPr lang="en-GB" sz="2200" dirty="0"/>
              <a:t>the</a:t>
            </a:r>
            <a:r>
              <a:rPr lang="en-GB" sz="2200" spc="13" dirty="0"/>
              <a:t> </a:t>
            </a:r>
            <a:r>
              <a:rPr lang="en-GB" sz="2200" spc="-4" dirty="0"/>
              <a:t>number</a:t>
            </a:r>
            <a:r>
              <a:rPr lang="en-GB" sz="2200" spc="18" dirty="0"/>
              <a:t> </a:t>
            </a:r>
            <a:r>
              <a:rPr lang="en-GB" sz="2200" dirty="0"/>
              <a:t>of</a:t>
            </a:r>
            <a:r>
              <a:rPr lang="en-GB" sz="2200" spc="9" dirty="0"/>
              <a:t> </a:t>
            </a:r>
            <a:r>
              <a:rPr lang="en-GB" sz="2200" spc="-9" dirty="0"/>
              <a:t>impurity</a:t>
            </a:r>
            <a:r>
              <a:rPr lang="en-GB" sz="2200" spc="22" dirty="0"/>
              <a:t> </a:t>
            </a:r>
            <a:r>
              <a:rPr lang="en-GB" sz="2200" spc="-4" dirty="0"/>
              <a:t>atoms</a:t>
            </a:r>
            <a:r>
              <a:rPr lang="en-GB" sz="2200" spc="26" dirty="0"/>
              <a:t> </a:t>
            </a:r>
            <a:r>
              <a:rPr lang="en-GB" sz="2200" spc="-4" dirty="0"/>
              <a:t>added </a:t>
            </a:r>
            <a:r>
              <a:rPr lang="en-GB" sz="2200" dirty="0"/>
              <a:t>to</a:t>
            </a:r>
            <a:r>
              <a:rPr lang="en-GB" sz="2200" spc="31" dirty="0"/>
              <a:t> </a:t>
            </a:r>
            <a:r>
              <a:rPr lang="en-GB" sz="2200" spc="-4" dirty="0"/>
              <a:t>the</a:t>
            </a:r>
            <a:r>
              <a:rPr lang="en-GB" sz="2200" spc="31" dirty="0"/>
              <a:t> </a:t>
            </a:r>
            <a:r>
              <a:rPr lang="en-GB" sz="2200" spc="-4" dirty="0"/>
              <a:t>silicon</a:t>
            </a:r>
            <a:endParaRPr lang="en-GB" sz="2200" dirty="0"/>
          </a:p>
          <a:p>
            <a:pPr marL="313221" marR="4483" indent="-302575" algn="just">
              <a:lnSpc>
                <a:spcPct val="100000"/>
              </a:lnSpc>
              <a:spcBef>
                <a:spcPts val="446"/>
              </a:spcBef>
              <a:buClr>
                <a:srgbClr val="CC9900"/>
              </a:buClr>
              <a:buSzPct val="64285"/>
              <a:buFont typeface="PMingLiU-ExtB"/>
              <a:buChar char="■"/>
              <a:tabLst>
                <a:tab pos="313781" algn="l"/>
              </a:tabLst>
            </a:pPr>
            <a:r>
              <a:rPr lang="en-GB" sz="2200" b="1" dirty="0">
                <a:latin typeface="Arial"/>
                <a:cs typeface="Arial"/>
              </a:rPr>
              <a:t>A </a:t>
            </a:r>
            <a:r>
              <a:rPr lang="en-GB" sz="2200" b="1" spc="-4" dirty="0">
                <a:latin typeface="Arial"/>
                <a:cs typeface="Arial"/>
              </a:rPr>
              <a:t>conduction electron </a:t>
            </a:r>
            <a:r>
              <a:rPr lang="en-GB" sz="2200" b="1" spc="-9" dirty="0">
                <a:latin typeface="Arial"/>
                <a:cs typeface="Arial"/>
              </a:rPr>
              <a:t>created </a:t>
            </a:r>
            <a:r>
              <a:rPr lang="en-GB" sz="2200" b="1" spc="4" dirty="0">
                <a:latin typeface="Arial"/>
                <a:cs typeface="Arial"/>
              </a:rPr>
              <a:t>by </a:t>
            </a:r>
            <a:r>
              <a:rPr lang="en-GB" sz="2200" b="1" dirty="0">
                <a:latin typeface="Arial"/>
                <a:cs typeface="Arial"/>
              </a:rPr>
              <a:t>this </a:t>
            </a:r>
            <a:r>
              <a:rPr lang="en-GB" sz="2200" b="1" spc="-4" dirty="0">
                <a:latin typeface="Arial"/>
                <a:cs typeface="Arial"/>
              </a:rPr>
              <a:t>doping process </a:t>
            </a:r>
            <a:r>
              <a:rPr lang="en-GB" sz="2200" b="1" spc="-4" dirty="0">
                <a:solidFill>
                  <a:srgbClr val="FF0000"/>
                </a:solidFill>
                <a:latin typeface="Arial"/>
                <a:cs typeface="Arial"/>
              </a:rPr>
              <a:t>does</a:t>
            </a:r>
            <a:r>
              <a:rPr lang="en-GB" sz="22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GB" sz="2200" b="1" spc="-4" dirty="0">
                <a:solidFill>
                  <a:srgbClr val="FF0000"/>
                </a:solidFill>
                <a:latin typeface="Arial"/>
                <a:cs typeface="Arial"/>
              </a:rPr>
              <a:t>not leave </a:t>
            </a:r>
            <a:r>
              <a:rPr lang="en-GB" sz="2200" b="1" dirty="0">
                <a:solidFill>
                  <a:srgbClr val="FF0000"/>
                </a:solidFill>
                <a:latin typeface="Arial"/>
                <a:cs typeface="Arial"/>
              </a:rPr>
              <a:t>a hole </a:t>
            </a:r>
            <a:r>
              <a:rPr lang="en-GB" sz="2200" b="1" dirty="0">
                <a:latin typeface="Arial"/>
                <a:cs typeface="Arial"/>
              </a:rPr>
              <a:t>in the </a:t>
            </a:r>
            <a:r>
              <a:rPr lang="en-GB" sz="2200" b="1" spc="-4" dirty="0">
                <a:latin typeface="Arial"/>
                <a:cs typeface="Arial"/>
              </a:rPr>
              <a:t>valence </a:t>
            </a:r>
            <a:r>
              <a:rPr lang="en-GB" sz="2200" b="1" spc="-9" dirty="0">
                <a:latin typeface="Arial"/>
                <a:cs typeface="Arial"/>
              </a:rPr>
              <a:t>band </a:t>
            </a:r>
            <a:r>
              <a:rPr lang="en-GB" sz="2200" b="1" spc="-4" dirty="0">
                <a:latin typeface="Arial"/>
                <a:cs typeface="Arial"/>
              </a:rPr>
              <a:t>because </a:t>
            </a:r>
            <a:r>
              <a:rPr lang="en-GB" sz="2200" b="1" dirty="0">
                <a:latin typeface="Arial"/>
                <a:cs typeface="Arial"/>
              </a:rPr>
              <a:t>it is in </a:t>
            </a:r>
            <a:r>
              <a:rPr lang="en-GB" sz="2200" b="1" spc="-9" dirty="0">
                <a:latin typeface="Arial"/>
                <a:cs typeface="Arial"/>
              </a:rPr>
              <a:t>excess </a:t>
            </a:r>
            <a:r>
              <a:rPr lang="en-GB" sz="2200" b="1" spc="-4" dirty="0">
                <a:latin typeface="Arial"/>
                <a:cs typeface="Arial"/>
              </a:rPr>
              <a:t>of</a:t>
            </a:r>
            <a:r>
              <a:rPr lang="en-GB" sz="2200" b="1" spc="9" dirty="0">
                <a:latin typeface="Arial"/>
                <a:cs typeface="Arial"/>
              </a:rPr>
              <a:t> </a:t>
            </a:r>
            <a:r>
              <a:rPr lang="en-GB" sz="2200" b="1" spc="-4" dirty="0">
                <a:latin typeface="Arial"/>
                <a:cs typeface="Arial"/>
              </a:rPr>
              <a:t>the</a:t>
            </a:r>
            <a:r>
              <a:rPr lang="en-GB" sz="2200" b="1" spc="9" dirty="0">
                <a:latin typeface="Arial"/>
                <a:cs typeface="Arial"/>
              </a:rPr>
              <a:t> </a:t>
            </a:r>
            <a:r>
              <a:rPr lang="en-GB" sz="2200" b="1" spc="-4" dirty="0">
                <a:latin typeface="Arial"/>
                <a:cs typeface="Arial"/>
              </a:rPr>
              <a:t>number</a:t>
            </a:r>
            <a:r>
              <a:rPr lang="en-GB" sz="2200" b="1" spc="-13" dirty="0">
                <a:latin typeface="Arial"/>
                <a:cs typeface="Arial"/>
              </a:rPr>
              <a:t> </a:t>
            </a:r>
            <a:r>
              <a:rPr lang="en-GB" sz="2200" b="1" spc="-4" dirty="0">
                <a:latin typeface="Arial"/>
                <a:cs typeface="Arial"/>
              </a:rPr>
              <a:t>required</a:t>
            </a:r>
            <a:r>
              <a:rPr lang="en-GB" sz="2200" b="1" dirty="0">
                <a:latin typeface="Arial"/>
                <a:cs typeface="Arial"/>
              </a:rPr>
              <a:t> </a:t>
            </a:r>
            <a:r>
              <a:rPr lang="en-GB" sz="2200" b="1" spc="4" dirty="0">
                <a:latin typeface="Arial"/>
                <a:cs typeface="Arial"/>
              </a:rPr>
              <a:t>to</a:t>
            </a:r>
            <a:r>
              <a:rPr lang="en-GB" sz="2200" b="1" dirty="0">
                <a:latin typeface="Arial"/>
                <a:cs typeface="Arial"/>
              </a:rPr>
              <a:t> </a:t>
            </a:r>
            <a:r>
              <a:rPr lang="en-GB" sz="2200" b="1" spc="-4" dirty="0">
                <a:latin typeface="Arial"/>
                <a:cs typeface="Arial"/>
              </a:rPr>
              <a:t>fill</a:t>
            </a:r>
            <a:r>
              <a:rPr lang="en-GB" sz="2200" b="1" spc="4" dirty="0">
                <a:latin typeface="Arial"/>
                <a:cs typeface="Arial"/>
              </a:rPr>
              <a:t> </a:t>
            </a:r>
            <a:r>
              <a:rPr lang="en-GB" sz="2200" b="1" spc="-4" dirty="0">
                <a:latin typeface="Arial"/>
                <a:cs typeface="Arial"/>
              </a:rPr>
              <a:t>the</a:t>
            </a:r>
            <a:r>
              <a:rPr lang="en-GB" sz="2200" b="1" spc="9" dirty="0">
                <a:latin typeface="Arial"/>
                <a:cs typeface="Arial"/>
              </a:rPr>
              <a:t> </a:t>
            </a:r>
            <a:r>
              <a:rPr lang="en-GB" sz="2200" b="1" spc="-4" dirty="0">
                <a:latin typeface="Arial"/>
                <a:cs typeface="Arial"/>
              </a:rPr>
              <a:t>valence</a:t>
            </a:r>
            <a:r>
              <a:rPr lang="en-GB" sz="2200" b="1" spc="-9" dirty="0">
                <a:latin typeface="Arial"/>
                <a:cs typeface="Arial"/>
              </a:rPr>
              <a:t> </a:t>
            </a:r>
            <a:r>
              <a:rPr lang="en-GB" sz="2200" b="1" spc="-4" dirty="0">
                <a:latin typeface="Arial"/>
                <a:cs typeface="Arial"/>
              </a:rPr>
              <a:t>band</a:t>
            </a:r>
            <a:endParaRPr lang="en-GB" sz="2200" dirty="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D63E2-A914-4607-A93B-B0E09DC50B1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993152" y="6925788"/>
            <a:ext cx="679450" cy="19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1213"/>
              </a:lnSpc>
            </a:pPr>
            <a:r>
              <a:rPr lang="en-US" spc="-40"/>
              <a:t>By Dr.Dipika Pradhan</a:t>
            </a:r>
            <a:endParaRPr lang="en-US" spc="-35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D0D471-7059-44AB-A8C0-7066C78D55CE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4208798" y="6930346"/>
            <a:ext cx="1637664" cy="19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375"/>
              </a:lnSpc>
            </a:pPr>
            <a:fld id="{0F4C6C70-0563-4C5F-A48A-332283C72908}" type="datetime1">
              <a:rPr lang="en-US" spc="-35" smtClean="0"/>
              <a:pPr marL="12700">
                <a:lnSpc>
                  <a:spcPts val="1375"/>
                </a:lnSpc>
              </a:pPr>
              <a:t>10/29/2025</a:t>
            </a:fld>
            <a:endParaRPr lang="en-US" spc="-3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42311EB-FD0D-4775-861E-D526F3596848}"/>
              </a:ext>
            </a:extLst>
          </p:cNvPr>
          <p:cNvSpPr txBox="1">
            <a:spLocks/>
          </p:cNvSpPr>
          <p:nvPr/>
        </p:nvSpPr>
        <p:spPr>
          <a:xfrm>
            <a:off x="756058" y="542463"/>
            <a:ext cx="10655654" cy="50909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  <a:latin typeface="Arial Black" panose="020B0A04020102020204" pitchFamily="34" charset="0"/>
              </a:rPr>
              <a:t>Extrinsic Semiconductor</a:t>
            </a:r>
          </a:p>
        </p:txBody>
      </p:sp>
    </p:spTree>
    <p:extLst>
      <p:ext uri="{BB962C8B-B14F-4D97-AF65-F5344CB8AC3E}">
        <p14:creationId xmlns:p14="http://schemas.microsoft.com/office/powerpoint/2010/main" val="350226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57139F-C394-1E75-F888-1219480614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03" t="10396" r="13263" b="9013"/>
          <a:stretch/>
        </p:blipFill>
        <p:spPr>
          <a:xfrm>
            <a:off x="2476394" y="1420286"/>
            <a:ext cx="6841342" cy="422919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CF4F1B-BCA6-4529-BC12-251402F88667}"/>
              </a:ext>
            </a:extLst>
          </p:cNvPr>
          <p:cNvSpPr txBox="1">
            <a:spLocks/>
          </p:cNvSpPr>
          <p:nvPr/>
        </p:nvSpPr>
        <p:spPr>
          <a:xfrm>
            <a:off x="756058" y="542463"/>
            <a:ext cx="10655654" cy="50909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  <a:latin typeface="Arial Black" panose="020B0A04020102020204" pitchFamily="34" charset="0"/>
              </a:rPr>
              <a:t>Extrinsic Semiconductor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C5B360-0048-4950-827F-7D7142ACA020}"/>
              </a:ext>
            </a:extLst>
          </p:cNvPr>
          <p:cNvSpPr txBox="1"/>
          <p:nvPr/>
        </p:nvSpPr>
        <p:spPr>
          <a:xfrm>
            <a:off x="413766" y="5831622"/>
            <a:ext cx="11656314" cy="967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solidFill>
                  <a:srgbClr val="C00000"/>
                </a:solidFill>
                <a:latin typeface="Arial Black" panose="020B0A04020102020204" pitchFamily="34" charset="0"/>
                <a:ea typeface="+mj-ea"/>
                <a:cs typeface="+mj-cs"/>
              </a:rPr>
              <a:t>A large surplus of holes are created, making the material much more conductive than it was in its pure, intrinsic state</a:t>
            </a:r>
            <a:endParaRPr lang="en-IN" sz="2000" dirty="0">
              <a:solidFill>
                <a:srgbClr val="C00000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01720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8582" y="1401110"/>
            <a:ext cx="5703285" cy="44220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lang="en-IN" sz="2800" b="1" spc="-71" dirty="0">
                <a:solidFill>
                  <a:srgbClr val="C00000"/>
                </a:solidFill>
                <a:latin typeface="Arial Rounded MT Bold" panose="020F0704030504030204" pitchFamily="34" charset="0"/>
              </a:rPr>
              <a:t>p</a:t>
            </a:r>
            <a:r>
              <a:rPr sz="2800" b="1" spc="-71" dirty="0">
                <a:solidFill>
                  <a:srgbClr val="C00000"/>
                </a:solidFill>
                <a:latin typeface="Arial Rounded MT Bold" panose="020F0704030504030204" pitchFamily="34" charset="0"/>
              </a:rPr>
              <a:t>-</a:t>
            </a:r>
            <a:r>
              <a:rPr lang="en-IN" sz="2800" b="1" spc="-71" dirty="0">
                <a:solidFill>
                  <a:srgbClr val="C00000"/>
                </a:solidFill>
                <a:latin typeface="Arial Rounded MT Bold" panose="020F0704030504030204" pitchFamily="34" charset="0"/>
              </a:rPr>
              <a:t>T</a:t>
            </a:r>
            <a:r>
              <a:rPr sz="2800" b="1" spc="-71" dirty="0" err="1">
                <a:solidFill>
                  <a:srgbClr val="C00000"/>
                </a:solidFill>
                <a:latin typeface="Arial Rounded MT Bold" panose="020F0704030504030204" pitchFamily="34" charset="0"/>
              </a:rPr>
              <a:t>ype</a:t>
            </a:r>
            <a:r>
              <a:rPr sz="2800" b="1" spc="-26" dirty="0">
                <a:solidFill>
                  <a:srgbClr val="C00000"/>
                </a:solidFill>
                <a:latin typeface="Arial Rounded MT Bold" panose="020F0704030504030204" pitchFamily="34" charset="0"/>
              </a:rPr>
              <a:t> </a:t>
            </a:r>
            <a:r>
              <a:rPr lang="en-IN" sz="2800" b="1" spc="-53" dirty="0">
                <a:solidFill>
                  <a:srgbClr val="C00000"/>
                </a:solidFill>
                <a:latin typeface="Arial Rounded MT Bold" panose="020F0704030504030204" pitchFamily="34" charset="0"/>
              </a:rPr>
              <a:t>Material</a:t>
            </a:r>
            <a:endParaRPr sz="2800" b="1" spc="-53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34782" y="1516367"/>
            <a:ext cx="137272" cy="196267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1191" spc="-291" dirty="0">
                <a:solidFill>
                  <a:srgbClr val="CC9900"/>
                </a:solidFill>
                <a:latin typeface="PMingLiU-ExtB"/>
                <a:cs typeface="PMingLiU-ExtB"/>
              </a:rPr>
              <a:t>■</a:t>
            </a:r>
            <a:endParaRPr sz="1191">
              <a:latin typeface="PMingLiU-ExtB"/>
              <a:cs typeface="PMingLiU-ExtB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993152" y="1825922"/>
            <a:ext cx="10944848" cy="3600226"/>
          </a:xfrm>
          <a:prstGeom prst="rect">
            <a:avLst/>
          </a:prstGeom>
        </p:spPr>
        <p:txBody>
          <a:bodyPr vert="horz" wrap="square" lIns="0" tIns="344688" rIns="0" bIns="0" rtlCol="0">
            <a:spAutoFit/>
          </a:bodyPr>
          <a:lstStyle/>
          <a:p>
            <a:pPr marL="313221" marR="6164">
              <a:lnSpc>
                <a:spcPct val="100000"/>
              </a:lnSpc>
              <a:spcBef>
                <a:spcPts val="88"/>
              </a:spcBef>
            </a:pPr>
            <a:r>
              <a:rPr sz="2200" dirty="0"/>
              <a:t>Each</a:t>
            </a:r>
            <a:r>
              <a:rPr sz="2200" spc="234" dirty="0"/>
              <a:t> </a:t>
            </a:r>
            <a:r>
              <a:rPr lang="en-IN" sz="2200" spc="-9" dirty="0"/>
              <a:t>t</a:t>
            </a:r>
            <a:r>
              <a:rPr sz="2200" spc="-9" dirty="0" err="1"/>
              <a:t>rivalent</a:t>
            </a:r>
            <a:r>
              <a:rPr sz="2200" spc="247" dirty="0"/>
              <a:t> </a:t>
            </a:r>
            <a:r>
              <a:rPr sz="2200" spc="-4" dirty="0"/>
              <a:t>atom</a:t>
            </a:r>
            <a:r>
              <a:rPr sz="2200" spc="260" dirty="0"/>
              <a:t> </a:t>
            </a:r>
            <a:r>
              <a:rPr sz="2200" spc="-9" dirty="0"/>
              <a:t>(Boron,</a:t>
            </a:r>
            <a:r>
              <a:rPr sz="2200" spc="251" dirty="0"/>
              <a:t> </a:t>
            </a:r>
            <a:r>
              <a:rPr sz="2200" dirty="0"/>
              <a:t>in</a:t>
            </a:r>
            <a:r>
              <a:rPr sz="2200" spc="234" dirty="0"/>
              <a:t> </a:t>
            </a:r>
            <a:r>
              <a:rPr sz="2200" spc="-9" dirty="0"/>
              <a:t>this</a:t>
            </a:r>
            <a:r>
              <a:rPr sz="2200" spc="243" dirty="0"/>
              <a:t> </a:t>
            </a:r>
            <a:r>
              <a:rPr sz="2200" spc="-4" dirty="0"/>
              <a:t>case)</a:t>
            </a:r>
            <a:r>
              <a:rPr sz="2200" spc="243" dirty="0"/>
              <a:t> </a:t>
            </a:r>
            <a:r>
              <a:rPr sz="2200" spc="-4" dirty="0"/>
              <a:t>forms</a:t>
            </a:r>
            <a:r>
              <a:rPr sz="2200" spc="247" dirty="0"/>
              <a:t> </a:t>
            </a:r>
            <a:r>
              <a:rPr sz="2200" spc="-9" dirty="0"/>
              <a:t>covalent</a:t>
            </a:r>
            <a:r>
              <a:rPr sz="2200" spc="251" dirty="0"/>
              <a:t> </a:t>
            </a:r>
            <a:r>
              <a:rPr sz="2200" spc="-9" dirty="0"/>
              <a:t>bonds </a:t>
            </a:r>
            <a:r>
              <a:rPr sz="2200" spc="-481" dirty="0"/>
              <a:t> </a:t>
            </a:r>
            <a:r>
              <a:rPr sz="2200" spc="-9" dirty="0"/>
              <a:t>with</a:t>
            </a:r>
            <a:r>
              <a:rPr sz="2200" spc="9" dirty="0"/>
              <a:t> </a:t>
            </a:r>
            <a:r>
              <a:rPr sz="2200" spc="-4" dirty="0"/>
              <a:t>four</a:t>
            </a:r>
            <a:r>
              <a:rPr sz="2200" spc="18" dirty="0"/>
              <a:t> </a:t>
            </a:r>
            <a:r>
              <a:rPr sz="2200" spc="-9" dirty="0"/>
              <a:t>adjacent</a:t>
            </a:r>
            <a:r>
              <a:rPr sz="2200" spc="26" dirty="0"/>
              <a:t> </a:t>
            </a:r>
            <a:r>
              <a:rPr sz="2200" spc="-4" dirty="0"/>
              <a:t>silicon atoms</a:t>
            </a:r>
            <a:endParaRPr sz="2200" dirty="0"/>
          </a:p>
          <a:p>
            <a:pPr marL="313221" marR="4483" indent="-302575">
              <a:lnSpc>
                <a:spcPct val="100000"/>
              </a:lnSpc>
              <a:spcBef>
                <a:spcPts val="441"/>
              </a:spcBef>
              <a:buClr>
                <a:srgbClr val="CC9900"/>
              </a:buClr>
              <a:buSzPct val="64285"/>
              <a:buFont typeface="PMingLiU-ExtB"/>
              <a:buChar char="■"/>
              <a:tabLst>
                <a:tab pos="313221" algn="l"/>
                <a:tab pos="313781" algn="l"/>
              </a:tabLst>
            </a:pPr>
            <a:r>
              <a:rPr sz="2200" spc="-4" dirty="0"/>
              <a:t>Three</a:t>
            </a:r>
            <a:r>
              <a:rPr sz="2200" spc="31" dirty="0"/>
              <a:t> </a:t>
            </a:r>
            <a:r>
              <a:rPr sz="2200" dirty="0"/>
              <a:t>of</a:t>
            </a:r>
            <a:r>
              <a:rPr sz="2200" spc="26" dirty="0"/>
              <a:t> </a:t>
            </a:r>
            <a:r>
              <a:rPr sz="2200" dirty="0"/>
              <a:t>the</a:t>
            </a:r>
            <a:r>
              <a:rPr sz="2200" spc="26" dirty="0"/>
              <a:t> </a:t>
            </a:r>
            <a:r>
              <a:rPr sz="2200" spc="-4" dirty="0"/>
              <a:t>Boron</a:t>
            </a:r>
            <a:r>
              <a:rPr sz="2200" spc="31" dirty="0"/>
              <a:t> </a:t>
            </a:r>
            <a:r>
              <a:rPr sz="2200" spc="-4" dirty="0"/>
              <a:t>atom’s</a:t>
            </a:r>
            <a:r>
              <a:rPr sz="2200" spc="49" dirty="0"/>
              <a:t> </a:t>
            </a:r>
            <a:r>
              <a:rPr sz="2200" spc="-9" dirty="0"/>
              <a:t>valence</a:t>
            </a:r>
            <a:r>
              <a:rPr sz="2200" spc="31" dirty="0"/>
              <a:t> </a:t>
            </a:r>
            <a:r>
              <a:rPr sz="2200" spc="-9" dirty="0"/>
              <a:t>electrons</a:t>
            </a:r>
            <a:r>
              <a:rPr sz="2200" spc="35" dirty="0"/>
              <a:t> </a:t>
            </a:r>
            <a:r>
              <a:rPr sz="2200" spc="-4" dirty="0"/>
              <a:t>are</a:t>
            </a:r>
            <a:r>
              <a:rPr sz="2200" spc="31" dirty="0"/>
              <a:t> </a:t>
            </a:r>
            <a:r>
              <a:rPr sz="2200" spc="-9" dirty="0"/>
              <a:t>used</a:t>
            </a:r>
            <a:r>
              <a:rPr sz="2200" spc="35" dirty="0"/>
              <a:t> </a:t>
            </a:r>
            <a:r>
              <a:rPr sz="2200" dirty="0"/>
              <a:t>to</a:t>
            </a:r>
            <a:r>
              <a:rPr sz="2200" spc="31" dirty="0"/>
              <a:t> </a:t>
            </a:r>
            <a:r>
              <a:rPr sz="2200" spc="-4" dirty="0"/>
              <a:t>form</a:t>
            </a:r>
            <a:r>
              <a:rPr sz="2200" spc="35" dirty="0"/>
              <a:t> </a:t>
            </a:r>
            <a:r>
              <a:rPr sz="2200" spc="-4" dirty="0"/>
              <a:t>the </a:t>
            </a:r>
            <a:r>
              <a:rPr sz="2200" spc="-476" dirty="0"/>
              <a:t> </a:t>
            </a:r>
            <a:r>
              <a:rPr sz="2200" spc="-9" dirty="0"/>
              <a:t>covalent</a:t>
            </a:r>
            <a:r>
              <a:rPr sz="2200" spc="9" dirty="0"/>
              <a:t> </a:t>
            </a:r>
            <a:r>
              <a:rPr sz="2200" spc="-4" dirty="0"/>
              <a:t>bonds</a:t>
            </a:r>
            <a:r>
              <a:rPr sz="2200" spc="26" dirty="0"/>
              <a:t> </a:t>
            </a:r>
            <a:r>
              <a:rPr sz="2200" spc="-9" dirty="0"/>
              <a:t>with</a:t>
            </a:r>
            <a:r>
              <a:rPr sz="2200" spc="13" dirty="0"/>
              <a:t> </a:t>
            </a:r>
            <a:r>
              <a:rPr sz="2200" spc="-4" dirty="0"/>
              <a:t>silicon </a:t>
            </a:r>
            <a:r>
              <a:rPr sz="2200" dirty="0"/>
              <a:t>atoms,</a:t>
            </a:r>
            <a:r>
              <a:rPr sz="2200" spc="13" dirty="0"/>
              <a:t> </a:t>
            </a:r>
            <a:r>
              <a:rPr sz="2200" spc="-9" dirty="0"/>
              <a:t>leaving</a:t>
            </a:r>
            <a:r>
              <a:rPr sz="2200" spc="13" dirty="0"/>
              <a:t> </a:t>
            </a:r>
            <a:r>
              <a:rPr sz="2200" spc="-9" dirty="0"/>
              <a:t>one</a:t>
            </a:r>
            <a:r>
              <a:rPr sz="2200" spc="13" dirty="0"/>
              <a:t> </a:t>
            </a:r>
            <a:r>
              <a:rPr sz="2200" spc="-4" dirty="0"/>
              <a:t>extra</a:t>
            </a:r>
            <a:r>
              <a:rPr sz="2200" spc="31" dirty="0"/>
              <a:t> </a:t>
            </a:r>
            <a:r>
              <a:rPr sz="2200" spc="-9" dirty="0"/>
              <a:t>hole</a:t>
            </a:r>
            <a:endParaRPr sz="2200" dirty="0"/>
          </a:p>
          <a:p>
            <a:pPr marL="313221" marR="4483" indent="-302575">
              <a:lnSpc>
                <a:spcPct val="100000"/>
              </a:lnSpc>
              <a:spcBef>
                <a:spcPts val="446"/>
              </a:spcBef>
              <a:buClr>
                <a:srgbClr val="CC9900"/>
              </a:buClr>
              <a:buSzPct val="64285"/>
              <a:buFont typeface="PMingLiU-ExtB"/>
              <a:buChar char="■"/>
              <a:tabLst>
                <a:tab pos="313221" algn="l"/>
                <a:tab pos="313781" algn="l"/>
              </a:tabLst>
            </a:pPr>
            <a:r>
              <a:rPr sz="2200" spc="-4" dirty="0"/>
              <a:t>Because</a:t>
            </a:r>
            <a:r>
              <a:rPr sz="2200" spc="331" dirty="0"/>
              <a:t> </a:t>
            </a:r>
            <a:r>
              <a:rPr sz="2200" dirty="0"/>
              <a:t>the</a:t>
            </a:r>
            <a:r>
              <a:rPr sz="2200" spc="318" dirty="0"/>
              <a:t> </a:t>
            </a:r>
            <a:r>
              <a:rPr sz="2200" spc="-9" dirty="0"/>
              <a:t>trivalent</a:t>
            </a:r>
            <a:r>
              <a:rPr sz="2200" spc="326" dirty="0"/>
              <a:t> </a:t>
            </a:r>
            <a:r>
              <a:rPr sz="2200" spc="-4" dirty="0"/>
              <a:t>atom</a:t>
            </a:r>
            <a:r>
              <a:rPr sz="2200" spc="340" dirty="0"/>
              <a:t> </a:t>
            </a:r>
            <a:r>
              <a:rPr sz="2200" dirty="0"/>
              <a:t>can</a:t>
            </a:r>
            <a:r>
              <a:rPr sz="2200" spc="331" dirty="0"/>
              <a:t> </a:t>
            </a:r>
            <a:r>
              <a:rPr sz="2200" dirty="0"/>
              <a:t>take</a:t>
            </a:r>
            <a:r>
              <a:rPr sz="2200" spc="318" dirty="0"/>
              <a:t> </a:t>
            </a:r>
            <a:r>
              <a:rPr sz="2200" spc="-9" dirty="0"/>
              <a:t>up</a:t>
            </a:r>
            <a:r>
              <a:rPr sz="2200" spc="331" dirty="0"/>
              <a:t> </a:t>
            </a:r>
            <a:r>
              <a:rPr sz="2200" dirty="0"/>
              <a:t>an</a:t>
            </a:r>
            <a:r>
              <a:rPr sz="2200" spc="335" dirty="0"/>
              <a:t> </a:t>
            </a:r>
            <a:r>
              <a:rPr sz="2200" spc="-9" dirty="0"/>
              <a:t>electron,</a:t>
            </a:r>
            <a:r>
              <a:rPr sz="2200" spc="326" dirty="0"/>
              <a:t> </a:t>
            </a:r>
            <a:r>
              <a:rPr sz="2200" dirty="0"/>
              <a:t>it</a:t>
            </a:r>
            <a:r>
              <a:rPr sz="2200" spc="331" dirty="0"/>
              <a:t> </a:t>
            </a:r>
            <a:r>
              <a:rPr sz="2200" spc="-9" dirty="0"/>
              <a:t>is</a:t>
            </a:r>
            <a:r>
              <a:rPr sz="2200" spc="340" dirty="0"/>
              <a:t> </a:t>
            </a:r>
            <a:r>
              <a:rPr sz="2200" spc="-4" dirty="0"/>
              <a:t>often </a:t>
            </a:r>
            <a:r>
              <a:rPr sz="2200" spc="-476" dirty="0"/>
              <a:t> </a:t>
            </a:r>
            <a:r>
              <a:rPr sz="2200" spc="-4" dirty="0"/>
              <a:t>called</a:t>
            </a:r>
            <a:r>
              <a:rPr sz="2200" spc="-9" dirty="0"/>
              <a:t> </a:t>
            </a:r>
            <a:r>
              <a:rPr sz="2200" dirty="0"/>
              <a:t>a</a:t>
            </a:r>
            <a:r>
              <a:rPr lang="en-IN" sz="2200" dirty="0"/>
              <a:t>n</a:t>
            </a:r>
            <a:r>
              <a:rPr sz="2200" spc="22" dirty="0"/>
              <a:t> </a:t>
            </a:r>
            <a:r>
              <a:rPr sz="2200" i="1" spc="-4" dirty="0">
                <a:solidFill>
                  <a:srgbClr val="FF0000"/>
                </a:solidFill>
                <a:latin typeface="Arial"/>
                <a:cs typeface="Arial"/>
              </a:rPr>
              <a:t>acceptor atom</a:t>
            </a:r>
            <a:endParaRPr sz="2200" dirty="0">
              <a:latin typeface="Arial"/>
              <a:cs typeface="Arial"/>
            </a:endParaRPr>
          </a:p>
          <a:p>
            <a:pPr marL="313221" marR="8405" indent="-302575">
              <a:lnSpc>
                <a:spcPct val="100000"/>
              </a:lnSpc>
              <a:spcBef>
                <a:spcPts val="446"/>
              </a:spcBef>
              <a:buClr>
                <a:srgbClr val="CC9900"/>
              </a:buClr>
              <a:buSzPct val="64285"/>
              <a:buFont typeface="PMingLiU-ExtB"/>
              <a:buChar char="■"/>
              <a:tabLst>
                <a:tab pos="313221" algn="l"/>
                <a:tab pos="313781" algn="l"/>
              </a:tabLst>
            </a:pPr>
            <a:r>
              <a:rPr sz="2200" dirty="0"/>
              <a:t>The</a:t>
            </a:r>
            <a:r>
              <a:rPr sz="2200" spc="26" dirty="0"/>
              <a:t> </a:t>
            </a:r>
            <a:r>
              <a:rPr sz="2200" spc="-4" dirty="0"/>
              <a:t>number</a:t>
            </a:r>
            <a:r>
              <a:rPr sz="2200" spc="18" dirty="0"/>
              <a:t> </a:t>
            </a:r>
            <a:r>
              <a:rPr sz="2200" dirty="0"/>
              <a:t>of</a:t>
            </a:r>
            <a:r>
              <a:rPr sz="2200" spc="26" dirty="0"/>
              <a:t> </a:t>
            </a:r>
            <a:r>
              <a:rPr sz="2200" spc="-4" dirty="0"/>
              <a:t>holes</a:t>
            </a:r>
            <a:r>
              <a:rPr sz="2200" spc="44" dirty="0"/>
              <a:t> </a:t>
            </a:r>
            <a:r>
              <a:rPr sz="2200" spc="-4" dirty="0"/>
              <a:t>can</a:t>
            </a:r>
            <a:r>
              <a:rPr sz="2200" spc="31" dirty="0"/>
              <a:t> </a:t>
            </a:r>
            <a:r>
              <a:rPr sz="2200" spc="-9" dirty="0"/>
              <a:t>be</a:t>
            </a:r>
            <a:r>
              <a:rPr sz="2200" spc="40" dirty="0"/>
              <a:t> </a:t>
            </a:r>
            <a:r>
              <a:rPr sz="2200" spc="-9" dirty="0">
                <a:solidFill>
                  <a:srgbClr val="FF0000"/>
                </a:solidFill>
              </a:rPr>
              <a:t>carefully</a:t>
            </a:r>
            <a:r>
              <a:rPr sz="2200" spc="26" dirty="0">
                <a:solidFill>
                  <a:srgbClr val="FF0000"/>
                </a:solidFill>
              </a:rPr>
              <a:t> </a:t>
            </a:r>
            <a:r>
              <a:rPr sz="2200" spc="-9" dirty="0">
                <a:solidFill>
                  <a:srgbClr val="FF0000"/>
                </a:solidFill>
              </a:rPr>
              <a:t>controlled</a:t>
            </a:r>
            <a:r>
              <a:rPr sz="2200" spc="35" dirty="0">
                <a:solidFill>
                  <a:srgbClr val="FF0000"/>
                </a:solidFill>
              </a:rPr>
              <a:t> </a:t>
            </a:r>
            <a:r>
              <a:rPr sz="2200" spc="-9" dirty="0"/>
              <a:t>by</a:t>
            </a:r>
            <a:r>
              <a:rPr sz="2200" spc="40" dirty="0"/>
              <a:t> </a:t>
            </a:r>
            <a:r>
              <a:rPr sz="2200" spc="-4" dirty="0"/>
              <a:t>the</a:t>
            </a:r>
            <a:r>
              <a:rPr sz="2200" spc="31" dirty="0"/>
              <a:t> </a:t>
            </a:r>
            <a:r>
              <a:rPr sz="2200" spc="-4" dirty="0"/>
              <a:t>number</a:t>
            </a:r>
            <a:r>
              <a:rPr sz="2200" spc="35" dirty="0"/>
              <a:t> </a:t>
            </a:r>
            <a:r>
              <a:rPr sz="2200" spc="-9" dirty="0"/>
              <a:t>of </a:t>
            </a:r>
            <a:r>
              <a:rPr sz="2200" spc="-476" dirty="0"/>
              <a:t> </a:t>
            </a:r>
            <a:r>
              <a:rPr sz="2200" spc="-9" dirty="0"/>
              <a:t>impurity</a:t>
            </a:r>
            <a:r>
              <a:rPr sz="2200" dirty="0"/>
              <a:t> </a:t>
            </a:r>
            <a:r>
              <a:rPr sz="2200" spc="-4" dirty="0"/>
              <a:t>atoms</a:t>
            </a:r>
            <a:r>
              <a:rPr sz="2200" spc="26" dirty="0"/>
              <a:t> </a:t>
            </a:r>
            <a:r>
              <a:rPr sz="2200" spc="-4" dirty="0"/>
              <a:t>added</a:t>
            </a:r>
            <a:r>
              <a:rPr sz="2200" spc="13" dirty="0"/>
              <a:t> </a:t>
            </a:r>
            <a:r>
              <a:rPr sz="2200" dirty="0"/>
              <a:t>to</a:t>
            </a:r>
            <a:r>
              <a:rPr sz="2200" spc="31" dirty="0"/>
              <a:t> </a:t>
            </a:r>
            <a:r>
              <a:rPr sz="2200" spc="-4" dirty="0"/>
              <a:t>the</a:t>
            </a:r>
            <a:r>
              <a:rPr sz="2200" spc="13" dirty="0"/>
              <a:t> </a:t>
            </a:r>
            <a:r>
              <a:rPr sz="2200" spc="-4" dirty="0"/>
              <a:t>silicon</a:t>
            </a:r>
            <a:endParaRPr sz="2200" dirty="0"/>
          </a:p>
          <a:p>
            <a:pPr marL="313221" marR="271757" indent="-302575">
              <a:lnSpc>
                <a:spcPct val="100000"/>
              </a:lnSpc>
              <a:spcBef>
                <a:spcPts val="446"/>
              </a:spcBef>
              <a:buClr>
                <a:srgbClr val="CC9900"/>
              </a:buClr>
              <a:buSzPct val="64285"/>
              <a:buFont typeface="PMingLiU-ExtB"/>
              <a:buChar char="■"/>
              <a:tabLst>
                <a:tab pos="313221" algn="l"/>
                <a:tab pos="313781" algn="l"/>
              </a:tabLst>
            </a:pPr>
            <a:r>
              <a:rPr sz="2200" b="1" dirty="0">
                <a:latin typeface="Arial"/>
                <a:cs typeface="Arial"/>
              </a:rPr>
              <a:t>A</a:t>
            </a:r>
            <a:r>
              <a:rPr sz="2200" b="1" spc="-4" dirty="0">
                <a:latin typeface="Arial"/>
                <a:cs typeface="Arial"/>
              </a:rPr>
              <a:t> hole</a:t>
            </a:r>
            <a:r>
              <a:rPr sz="2200" b="1" spc="4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created</a:t>
            </a:r>
            <a:r>
              <a:rPr sz="2200" b="1" spc="18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by</a:t>
            </a:r>
            <a:r>
              <a:rPr sz="2200" b="1" spc="-13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this</a:t>
            </a:r>
            <a:r>
              <a:rPr sz="2200" b="1" spc="4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doping</a:t>
            </a:r>
            <a:r>
              <a:rPr sz="2200" b="1" spc="18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process</a:t>
            </a:r>
            <a:r>
              <a:rPr sz="2200" b="1" spc="4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is</a:t>
            </a:r>
            <a:r>
              <a:rPr sz="2200" b="1" spc="-13" dirty="0">
                <a:latin typeface="Arial"/>
                <a:cs typeface="Arial"/>
              </a:rPr>
              <a:t> </a:t>
            </a:r>
            <a:r>
              <a:rPr sz="2200" b="1" i="1" spc="-4" dirty="0">
                <a:latin typeface="Arial"/>
                <a:cs typeface="Arial"/>
              </a:rPr>
              <a:t>not</a:t>
            </a:r>
            <a:r>
              <a:rPr sz="2200" b="1" i="1" spc="13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accompanied </a:t>
            </a:r>
            <a:r>
              <a:rPr sz="2200" b="1" spc="-503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by</a:t>
            </a:r>
            <a:r>
              <a:rPr sz="2200" b="1" spc="4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</a:t>
            </a:r>
            <a:r>
              <a:rPr sz="2200" b="1" spc="-9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conduction</a:t>
            </a:r>
            <a:r>
              <a:rPr sz="2200" b="1" spc="18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(free) electron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D63E2-A914-4607-A93B-B0E09DC50B1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993152" y="6925788"/>
            <a:ext cx="679450" cy="19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1213"/>
              </a:lnSpc>
            </a:pPr>
            <a:r>
              <a:rPr lang="en-US" spc="-40"/>
              <a:t>By Dr.Dipika Pradhan</a:t>
            </a:r>
            <a:endParaRPr lang="en-US" spc="-35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D0D471-7059-44AB-A8C0-7066C78D55CE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4208798" y="6930346"/>
            <a:ext cx="1637664" cy="19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375"/>
              </a:lnSpc>
            </a:pPr>
            <a:fld id="{0F4C6C70-0563-4C5F-A48A-332283C72908}" type="datetime1">
              <a:rPr lang="en-US" spc="-35" smtClean="0"/>
              <a:pPr marL="12700">
                <a:lnSpc>
                  <a:spcPts val="1375"/>
                </a:lnSpc>
              </a:pPr>
              <a:t>10/29/2025</a:t>
            </a:fld>
            <a:endParaRPr lang="en-US" spc="-3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42311EB-FD0D-4775-861E-D526F3596848}"/>
              </a:ext>
            </a:extLst>
          </p:cNvPr>
          <p:cNvSpPr txBox="1">
            <a:spLocks/>
          </p:cNvSpPr>
          <p:nvPr/>
        </p:nvSpPr>
        <p:spPr>
          <a:xfrm>
            <a:off x="756058" y="542463"/>
            <a:ext cx="10655654" cy="50909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  <a:latin typeface="Arial Black" panose="020B0A04020102020204" pitchFamily="34" charset="0"/>
              </a:rPr>
              <a:t>Extrinsic Semiconductor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B1DD03-9470-3133-9AA8-F3B872A9E4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03" t="18571" r="13333" b="11129"/>
          <a:stretch/>
        </p:blipFill>
        <p:spPr>
          <a:xfrm>
            <a:off x="2079394" y="1106086"/>
            <a:ext cx="8325057" cy="449342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07D15CA-125F-40B4-A839-15DD7212E41F}"/>
              </a:ext>
            </a:extLst>
          </p:cNvPr>
          <p:cNvSpPr txBox="1">
            <a:spLocks/>
          </p:cNvSpPr>
          <p:nvPr/>
        </p:nvSpPr>
        <p:spPr>
          <a:xfrm>
            <a:off x="756058" y="542464"/>
            <a:ext cx="10640075" cy="48391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  <a:latin typeface="Arial Black" panose="020B0A04020102020204" pitchFamily="34" charset="0"/>
              </a:rPr>
              <a:t>Majority and Minority Carriers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8098A-B209-45C5-BC26-25C4A8ACB53F}"/>
              </a:ext>
            </a:extLst>
          </p:cNvPr>
          <p:cNvSpPr txBox="1"/>
          <p:nvPr/>
        </p:nvSpPr>
        <p:spPr>
          <a:xfrm>
            <a:off x="1833764" y="5695695"/>
            <a:ext cx="9229767" cy="967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rgbClr val="C00000"/>
                </a:solidFill>
                <a:latin typeface="Arial Black" panose="020B0A04020102020204" pitchFamily="34" charset="0"/>
                <a:ea typeface="+mj-ea"/>
                <a:cs typeface="+mj-cs"/>
              </a:rPr>
              <a:t>Majority charge carriers are due to thermal agitation + doping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rgbClr val="C00000"/>
                </a:solidFill>
                <a:latin typeface="Arial Black" panose="020B0A04020102020204" pitchFamily="34" charset="0"/>
                <a:ea typeface="+mj-ea"/>
                <a:cs typeface="+mj-cs"/>
              </a:rPr>
              <a:t>Minority charge carriers are due to thermal agitation only</a:t>
            </a:r>
            <a:endParaRPr lang="en-IN" sz="2000" dirty="0">
              <a:solidFill>
                <a:srgbClr val="C00000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21888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425A8-BFF0-2824-D9B4-A93EDCB55BB2}"/>
              </a:ext>
            </a:extLst>
          </p:cNvPr>
          <p:cNvSpPr txBox="1"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4A4A4A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EA8FD-5544-4FE3-A4E7-E631E6AF9896}"/>
              </a:ext>
            </a:extLst>
          </p:cNvPr>
          <p:cNvSpPr/>
          <p:nvPr/>
        </p:nvSpPr>
        <p:spPr>
          <a:xfrm>
            <a:off x="2384298" y="2624328"/>
            <a:ext cx="7423404" cy="3026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00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759883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4801</TotalTime>
  <Words>648</Words>
  <Application>Microsoft Office PowerPoint</Application>
  <PresentationFormat>Widescreen</PresentationFormat>
  <Paragraphs>60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PMingLiU-ExtB</vt:lpstr>
      <vt:lpstr>Arial</vt:lpstr>
      <vt:lpstr>Arial Black</vt:lpstr>
      <vt:lpstr>Arial Rounded MT Bold</vt:lpstr>
      <vt:lpstr>Calibri</vt:lpstr>
      <vt:lpstr>Calibri Light</vt:lpstr>
      <vt:lpstr>Cambria Math</vt:lpstr>
      <vt:lpstr>Source Sans Pro</vt:lpstr>
      <vt:lpstr>Times New Roman</vt:lpstr>
      <vt:lpstr>Wingdings</vt:lpstr>
      <vt:lpstr>Office Theme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Semiconductor</vt:lpstr>
      <vt:lpstr>Intrinsic Semiconductor (At 0^o  Kelvin)</vt:lpstr>
      <vt:lpstr>PowerPoint Presentation</vt:lpstr>
      <vt:lpstr>PowerPoint Presentation</vt:lpstr>
      <vt:lpstr>PowerPoint Presentation</vt:lpstr>
      <vt:lpstr>n-Type Material</vt:lpstr>
      <vt:lpstr>PowerPoint Presentation</vt:lpstr>
      <vt:lpstr>p-Type Material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singh</dc:creator>
  <cp:lastModifiedBy>DYPIU</cp:lastModifiedBy>
  <cp:revision>120</cp:revision>
  <dcterms:created xsi:type="dcterms:W3CDTF">2022-10-16T18:26:52Z</dcterms:created>
  <dcterms:modified xsi:type="dcterms:W3CDTF">2025-10-29T17:50:55Z</dcterms:modified>
</cp:coreProperties>
</file>