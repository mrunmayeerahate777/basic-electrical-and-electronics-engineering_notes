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6"/>
  </p:notesMasterIdLst>
  <p:sldIdLst>
    <p:sldId id="278" r:id="rId2"/>
    <p:sldId id="258" r:id="rId3"/>
    <p:sldId id="259" r:id="rId4"/>
    <p:sldId id="276" r:id="rId5"/>
    <p:sldId id="277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2" r:id="rId14"/>
    <p:sldId id="27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B77E"/>
    <a:srgbClr val="A6D9E3"/>
    <a:srgbClr val="CBD7B7"/>
    <a:srgbClr val="CDD9B9"/>
    <a:srgbClr val="CFDBBB"/>
    <a:srgbClr val="D1DDBD"/>
    <a:srgbClr val="D3D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9" autoAdjust="0"/>
    <p:restoredTop sz="94582" autoAdjust="0"/>
  </p:normalViewPr>
  <p:slideViewPr>
    <p:cSldViewPr snapToGrid="0">
      <p:cViewPr>
        <p:scale>
          <a:sx n="70" d="100"/>
          <a:sy n="70" d="100"/>
        </p:scale>
        <p:origin x="536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3A03C-CED9-4BEC-BC44-CBD300ECCB9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2045C-DA37-4164-A520-D9F062F4E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2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98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A </a:t>
                </a:r>
                <a:r>
                  <a:rPr lang="en-GB" b="1" dirty="0"/>
                  <a:t>resistor</a:t>
                </a:r>
                <a:r>
                  <a:rPr lang="en-GB" dirty="0"/>
                  <a:t> is a </a:t>
                </a:r>
                <a:r>
                  <a:rPr lang="en-GB" b="1" dirty="0"/>
                  <a:t>device that resists the flow of electric current</a:t>
                </a:r>
                <a:r>
                  <a:rPr lang="en-GB" dirty="0"/>
                  <a:t> through it. It limits or controls the amount of current passing in an electrical circuit by providing resistance.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GB" b="1" dirty="0"/>
              </a:p>
              <a:p>
                <a:r>
                  <a:rPr lang="en-GB" b="1" dirty="0"/>
                  <a:t>Physical Appearance and Symbol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image shows a common resistor, which is a small cylindrical component with coloured bands indicating its resistance value.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</a:t>
                </a:r>
                <a:r>
                  <a:rPr lang="en-GB" b="1" dirty="0"/>
                  <a:t>resistor symbol</a:t>
                </a:r>
                <a:r>
                  <a:rPr lang="en-GB" dirty="0"/>
                  <a:t> in circuit diagrams is a zigzag line representing resistance.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terminals are marked with a positive (+) and negative (-) side, and current </a:t>
                </a:r>
                <a:r>
                  <a:rPr lang="en-GB" dirty="0" err="1"/>
                  <a:t>i</a:t>
                </a:r>
                <a:r>
                  <a:rPr lang="en-GB" dirty="0"/>
                  <a:t> flows through it.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Voltage across the resistor is V, and resistance is denoted by R.</a:t>
                </a:r>
              </a:p>
              <a:p>
                <a:endParaRPr lang="en-GB" b="1" dirty="0"/>
              </a:p>
              <a:p>
                <a:r>
                  <a:rPr lang="en-GB" b="1" dirty="0"/>
                  <a:t>Ohm’s Law</a:t>
                </a:r>
              </a:p>
              <a:p>
                <a:r>
                  <a:rPr lang="en-GB" dirty="0"/>
                  <a:t>The fundamental principle governing resistors is </a:t>
                </a:r>
                <a:r>
                  <a:rPr lang="en-GB" b="1" dirty="0"/>
                  <a:t>Ohm’s Law</a:t>
                </a:r>
                <a:r>
                  <a:rPr lang="en-GB" dirty="0"/>
                  <a:t>, which states: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dirty="0"/>
                  <a:t>		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𝒊𝑹</m:t>
                    </m:r>
                  </m:oMath>
                </a14:m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	V is the voltage across the resistor (in volts),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	</a:t>
                </a:r>
                <a:r>
                  <a:rPr lang="en-GB" dirty="0" err="1"/>
                  <a:t>i</a:t>
                </a:r>
                <a:r>
                  <a:rPr lang="en-GB" dirty="0"/>
                  <a:t> is the current flowing through the resistor (in amperes),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	R is the resistance (in ohms, Ω\Omega).</a:t>
                </a:r>
              </a:p>
              <a:p>
                <a:r>
                  <a:rPr lang="en-GB" dirty="0"/>
                  <a:t>This means that the voltage drop across a resistor is directly proportional to the current flowing through it, with the proportionality constant being the resistance.</a:t>
                </a:r>
              </a:p>
              <a:p>
                <a:endParaRPr lang="en-GB" b="1" dirty="0"/>
              </a:p>
              <a:p>
                <a:r>
                  <a:rPr lang="en-GB" b="1" dirty="0"/>
                  <a:t>Power and Energy Dissipation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A resistor </a:t>
                </a:r>
                <a:r>
                  <a:rPr lang="en-GB" b="1" dirty="0"/>
                  <a:t>opposes the flow of current</a:t>
                </a:r>
                <a:r>
                  <a:rPr lang="en-GB" dirty="0"/>
                  <a:t>, converting electrical energy into heat.</a:t>
                </a:r>
              </a:p>
              <a:p>
                <a:endParaRPr lang="en-GB" dirty="0"/>
              </a:p>
              <a:p>
                <a:r>
                  <a:rPr lang="en-GB" dirty="0"/>
                  <a:t>The power P (watts (W)) dissipated in a resistor is: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cs typeface="Times New Roman" panose="02020603050405020304" pitchFamily="18" charset="0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𝑽𝒊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p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This power is the rate at which energy is converted into heat.</a:t>
                </a:r>
              </a:p>
              <a:p>
                <a:endParaRPr lang="en-GB" dirty="0"/>
              </a:p>
              <a:p>
                <a:r>
                  <a:rPr lang="en-GB" dirty="0"/>
                  <a:t>The total energy W (joules (J)) dissipated over time t is:</a:t>
                </a:r>
              </a:p>
              <a:p>
                <a:r>
                  <a:rPr lang="en-GB" sz="1200" b="1" baseline="0" dirty="0">
                    <a:cs typeface="Times New Roman" panose="020206030504050203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𝑾</m:t>
                    </m:r>
                    <m:r>
                      <a:rPr lang="en-US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p>
                        <m:r>
                          <a:rPr lang="en-US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𝑹𝒕</m:t>
                    </m:r>
                  </m:oMath>
                </a14:m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This equation shows that energy dissipation depends on the square of current, resistance, and time.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GB" dirty="0"/>
              </a:p>
              <a:p>
                <a:r>
                  <a:rPr lang="en-GB" b="1" dirty="0"/>
                  <a:t>Graphical Representation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graph shows a linear relationship between voltage V and current </a:t>
                </a:r>
                <a:r>
                  <a:rPr lang="en-GB" dirty="0" err="1"/>
                  <a:t>i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slope of the line corresponds to the resistance R.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This linearity indicates that the resistor obeys Ohm’s law, with voltage increasing proportionally to current.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A </a:t>
                </a:r>
                <a:r>
                  <a:rPr lang="en-GB" b="1" dirty="0"/>
                  <a:t>resistor</a:t>
                </a:r>
                <a:r>
                  <a:rPr lang="en-GB" dirty="0"/>
                  <a:t> is a </a:t>
                </a:r>
                <a:r>
                  <a:rPr lang="en-GB" b="1" dirty="0"/>
                  <a:t>device that resists the flow of electric current</a:t>
                </a:r>
                <a:r>
                  <a:rPr lang="en-GB" dirty="0"/>
                  <a:t> through it. It limits or controls the amount of current passing in an electrical circuit by providing resistance.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GB" b="1" dirty="0"/>
              </a:p>
              <a:p>
                <a:r>
                  <a:rPr lang="en-GB" b="1" dirty="0"/>
                  <a:t>Physical Appearance and Symbol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image shows a common resistor, which is a small cylindrical component with coloured bands indicating its resistance value.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</a:t>
                </a:r>
                <a:r>
                  <a:rPr lang="en-GB" b="1" dirty="0"/>
                  <a:t>resistor symbol</a:t>
                </a:r>
                <a:r>
                  <a:rPr lang="en-GB" dirty="0"/>
                  <a:t> in circuit diagrams is a zigzag line representing resistance.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terminals are marked with a positive (+) and negative (-) side, and current </a:t>
                </a:r>
                <a:r>
                  <a:rPr lang="en-GB" dirty="0" err="1"/>
                  <a:t>i</a:t>
                </a:r>
                <a:r>
                  <a:rPr lang="en-GB" dirty="0"/>
                  <a:t> flows through it.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Voltage across the resistor is V, and resistance is denoted by R.</a:t>
                </a:r>
              </a:p>
              <a:p>
                <a:endParaRPr lang="en-GB" b="1" dirty="0"/>
              </a:p>
              <a:p>
                <a:r>
                  <a:rPr lang="en-GB" b="1" dirty="0"/>
                  <a:t>Ohm’s Law</a:t>
                </a:r>
              </a:p>
              <a:p>
                <a:r>
                  <a:rPr lang="en-GB" dirty="0"/>
                  <a:t>The fundamental principle governing resistors is </a:t>
                </a:r>
                <a:r>
                  <a:rPr lang="en-GB" b="1" dirty="0"/>
                  <a:t>Ohm’s Law</a:t>
                </a:r>
                <a:r>
                  <a:rPr lang="en-GB" dirty="0"/>
                  <a:t>, which states: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GB" dirty="0"/>
                  <a:t>		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𝑽=𝒊𝑹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	V is the voltage across the resistor (in volts),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	</a:t>
                </a:r>
                <a:r>
                  <a:rPr lang="en-GB" dirty="0" err="1"/>
                  <a:t>i</a:t>
                </a:r>
                <a:r>
                  <a:rPr lang="en-GB" dirty="0"/>
                  <a:t> is the current flowing through the resistor (in amperes),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	R is the resistance (in ohms, Ω\Omega).</a:t>
                </a:r>
              </a:p>
              <a:p>
                <a:r>
                  <a:rPr lang="en-GB" dirty="0"/>
                  <a:t>This means that the voltage drop across a resistor is directly proportional to the current flowing through it, with the proportionality constant being the resistance.</a:t>
                </a:r>
              </a:p>
              <a:p>
                <a:endParaRPr lang="en-GB" b="1" dirty="0"/>
              </a:p>
              <a:p>
                <a:r>
                  <a:rPr lang="en-GB" b="1" dirty="0"/>
                  <a:t>Power and Energy Dissipation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A resistor </a:t>
                </a:r>
                <a:r>
                  <a:rPr lang="en-GB" b="1" dirty="0"/>
                  <a:t>opposes the flow of current</a:t>
                </a:r>
                <a:r>
                  <a:rPr lang="en-GB" dirty="0"/>
                  <a:t>, converting electrical energy into heat.</a:t>
                </a:r>
              </a:p>
              <a:p>
                <a:endParaRPr lang="en-GB" dirty="0"/>
              </a:p>
              <a:p>
                <a:r>
                  <a:rPr lang="en-GB" dirty="0"/>
                  <a:t>The power P (watts (W)) dissipated in a resistor is: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𝑷=𝑽𝒊=𝒊^𝟐 𝑹=𝑽^𝟐⁄𝑹</a:t>
                </a: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This power is the rate at which energy is converted into heat.</a:t>
                </a:r>
              </a:p>
              <a:p>
                <a:endParaRPr lang="en-GB" dirty="0"/>
              </a:p>
              <a:p>
                <a:r>
                  <a:rPr lang="en-GB" dirty="0"/>
                  <a:t>The total energy W (joules (J)) dissipated over time t is:</a:t>
                </a:r>
              </a:p>
              <a:p>
                <a:pPr/>
                <a:r>
                  <a:rPr lang="en-GB" sz="1200" b="1" baseline="0" dirty="0">
                    <a:cs typeface="Times New Roman" panose="02020603050405020304" pitchFamily="18" charset="0"/>
                  </a:rPr>
                  <a:t>                      </a:t>
                </a:r>
                <a:r>
                  <a:rPr lang="en-US" sz="1200" b="1" i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𝑾=𝒊^𝟐 𝑹𝒕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This equation shows that energy dissipation depends on the square of current, resistance, and time.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GB" dirty="0"/>
              </a:p>
              <a:p>
                <a:r>
                  <a:rPr lang="en-GB" b="1" dirty="0"/>
                  <a:t>Graphical Representation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graph shows a linear relationship between voltage V and current </a:t>
                </a:r>
                <a:r>
                  <a:rPr lang="en-GB" dirty="0" err="1"/>
                  <a:t>i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slope of the line corresponds to the resistance R.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This linearity indicates that the resistor obeys Ohm’s law, with voltage increasing proportionally to current.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483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 </a:t>
                </a:r>
                <a:r>
                  <a:rPr lang="en-GB" b="1" dirty="0"/>
                  <a:t>capacitor</a:t>
                </a:r>
                <a:r>
                  <a:rPr lang="en-GB" dirty="0"/>
                  <a:t> is an </a:t>
                </a:r>
                <a:r>
                  <a:rPr lang="en-GB" b="1" dirty="0"/>
                  <a:t>electronic component that stores electrical energy in an electric field</a:t>
                </a:r>
                <a:r>
                  <a:rPr lang="en-GB" dirty="0"/>
                  <a:t>. It consists of two conductive plates separated by an insulating material called the dielectric. When voltage is applied, it stores energy by accumulating opposite charges on each plate.</a:t>
                </a:r>
              </a:p>
              <a:p>
                <a:endParaRPr lang="en-GB" b="1" dirty="0"/>
              </a:p>
              <a:p>
                <a:r>
                  <a:rPr lang="en-GB" b="1" dirty="0"/>
                  <a:t>Symbol and Physical Form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symbol of a capacitor is two parallel lines (plates), often with the positive (+) and negative (-) terminals marked.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image shows various types of capacitors (ceramic, electrolytic, film, etc.) with different shapes and sizes, but all serve the same fundamental function.</a:t>
                </a:r>
              </a:p>
              <a:p>
                <a:endParaRPr lang="en-GB" b="1" dirty="0"/>
              </a:p>
              <a:p>
                <a:r>
                  <a:rPr lang="en-GB" b="1" dirty="0"/>
                  <a:t>Mathematical Explanation and Equations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b="1" dirty="0"/>
                  <a:t>Charge-Voltage Relationship:</a:t>
                </a:r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                     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l-GR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</m:oMath>
                </a14:m>
                <a:endParaRPr lang="en-IN" sz="12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b="1" dirty="0">
                    <a:cs typeface="Times New Roman" panose="02020603050405020304" pitchFamily="18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𝑪𝑽</m:t>
                    </m:r>
                  </m:oMath>
                </a14:m>
                <a:endPara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Font typeface="+mj-lt"/>
                  <a:buNone/>
                </a:pPr>
                <a:r>
                  <a:rPr lang="en-GB" dirty="0"/>
                  <a:t>Q is the charge stored (in coulombs),</a:t>
                </a:r>
              </a:p>
              <a:p>
                <a:pPr marL="457200" lvl="1" indent="0">
                  <a:buFont typeface="+mj-lt"/>
                  <a:buNone/>
                </a:pPr>
                <a:r>
                  <a:rPr lang="en-GB" dirty="0"/>
                  <a:t>V is the voltage across the capacitor (in volts),</a:t>
                </a:r>
              </a:p>
              <a:p>
                <a:pPr marL="457200" lvl="1" indent="0">
                  <a:buFont typeface="+mj-lt"/>
                  <a:buNone/>
                </a:pPr>
                <a:r>
                  <a:rPr lang="en-GB" dirty="0"/>
                  <a:t>C is the capacitance (in farads), which depends on the geometry and material of the capacitor.</a:t>
                </a:r>
              </a:p>
              <a:p>
                <a:pPr marL="457200" lvl="1" indent="0">
                  <a:buFont typeface="+mj-lt"/>
                  <a:buNone/>
                </a:pPr>
                <a:endParaRPr lang="en-GB" dirty="0"/>
              </a:p>
              <a:p>
                <a:pPr>
                  <a:buFont typeface="+mj-lt"/>
                  <a:buNone/>
                </a:pPr>
                <a:r>
                  <a:rPr lang="en-GB" b="1" dirty="0"/>
                  <a:t>2.Current-Voltage Relationship:</a:t>
                </a:r>
                <a:endParaRPr lang="en-GB" dirty="0"/>
              </a:p>
              <a:p>
                <a:pPr>
                  <a:buFont typeface="+mj-lt"/>
                  <a:buNone/>
                </a:pPr>
                <a:r>
                  <a:rPr lang="en-GB" dirty="0"/>
                  <a:t>Current </a:t>
                </a:r>
                <a:r>
                  <a:rPr lang="en-GB" dirty="0" err="1"/>
                  <a:t>i</a:t>
                </a:r>
                <a:r>
                  <a:rPr lang="en-GB" dirty="0"/>
                  <a:t> through the capacitor is the rate of change of charge:</a:t>
                </a:r>
              </a:p>
              <a:p>
                <a:pPr>
                  <a:buFont typeface="+mj-lt"/>
                  <a:buNone/>
                </a:pPr>
                <a:r>
                  <a:rPr lang="en-GB" dirty="0"/>
                  <a:t>                    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𝒅𝑸</m:t>
                        </m:r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𝒅𝑽</m:t>
                        </m:r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None/>
                </a:pPr>
                <a:r>
                  <a:rPr lang="en-GB" dirty="0"/>
                  <a:t>This means the current through a capacitor is proportional to the rate of change of voltage across it.</a:t>
                </a:r>
              </a:p>
              <a:p>
                <a:pPr>
                  <a:buFont typeface="+mj-lt"/>
                  <a:buNone/>
                </a:pPr>
                <a:endParaRPr lang="en-GB" b="1" dirty="0"/>
              </a:p>
              <a:p>
                <a:pPr>
                  <a:buFont typeface="+mj-lt"/>
                  <a:buNone/>
                </a:pPr>
                <a:r>
                  <a:rPr lang="en-GB" b="1" dirty="0"/>
                  <a:t>3.Power:</a:t>
                </a:r>
              </a:p>
              <a:p>
                <a:pPr>
                  <a:buFont typeface="+mj-lt"/>
                  <a:buNone/>
                </a:pPr>
                <a:r>
                  <a:rPr lang="en-GB" dirty="0"/>
                  <a:t>Power delivered to the capacitor is:</a:t>
                </a:r>
              </a:p>
              <a:p>
                <a:pPr>
                  <a:buFont typeface="+mj-lt"/>
                  <a:buNone/>
                </a:pPr>
                <a:r>
                  <a:rPr lang="en-GB" dirty="0"/>
                  <a:t>                  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𝑽𝒊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𝑪𝑽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𝒅𝑽</m:t>
                        </m:r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GB" dirty="0"/>
              </a:p>
              <a:p>
                <a:pPr>
                  <a:buFont typeface="+mj-lt"/>
                  <a:buNone/>
                </a:pPr>
                <a:r>
                  <a:rPr lang="en-GB" dirty="0"/>
                  <a:t> </a:t>
                </a:r>
              </a:p>
              <a:p>
                <a:pPr>
                  <a:buFont typeface="+mj-lt"/>
                  <a:buNone/>
                </a:pPr>
                <a:r>
                  <a:rPr lang="en-GB" b="1" dirty="0"/>
                  <a:t>4.Energy Stored in Capacitor:</a:t>
                </a:r>
              </a:p>
              <a:p>
                <a:pPr>
                  <a:buFont typeface="+mj-lt"/>
                  <a:buNone/>
                </a:pPr>
                <a:r>
                  <a:rPr lang="en-GB" dirty="0"/>
                  <a:t>The energy W stored in the capacitor (energy stored in the electric field between the plates) can be found by integrating power over time.</a:t>
                </a:r>
              </a:p>
              <a:p>
                <a:pPr>
                  <a:buFont typeface="+mj-lt"/>
                  <a:buNone/>
                </a:pPr>
                <a:r>
                  <a:rPr lang="en-GB" sz="1200" b="1" baseline="0" dirty="0">
                    <a:cs typeface="Times New Roman" panose="02020603050405020304" pitchFamily="18" charset="0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𝑾</m:t>
                    </m:r>
                    <m:r>
                      <a:rPr lang="en-US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12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</m:t>
                    </m:r>
                    <m:sSup>
                      <m:sSupPr>
                        <m:ctrlPr>
                          <a:rPr lang="en-US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sz="12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GB" dirty="0"/>
              </a:p>
              <a:p>
                <a:endParaRPr lang="en-GB" b="1" dirty="0"/>
              </a:p>
              <a:p>
                <a:r>
                  <a:rPr lang="en-GB" b="1" dirty="0"/>
                  <a:t>Graphical Representation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graph shows the relationship between </a:t>
                </a:r>
                <a:r>
                  <a:rPr lang="en-GB" b="1" dirty="0"/>
                  <a:t>charge Q</a:t>
                </a:r>
                <a:r>
                  <a:rPr lang="en-GB" dirty="0"/>
                  <a:t> and </a:t>
                </a:r>
                <a:r>
                  <a:rPr lang="en-GB" b="1" dirty="0"/>
                  <a:t>voltage V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red line indicates a </a:t>
                </a:r>
                <a:r>
                  <a:rPr lang="en-GB" b="1" dirty="0"/>
                  <a:t>linear relationship</a:t>
                </a:r>
                <a:r>
                  <a:rPr lang="en-GB" dirty="0"/>
                  <a:t>, meaning charge is directly proportional to voltage.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slope of this line corresponds to the capacitance C.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 </a:t>
                </a:r>
                <a:r>
                  <a:rPr lang="en-GB" b="1" dirty="0"/>
                  <a:t>capacitor</a:t>
                </a:r>
                <a:r>
                  <a:rPr lang="en-GB" dirty="0"/>
                  <a:t> is an </a:t>
                </a:r>
                <a:r>
                  <a:rPr lang="en-GB" b="1" dirty="0"/>
                  <a:t>electronic component that stores electrical energy in an electric field</a:t>
                </a:r>
                <a:r>
                  <a:rPr lang="en-GB" dirty="0"/>
                  <a:t>. It consists of two conductive plates separated by an insulating material called the dielectric. When voltage is applied, it stores energy by accumulating opposite charges on each plate.</a:t>
                </a:r>
              </a:p>
              <a:p>
                <a:endParaRPr lang="en-GB" b="1" dirty="0"/>
              </a:p>
              <a:p>
                <a:r>
                  <a:rPr lang="en-GB" b="1" dirty="0"/>
                  <a:t>Symbol and Physical Form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symbol of a capacitor is two parallel lines (plates), often with the positive (+) and negative (-) terminals marked.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image shows various types of capacitors (ceramic, electrolytic, film, etc.) with different shapes and sizes, but all serve the same fundamental function.</a:t>
                </a:r>
              </a:p>
              <a:p>
                <a:endParaRPr lang="en-GB" b="1" dirty="0"/>
              </a:p>
              <a:p>
                <a:r>
                  <a:rPr lang="en-GB" b="1" dirty="0"/>
                  <a:t>Mathematical Explanation and Equations</a:t>
                </a:r>
              </a:p>
              <a:p>
                <a:pPr>
                  <a:buFont typeface="+mj-lt"/>
                  <a:buAutoNum type="arabicPeriod"/>
                </a:pPr>
                <a:r>
                  <a:rPr lang="en-GB" b="1" dirty="0"/>
                  <a:t>Charge-Voltage Relationship:</a:t>
                </a:r>
                <a:endParaRPr lang="en-GB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GB" dirty="0"/>
                  <a:t>                        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𝑸  </a:t>
                </a:r>
                <a:r>
                  <a:rPr lang="el-GR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𝜶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𝑽</a:t>
                </a:r>
                <a:endParaRPr lang="en-IN" sz="12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1200" b="1" dirty="0">
                    <a:cs typeface="Times New Roman" panose="02020603050405020304" pitchFamily="18" charset="0"/>
                  </a:rPr>
                  <a:t>                        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𝑸=𝑪𝑽</a:t>
                </a:r>
                <a:endPara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Font typeface="+mj-lt"/>
                  <a:buNone/>
                </a:pPr>
                <a:r>
                  <a:rPr lang="en-GB" dirty="0"/>
                  <a:t>Q is the charge stored (in coulombs),</a:t>
                </a:r>
              </a:p>
              <a:p>
                <a:pPr marL="457200" lvl="1" indent="0">
                  <a:buFont typeface="+mj-lt"/>
                  <a:buNone/>
                </a:pPr>
                <a:r>
                  <a:rPr lang="en-GB" dirty="0"/>
                  <a:t>V is the voltage across the capacitor (in volts),</a:t>
                </a:r>
              </a:p>
              <a:p>
                <a:pPr marL="457200" lvl="1" indent="0">
                  <a:buFont typeface="+mj-lt"/>
                  <a:buNone/>
                </a:pPr>
                <a:r>
                  <a:rPr lang="en-GB" dirty="0"/>
                  <a:t>C is the capacitance (in farads), which depends on the geometry and material of the capacitor.</a:t>
                </a:r>
              </a:p>
              <a:p>
                <a:pPr marL="457200" lvl="1" indent="0">
                  <a:buFont typeface="+mj-lt"/>
                  <a:buNone/>
                </a:pPr>
                <a:endParaRPr lang="en-GB" dirty="0"/>
              </a:p>
              <a:p>
                <a:pPr>
                  <a:buFont typeface="+mj-lt"/>
                  <a:buNone/>
                </a:pPr>
                <a:r>
                  <a:rPr lang="en-GB" b="1" dirty="0"/>
                  <a:t>2.Current-Voltage Relationship:</a:t>
                </a:r>
                <a:endParaRPr lang="en-GB" dirty="0"/>
              </a:p>
              <a:p>
                <a:pPr>
                  <a:buFont typeface="+mj-lt"/>
                  <a:buNone/>
                </a:pPr>
                <a:r>
                  <a:rPr lang="en-GB" dirty="0"/>
                  <a:t>Current </a:t>
                </a:r>
                <a:r>
                  <a:rPr lang="en-GB" dirty="0" err="1"/>
                  <a:t>i</a:t>
                </a:r>
                <a:r>
                  <a:rPr lang="en-GB" dirty="0"/>
                  <a:t> through the capacitor is the rate of change of charge:</a:t>
                </a:r>
              </a:p>
              <a:p>
                <a:pPr>
                  <a:buFont typeface="+mj-lt"/>
                  <a:buNone/>
                </a:pPr>
                <a:r>
                  <a:rPr lang="en-GB" dirty="0"/>
                  <a:t>                       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𝒊=𝒅𝑸/𝒅𝒕=𝑪 𝒅𝑽/𝒅𝒕</a:t>
                </a:r>
                <a:endParaRPr 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 typeface="+mj-lt"/>
                  <a:buNone/>
                </a:pPr>
                <a:r>
                  <a:rPr lang="en-GB" dirty="0"/>
                  <a:t>This means the current through a capacitor is proportional to the rate of change of voltage across it.</a:t>
                </a:r>
              </a:p>
              <a:p>
                <a:pPr>
                  <a:buFont typeface="+mj-lt"/>
                  <a:buNone/>
                </a:pPr>
                <a:endParaRPr lang="en-GB" b="1" dirty="0"/>
              </a:p>
              <a:p>
                <a:pPr>
                  <a:buFont typeface="+mj-lt"/>
                  <a:buNone/>
                </a:pPr>
                <a:r>
                  <a:rPr lang="en-GB" b="1" dirty="0"/>
                  <a:t>3.Power:</a:t>
                </a:r>
              </a:p>
              <a:p>
                <a:pPr>
                  <a:buFont typeface="+mj-lt"/>
                  <a:buNone/>
                </a:pPr>
                <a:r>
                  <a:rPr lang="en-GB" dirty="0"/>
                  <a:t>Power delivered to the capacitor is:</a:t>
                </a:r>
              </a:p>
              <a:p>
                <a:pPr>
                  <a:buFont typeface="+mj-lt"/>
                  <a:buNone/>
                </a:pPr>
                <a:r>
                  <a:rPr lang="en-GB" dirty="0"/>
                  <a:t>                   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𝑷=𝑽𝒊=𝑪𝑽 𝒅𝑽/𝒅𝒕</a:t>
                </a:r>
                <a:endParaRPr lang="en-GB" dirty="0"/>
              </a:p>
              <a:p>
                <a:pPr>
                  <a:buFont typeface="+mj-lt"/>
                  <a:buNone/>
                </a:pPr>
                <a:r>
                  <a:rPr lang="en-GB" dirty="0"/>
                  <a:t> </a:t>
                </a:r>
              </a:p>
              <a:p>
                <a:pPr>
                  <a:buFont typeface="+mj-lt"/>
                  <a:buNone/>
                </a:pPr>
                <a:r>
                  <a:rPr lang="en-GB" b="1" dirty="0"/>
                  <a:t>4.Energy Stored in Capacitor:</a:t>
                </a:r>
              </a:p>
              <a:p>
                <a:pPr>
                  <a:buFont typeface="+mj-lt"/>
                  <a:buNone/>
                </a:pPr>
                <a:r>
                  <a:rPr lang="en-GB" dirty="0"/>
                  <a:t>The energy W stored in the capacitor (energy stored in the electric field between the plates) can be found by integrating power over time.</a:t>
                </a:r>
              </a:p>
              <a:p>
                <a:pPr>
                  <a:buFont typeface="+mj-lt"/>
                  <a:buNone/>
                </a:pPr>
                <a:r>
                  <a:rPr lang="en-GB" sz="1200" b="1" baseline="0" dirty="0">
                    <a:cs typeface="Times New Roman" panose="02020603050405020304" pitchFamily="18" charset="0"/>
                  </a:rPr>
                  <a:t>                     </a:t>
                </a:r>
                <a:r>
                  <a:rPr lang="en-US" sz="1200" b="1" i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𝑾=𝟏/𝟐 𝑪𝑽^𝟐</a:t>
                </a:r>
                <a:endParaRPr lang="en-GB" dirty="0"/>
              </a:p>
              <a:p>
                <a:endParaRPr lang="en-GB" b="1" dirty="0"/>
              </a:p>
              <a:p>
                <a:r>
                  <a:rPr lang="en-GB" b="1" dirty="0"/>
                  <a:t>Graphical Representation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graph shows the relationship between </a:t>
                </a:r>
                <a:r>
                  <a:rPr lang="en-GB" b="1" dirty="0"/>
                  <a:t>charge Q</a:t>
                </a:r>
                <a:r>
                  <a:rPr lang="en-GB" dirty="0"/>
                  <a:t> and </a:t>
                </a:r>
                <a:r>
                  <a:rPr lang="en-GB" b="1" dirty="0"/>
                  <a:t>voltage V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red line indicates a </a:t>
                </a:r>
                <a:r>
                  <a:rPr lang="en-GB" b="1" dirty="0"/>
                  <a:t>linear relationship</a:t>
                </a:r>
                <a:r>
                  <a:rPr lang="en-GB" dirty="0"/>
                  <a:t>, meaning charge is directly proportional to voltage.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slope of this line corresponds to the capacitance C.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19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</a:t>
                </a:r>
                <a:r>
                  <a:rPr lang="en-GB" b="1" dirty="0"/>
                  <a:t>inductor</a:t>
                </a:r>
                <a:r>
                  <a:rPr lang="en-GB" dirty="0"/>
                  <a:t> is a </a:t>
                </a:r>
                <a:r>
                  <a:rPr lang="en-GB" b="1" dirty="0"/>
                  <a:t>passive electrical component</a:t>
                </a:r>
                <a:r>
                  <a:rPr lang="en-GB" dirty="0"/>
                  <a:t> that stores energy in the form of a </a:t>
                </a:r>
                <a:r>
                  <a:rPr lang="en-GB" b="1" dirty="0"/>
                  <a:t>magnetic field</a:t>
                </a:r>
                <a:r>
                  <a:rPr lang="en-GB" dirty="0"/>
                  <a:t> when electrical current flows through it.</a:t>
                </a:r>
              </a:p>
              <a:p>
                <a:endParaRPr lang="en-GB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It resists </a:t>
                </a:r>
                <a:r>
                  <a:rPr lang="en-GB" b="1" dirty="0"/>
                  <a:t>changes in current</a:t>
                </a:r>
                <a:r>
                  <a:rPr lang="en-GB" dirty="0"/>
                  <a:t>, unlike a capacitor which resists changes in </a:t>
                </a:r>
                <a:r>
                  <a:rPr lang="en-GB" b="1" dirty="0"/>
                  <a:t>voltage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Inductors are commonly made by winding a wire into a </a:t>
                </a:r>
                <a:r>
                  <a:rPr lang="en-GB" b="1" dirty="0"/>
                  <a:t>coil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core material (air, iron, or ferrite) affects the inductor's properties.</a:t>
                </a:r>
              </a:p>
              <a:p>
                <a:endParaRPr lang="en-GB" b="1" dirty="0"/>
              </a:p>
              <a:p>
                <a:r>
                  <a:rPr lang="en-GB" b="1" dirty="0"/>
                  <a:t>Key Relationships and Equations</a:t>
                </a:r>
              </a:p>
              <a:p>
                <a:pPr marL="228600" indent="-228600">
                  <a:buAutoNum type="arabicPeriod"/>
                </a:pPr>
                <a:r>
                  <a:rPr lang="en-GB" b="1" dirty="0"/>
                  <a:t>Flux–Current Relationship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The magnetic flux linked with the inductor is directly proportional to the current flowing through it.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dirty="0">
                    <a:cs typeface="Times New Roman" panose="02020603050405020304" pitchFamily="18" charset="0"/>
                  </a:rPr>
                  <a:t> 	</a:t>
                </a:r>
                <a14:m>
                  <m:oMath xmlns:m="http://schemas.openxmlformats.org/officeDocument/2006/math">
                    <m:r>
                      <a:rPr lang="el-GR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l-GR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endParaRPr lang="en-IN" sz="12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l-GR" sz="12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</m:oMath>
                </a14:m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ϕ: Magnetic flux (in Weber, Wb)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i: Current through the inductor (A)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L: Inductance (H)</a:t>
                </a:r>
              </a:p>
              <a:p>
                <a:endParaRPr lang="en-GB" b="1" dirty="0"/>
              </a:p>
              <a:p>
                <a:r>
                  <a:rPr lang="en-GB" b="1" dirty="0"/>
                  <a:t>2. Induced Voltage (Faraday’s Law)</a:t>
                </a:r>
              </a:p>
              <a:p>
                <a:r>
                  <a:rPr lang="en-GB" sz="1200" b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  <m:r>
                          <a:rPr lang="el-GR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GB" b="1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This is </a:t>
                </a:r>
                <a:r>
                  <a:rPr lang="en-GB" b="1" dirty="0"/>
                  <a:t>Faraday’s Law of Electromagnetic Induction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A changing current produces a changing magnetic field, which induces a voltage that </a:t>
                </a:r>
                <a:r>
                  <a:rPr lang="en-GB" b="1" dirty="0"/>
                  <a:t>opposes the change in current</a:t>
                </a:r>
                <a:r>
                  <a:rPr lang="en-GB" dirty="0"/>
                  <a:t> (Lenz's Law).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This is why inductors resist sudden changes in current.</a:t>
                </a:r>
              </a:p>
              <a:p>
                <a:endParaRPr lang="en-GB" b="1" dirty="0"/>
              </a:p>
              <a:p>
                <a:r>
                  <a:rPr lang="en-GB" b="1" dirty="0"/>
                  <a:t>3. Energy Stored in an Inductor</a:t>
                </a:r>
                <a:endParaRPr lang="en-GB" dirty="0"/>
              </a:p>
              <a:p>
                <a:r>
                  <a:rPr lang="en-GB" dirty="0"/>
                  <a:t>Energy is stored </a:t>
                </a:r>
                <a:r>
                  <a:rPr lang="en-GB" b="1" dirty="0"/>
                  <a:t>gradually</a:t>
                </a:r>
                <a:r>
                  <a:rPr lang="en-GB" dirty="0"/>
                  <a:t> as the current builds up, and released when current decreases.</a:t>
                </a:r>
              </a:p>
              <a:p>
                <a:endParaRPr lang="en-GB" b="1" dirty="0"/>
              </a:p>
              <a:p>
                <a:r>
                  <a:rPr lang="en-GB" b="1" dirty="0"/>
                  <a:t>4. Power in an Inductor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Power delivered to the inductor depends on both the current and the rate of change of current.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If current is constant, no power is consumed — the inductor acts like a short circuit in steady-state DC.</a:t>
                </a:r>
              </a:p>
              <a:p>
                <a:endParaRPr lang="en-GB" b="1" dirty="0"/>
              </a:p>
              <a:p>
                <a:r>
                  <a:rPr lang="en-GB" b="1" dirty="0"/>
                  <a:t>Graphical Representation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graph shows a </a:t>
                </a:r>
                <a:r>
                  <a:rPr lang="en-GB" b="1" dirty="0"/>
                  <a:t>linear relationship</a:t>
                </a:r>
                <a:r>
                  <a:rPr lang="en-GB" dirty="0"/>
                  <a:t> between </a:t>
                </a:r>
                <a:r>
                  <a:rPr lang="en-GB" b="1" dirty="0"/>
                  <a:t>magnetic flux ϕ</a:t>
                </a:r>
                <a:r>
                  <a:rPr lang="en-GB" dirty="0"/>
                  <a:t> and </a:t>
                </a:r>
                <a:r>
                  <a:rPr lang="en-GB" b="1" dirty="0"/>
                  <a:t>current </a:t>
                </a:r>
                <a:r>
                  <a:rPr lang="en-GB" b="1" dirty="0" err="1"/>
                  <a:t>i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slope of the line is </a:t>
                </a:r>
                <a:r>
                  <a:rPr lang="en-GB" b="1" dirty="0"/>
                  <a:t>inductance L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GB" dirty="0"/>
                  <a:t>An </a:t>
                </a:r>
                <a:r>
                  <a:rPr lang="en-GB" b="1" dirty="0"/>
                  <a:t>inductor</a:t>
                </a:r>
                <a:r>
                  <a:rPr lang="en-GB" dirty="0"/>
                  <a:t> is a </a:t>
                </a:r>
                <a:r>
                  <a:rPr lang="en-GB" b="1" dirty="0"/>
                  <a:t>passive electrical component</a:t>
                </a:r>
                <a:r>
                  <a:rPr lang="en-GB" dirty="0"/>
                  <a:t> that stores energy in the form of a </a:t>
                </a:r>
                <a:r>
                  <a:rPr lang="en-GB" b="1" dirty="0"/>
                  <a:t>magnetic field</a:t>
                </a:r>
                <a:r>
                  <a:rPr lang="en-GB" dirty="0"/>
                  <a:t> when electrical current flows through it.</a:t>
                </a:r>
              </a:p>
              <a:p>
                <a:endParaRPr lang="en-GB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It resists </a:t>
                </a:r>
                <a:r>
                  <a:rPr lang="en-GB" b="1" dirty="0"/>
                  <a:t>changes in current</a:t>
                </a:r>
                <a:r>
                  <a:rPr lang="en-GB" dirty="0"/>
                  <a:t>, unlike a capacitor which resists changes in </a:t>
                </a:r>
                <a:r>
                  <a:rPr lang="en-GB" b="1" dirty="0"/>
                  <a:t>voltage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Inductors are commonly made by winding a wire into a </a:t>
                </a:r>
                <a:r>
                  <a:rPr lang="en-GB" b="1" dirty="0"/>
                  <a:t>coil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core material (air, iron, or ferrite) affects the inductor's properties.</a:t>
                </a:r>
              </a:p>
              <a:p>
                <a:endParaRPr lang="en-GB" b="1" dirty="0"/>
              </a:p>
              <a:p>
                <a:r>
                  <a:rPr lang="en-GB" b="1" dirty="0"/>
                  <a:t>Key Relationships and Equations</a:t>
                </a:r>
              </a:p>
              <a:p>
                <a:pPr marL="228600" indent="-228600">
                  <a:buAutoNum type="arabicPeriod"/>
                </a:pPr>
                <a:r>
                  <a:rPr lang="en-GB" b="1" dirty="0"/>
                  <a:t>Flux–Current Relationship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The magnetic flux linked with the inductor is directly proportional to the current flowing through it.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dirty="0">
                    <a:cs typeface="Times New Roman" panose="02020603050405020304" pitchFamily="18" charset="0"/>
                  </a:rPr>
                  <a:t> 	</a:t>
                </a:r>
                <a:r>
                  <a:rPr lang="el-GR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𝝓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l-GR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𝜶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 𝒊</a:t>
                </a:r>
                <a:endParaRPr lang="en-IN" sz="12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IN" sz="1200" b="1" dirty="0">
                    <a:cs typeface="Times New Roman" panose="02020603050405020304" pitchFamily="18" charset="0"/>
                  </a:rPr>
                  <a:t>	</a:t>
                </a:r>
                <a:r>
                  <a:rPr lang="el-GR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𝝓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=𝑳</a:t>
                </a:r>
                <a:r>
                  <a:rPr lang="en-US" sz="1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</a:t>
                </a:r>
                <a:endParaRPr lang="en-GB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ϕ: Magnetic flux (in Weber, Wb)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i: Current through the inductor (A)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L: Inductance (H)</a:t>
                </a:r>
              </a:p>
              <a:p>
                <a:endParaRPr lang="en-GB" b="1" dirty="0"/>
              </a:p>
              <a:p>
                <a:r>
                  <a:rPr lang="en-GB" b="1" dirty="0"/>
                  <a:t>2. Induced Voltage (Faraday’s Law)</a:t>
                </a:r>
              </a:p>
              <a:p>
                <a:pPr/>
                <a:r>
                  <a:rPr lang="en-GB" sz="1200" b="1" dirty="0">
                    <a:cs typeface="Times New Roman" panose="02020603050405020304" pitchFamily="18" charset="0"/>
                  </a:rPr>
                  <a:t>	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𝑽=𝒅</a:t>
                </a:r>
                <a:r>
                  <a:rPr lang="el-GR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𝝓</a:t>
                </a:r>
                <a:r>
                  <a:rPr lang="en-US" sz="1200" b="1" i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/𝒅𝒕=𝑳 𝒅𝒊/𝒅𝒕</a:t>
                </a:r>
                <a:endParaRPr lang="en-GB" b="1" dirty="0"/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This is </a:t>
                </a:r>
                <a:r>
                  <a:rPr lang="en-GB" b="1" dirty="0"/>
                  <a:t>Faraday’s Law of Electromagnetic Induction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A changing current produces a changing magnetic field, which induces a voltage that </a:t>
                </a:r>
                <a:r>
                  <a:rPr lang="en-GB" b="1" dirty="0"/>
                  <a:t>opposes the change in current</a:t>
                </a:r>
                <a:r>
                  <a:rPr lang="en-GB" dirty="0"/>
                  <a:t> (Lenz's Law).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This is why inductors resist sudden changes in current.</a:t>
                </a:r>
              </a:p>
              <a:p>
                <a:endParaRPr lang="en-GB" b="1" dirty="0"/>
              </a:p>
              <a:p>
                <a:r>
                  <a:rPr lang="en-GB" b="1" dirty="0"/>
                  <a:t>3. Energy Stored in an Inductor</a:t>
                </a:r>
                <a:endParaRPr lang="en-GB" dirty="0"/>
              </a:p>
              <a:p>
                <a:r>
                  <a:rPr lang="en-GB" dirty="0"/>
                  <a:t>Energy is stored </a:t>
                </a:r>
                <a:r>
                  <a:rPr lang="en-GB" b="1" dirty="0"/>
                  <a:t>gradually</a:t>
                </a:r>
                <a:r>
                  <a:rPr lang="en-GB" dirty="0"/>
                  <a:t> as the current builds up, and released when current decreases.</a:t>
                </a:r>
              </a:p>
              <a:p>
                <a:endParaRPr lang="en-GB" b="1" dirty="0"/>
              </a:p>
              <a:p>
                <a:r>
                  <a:rPr lang="en-GB" b="1" dirty="0"/>
                  <a:t>4. Power in an Inductor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Power delivered to the inductor depends on both the current and the rate of change of current.</a:t>
                </a:r>
              </a:p>
              <a:p>
                <a:pPr>
                  <a:buFont typeface="Arial" panose="020B0604020202020204" pitchFamily="34" charset="0"/>
                  <a:buNone/>
                </a:pPr>
                <a:r>
                  <a:rPr lang="en-GB" dirty="0"/>
                  <a:t>If current is constant, no power is consumed — the inductor acts like a short circuit in steady-state DC.</a:t>
                </a:r>
              </a:p>
              <a:p>
                <a:endParaRPr lang="en-GB" b="1" dirty="0"/>
              </a:p>
              <a:p>
                <a:r>
                  <a:rPr lang="en-GB" b="1" dirty="0"/>
                  <a:t>Graphical Representation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graph shows a </a:t>
                </a:r>
                <a:r>
                  <a:rPr lang="en-GB" b="1" dirty="0"/>
                  <a:t>linear relationship</a:t>
                </a:r>
                <a:r>
                  <a:rPr lang="en-GB" dirty="0"/>
                  <a:t> between </a:t>
                </a:r>
                <a:r>
                  <a:rPr lang="en-GB" b="1" dirty="0"/>
                  <a:t>magnetic flux ϕ</a:t>
                </a:r>
                <a:r>
                  <a:rPr lang="en-GB" dirty="0"/>
                  <a:t> and </a:t>
                </a:r>
                <a:r>
                  <a:rPr lang="en-GB" b="1" dirty="0"/>
                  <a:t>current </a:t>
                </a:r>
                <a:r>
                  <a:rPr lang="en-GB" b="1" dirty="0" err="1"/>
                  <a:t>i</a:t>
                </a:r>
                <a:r>
                  <a:rPr lang="en-GB" dirty="0"/>
                  <a:t>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The slope of the line is </a:t>
                </a:r>
                <a:r>
                  <a:rPr lang="en-GB" b="1" dirty="0"/>
                  <a:t>inductance L</a:t>
                </a:r>
                <a:r>
                  <a:rPr lang="en-GB" dirty="0"/>
                  <a:t>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69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Independent Voltage Sources</a:t>
            </a:r>
          </a:p>
          <a:p>
            <a:pPr>
              <a:buFont typeface="+mj-lt"/>
              <a:buNone/>
            </a:pPr>
            <a:r>
              <a:rPr lang="en-GB" dirty="0"/>
              <a:t>An </a:t>
            </a:r>
            <a:r>
              <a:rPr lang="en-GB" b="1" dirty="0"/>
              <a:t>independent voltage source</a:t>
            </a:r>
            <a:r>
              <a:rPr lang="en-GB" dirty="0"/>
              <a:t> is an </a:t>
            </a:r>
            <a:r>
              <a:rPr lang="en-GB" b="1" dirty="0"/>
              <a:t>ideal source</a:t>
            </a:r>
            <a:r>
              <a:rPr lang="en-GB" dirty="0"/>
              <a:t> that provides a constant voltage regardless of the current drawn from it. It is a theoretical concept and does </a:t>
            </a:r>
            <a:r>
              <a:rPr lang="en-GB" b="1" dirty="0"/>
              <a:t>not represent any real physical device exactly</a:t>
            </a:r>
            <a:r>
              <a:rPr lang="en-GB" dirty="0"/>
              <a:t>. The ideal voltage source can, in theory, supply an </a:t>
            </a:r>
            <a:r>
              <a:rPr lang="en-GB" b="1" dirty="0"/>
              <a:t>infinite amount of energy</a:t>
            </a:r>
            <a:r>
              <a:rPr lang="en-GB" dirty="0"/>
              <a:t> because it maintains a </a:t>
            </a:r>
            <a:r>
              <a:rPr lang="en-GB" b="1" dirty="0"/>
              <a:t>constant voltage at its terminals</a:t>
            </a:r>
            <a:r>
              <a:rPr lang="en-GB" dirty="0"/>
              <a:t> regardless of the current flowing through it. This means it can deliver an </a:t>
            </a:r>
            <a:r>
              <a:rPr lang="en-GB" b="1" dirty="0"/>
              <a:t>infinite current if required</a:t>
            </a:r>
            <a:r>
              <a:rPr lang="en-GB" dirty="0"/>
              <a:t> without the voltage dropping, which is practically impossible.</a:t>
            </a:r>
          </a:p>
          <a:p>
            <a:pPr>
              <a:buFont typeface="+mj-lt"/>
              <a:buNone/>
            </a:pPr>
            <a:endParaRPr lang="en-GB" b="1" dirty="0"/>
          </a:p>
          <a:p>
            <a:pPr>
              <a:buFont typeface="+mj-lt"/>
              <a:buNone/>
            </a:pPr>
            <a:r>
              <a:rPr lang="en-GB" b="1" dirty="0"/>
              <a:t>Approximation to Real Sources</a:t>
            </a:r>
            <a:r>
              <a:rPr lang="en-GB" dirty="0"/>
              <a:t>:</a:t>
            </a:r>
          </a:p>
          <a:p>
            <a:pPr>
              <a:buFont typeface="+mj-lt"/>
              <a:buNone/>
            </a:pPr>
            <a:r>
              <a:rPr lang="en-GB" dirty="0"/>
              <a:t>Even though ideal voltage sources don't exist, they serve as a </a:t>
            </a:r>
            <a:r>
              <a:rPr lang="en-GB" b="1" dirty="0"/>
              <a:t>reasonable approximation</a:t>
            </a:r>
            <a:r>
              <a:rPr lang="en-GB" dirty="0"/>
              <a:t> for many practical voltage sources like batteries or power supplies. Real voltage sources behave somewhat like ideal sources but with limitations.</a:t>
            </a:r>
          </a:p>
          <a:p>
            <a:endParaRPr lang="en-GB" b="1" dirty="0"/>
          </a:p>
          <a:p>
            <a:r>
              <a:rPr lang="en-GB" b="1" dirty="0"/>
              <a:t>Ideal Vs. Practical Voltage 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Ideal Voltage Source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Has </a:t>
            </a:r>
            <a:r>
              <a:rPr lang="en-GB" b="1" dirty="0"/>
              <a:t>zero internal resistance</a:t>
            </a:r>
            <a:r>
              <a:rPr lang="en-GB" dirty="0"/>
              <a:t> (denoted as r = 0 Ω).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voltage across its terminals remains constant regardless of the current drawn.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On the graph, the voltage VT remains flat even as current </a:t>
            </a:r>
            <a:r>
              <a:rPr lang="en-GB" dirty="0" err="1"/>
              <a:t>i</a:t>
            </a:r>
            <a:r>
              <a:rPr lang="en-GB" dirty="0"/>
              <a:t> changes.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Practical Voltage Source</a:t>
            </a:r>
            <a:r>
              <a:rPr lang="en-GB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Has </a:t>
            </a:r>
            <a:r>
              <a:rPr lang="en-GB" b="1" dirty="0"/>
              <a:t>some internal resistance</a:t>
            </a:r>
            <a:r>
              <a:rPr lang="en-GB" dirty="0"/>
              <a:t> r, which is inherent in the physical construction.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terminal voltage decreases as the current increases because of this internal resistance.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Terminal voltage V in a practical source can be expressed as: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GB" dirty="0"/>
              <a:t>		</a:t>
            </a:r>
            <a:r>
              <a:rPr lang="en-GB" b="1" dirty="0"/>
              <a:t>V=VT−</a:t>
            </a:r>
            <a:r>
              <a:rPr lang="en-GB" b="1" dirty="0" err="1"/>
              <a:t>ir</a:t>
            </a:r>
            <a:endParaRPr lang="en-GB" b="1" dirty="0"/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GB" dirty="0"/>
              <a:t> where: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GB" dirty="0"/>
              <a:t>VT = The no-load voltage (voltage when no current is drawn),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GB" dirty="0" err="1"/>
              <a:t>i</a:t>
            </a:r>
            <a:r>
              <a:rPr lang="en-GB" dirty="0"/>
              <a:t> = Current drawn,</a:t>
            </a:r>
          </a:p>
          <a:p>
            <a:pPr marL="914400" lvl="2" indent="0">
              <a:buFont typeface="Arial" panose="020B0604020202020204" pitchFamily="34" charset="0"/>
              <a:buNone/>
            </a:pPr>
            <a:r>
              <a:rPr lang="en-GB" dirty="0"/>
              <a:t>r = Internal resistance.</a:t>
            </a:r>
          </a:p>
          <a:p>
            <a:endParaRPr lang="en-GB" b="1" dirty="0"/>
          </a:p>
          <a:p>
            <a:r>
              <a:rPr lang="en-GB" b="1" dirty="0"/>
              <a:t>Explanation of Circuit and Graph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circuit diagram on the left shows a voltage source VT with an internal resistance r connected in series to a load resistor.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graph on the right plots the terminal voltage V against the current </a:t>
            </a:r>
            <a:r>
              <a:rPr lang="en-GB" dirty="0" err="1"/>
              <a:t>i</a:t>
            </a:r>
            <a:r>
              <a:rPr lang="en-GB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dashed red line represents the </a:t>
            </a:r>
            <a:r>
              <a:rPr lang="en-GB" b="1" dirty="0"/>
              <a:t>practical voltage source</a:t>
            </a:r>
            <a:r>
              <a:rPr lang="en-GB" dirty="0"/>
              <a:t> </a:t>
            </a:r>
            <a:r>
              <a:rPr lang="en-GB" dirty="0" err="1"/>
              <a:t>behavior</a:t>
            </a:r>
            <a:r>
              <a:rPr lang="en-GB" dirty="0"/>
              <a:t>: voltage decreases as current increases.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solid line (horizontal) represents the </a:t>
            </a:r>
            <a:r>
              <a:rPr lang="en-GB" b="1" dirty="0"/>
              <a:t>ideal voltage source</a:t>
            </a:r>
            <a:r>
              <a:rPr lang="en-GB" dirty="0"/>
              <a:t>, maintaining constant voltage regardless of the current..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54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Independent Current Sources</a:t>
            </a:r>
          </a:p>
          <a:p>
            <a:pPr>
              <a:buFont typeface="+mj-lt"/>
              <a:buNone/>
            </a:pPr>
            <a:r>
              <a:rPr lang="en-GB" dirty="0"/>
              <a:t>An </a:t>
            </a:r>
            <a:r>
              <a:rPr lang="en-GB" b="1" dirty="0"/>
              <a:t>independent current source</a:t>
            </a:r>
            <a:r>
              <a:rPr lang="en-GB" dirty="0"/>
              <a:t> is an element that provides a </a:t>
            </a:r>
            <a:r>
              <a:rPr lang="en-GB" b="1" dirty="0"/>
              <a:t>constant current ‘is’</a:t>
            </a:r>
            <a:r>
              <a:rPr lang="en-GB" dirty="0"/>
              <a:t> regardless of the voltage across it. The voltage across an ideal current source can vary to whatever value is necessary to maintain that current. This means the </a:t>
            </a:r>
            <a:r>
              <a:rPr lang="en-GB" b="1" dirty="0"/>
              <a:t>current through the source is completely independent of the voltage</a:t>
            </a:r>
            <a:r>
              <a:rPr lang="en-GB" dirty="0"/>
              <a:t> applied across its terminals. </a:t>
            </a:r>
          </a:p>
          <a:p>
            <a:pPr>
              <a:buFont typeface="+mj-lt"/>
              <a:buNone/>
            </a:pPr>
            <a:r>
              <a:rPr lang="en-GB" dirty="0"/>
              <a:t>The symbol of an independent current source is a circle with an arrow inside, indicating the direction of current ‘is’. This symbol represents that the current is fixed and supplied continuously in the specified direction.</a:t>
            </a:r>
          </a:p>
          <a:p>
            <a:endParaRPr lang="en-GB" b="1" dirty="0"/>
          </a:p>
          <a:p>
            <a:r>
              <a:rPr lang="en-GB" b="1" dirty="0"/>
              <a:t>Ideal Vs. Practical Current Sources</a:t>
            </a:r>
          </a:p>
          <a:p>
            <a:r>
              <a:rPr lang="en-GB" b="1" dirty="0"/>
              <a:t>Ideal Current Source: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It supplies a </a:t>
            </a:r>
            <a:r>
              <a:rPr lang="en-GB" b="1" dirty="0"/>
              <a:t>constant current IT </a:t>
            </a:r>
            <a:r>
              <a:rPr lang="en-GB" dirty="0"/>
              <a:t>no matter what the voltage across it is. The </a:t>
            </a:r>
            <a:r>
              <a:rPr lang="en-GB" b="1" dirty="0"/>
              <a:t>internal resistance r is infinite</a:t>
            </a:r>
            <a:r>
              <a:rPr lang="en-GB" dirty="0"/>
              <a:t>, meaning it acts like an open circuit internally for voltage.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In the graph of current (I) vs. voltage (V):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current stays constant at IT regardless of V.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This is shown as a </a:t>
            </a:r>
            <a:r>
              <a:rPr lang="en-GB" b="1" dirty="0"/>
              <a:t>vertical line</a:t>
            </a:r>
            <a:r>
              <a:rPr lang="en-GB" dirty="0"/>
              <a:t> on the graph (current fixed, voltage varies).</a:t>
            </a:r>
          </a:p>
          <a:p>
            <a:endParaRPr lang="en-GB" b="1" dirty="0"/>
          </a:p>
          <a:p>
            <a:r>
              <a:rPr lang="en-GB" b="1" dirty="0"/>
              <a:t>Practical Current Source: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A real current source has some </a:t>
            </a:r>
            <a:r>
              <a:rPr lang="en-GB" b="1" dirty="0"/>
              <a:t>internal resistance r</a:t>
            </a:r>
            <a:r>
              <a:rPr lang="en-GB" dirty="0"/>
              <a:t> in parallel. This means the current supplied by the source is </a:t>
            </a:r>
            <a:r>
              <a:rPr lang="en-GB" b="1" dirty="0"/>
              <a:t>not perfectly constant</a:t>
            </a:r>
            <a:r>
              <a:rPr lang="en-GB" dirty="0"/>
              <a:t> and varies slightly with voltage. The practical current source can be modelled as an ideal current source IT in parallel with a resistor r. Voltage across this source is not infinite; it depends on the load and internal resistance. The current through the source </a:t>
            </a:r>
            <a:r>
              <a:rPr lang="en-GB" b="1" dirty="0"/>
              <a:t>decreases slightly as voltage increases</a:t>
            </a:r>
            <a:r>
              <a:rPr lang="en-GB" dirty="0"/>
              <a:t> due to the internal resistance.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On the graph: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current decreases linearly as voltage increases.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slope corresponds to the internal resistance r, represented as V/r.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The graph shows a slanting line (decreasing current with increasing voltage) rather than a vertical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93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400" dirty="0"/>
              <a:t>A </a:t>
            </a:r>
            <a:r>
              <a:rPr lang="en-GB" sz="2400" b="1" dirty="0"/>
              <a:t>dependent (or controlled) source</a:t>
            </a:r>
            <a:r>
              <a:rPr lang="en-GB" sz="2400" dirty="0"/>
              <a:t> is an active element where the output (voltage or current) depends on a </a:t>
            </a:r>
            <a:r>
              <a:rPr lang="en-GB" sz="2400" b="1" dirty="0"/>
              <a:t>voltage or current elsewhere in the circuit</a:t>
            </a:r>
            <a:r>
              <a:rPr lang="en-GB" sz="2400" dirty="0"/>
              <a:t>. They differ from </a:t>
            </a:r>
            <a:r>
              <a:rPr lang="en-GB" sz="2400" b="1" dirty="0"/>
              <a:t>independent sources</a:t>
            </a:r>
            <a:r>
              <a:rPr lang="en-GB" sz="2400" dirty="0"/>
              <a:t>, which provide a fixed voltage or current regardless of other circuit elements.</a:t>
            </a:r>
          </a:p>
          <a:p>
            <a:endParaRPr lang="en-GB" sz="2400" b="1" dirty="0"/>
          </a:p>
          <a:p>
            <a:pPr marL="457200" indent="-457200">
              <a:buFont typeface="Arial" panose="020B0604020202020204" pitchFamily="34" charset="0"/>
              <a:buAutoNum type="alphaLcParenBoth"/>
            </a:pPr>
            <a:r>
              <a:rPr lang="en-GB" sz="2400" b="1" dirty="0"/>
              <a:t>Dependent Voltage Source: </a:t>
            </a:r>
            <a:r>
              <a:rPr lang="en-GB" sz="2400" dirty="0"/>
              <a:t>The voltage across the source is determined by another circuit variable (either a voltage or current elsewhere).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Voltage-controlled voltage source (VCVS)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Current-controlled voltage source (CCVS)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sz="2400" b="1" dirty="0"/>
              <a:t>(b)</a:t>
            </a:r>
            <a:r>
              <a:rPr lang="en-GB" sz="2400" dirty="0"/>
              <a:t>       </a:t>
            </a:r>
            <a:r>
              <a:rPr lang="en-GB" sz="2400" b="1" dirty="0"/>
              <a:t>Dependent Current Source: </a:t>
            </a:r>
            <a:r>
              <a:rPr lang="en-GB" sz="2400" dirty="0"/>
              <a:t>The current through the source depends on another voltage or current in the circuit.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Current-controlled current source (CCCS)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Voltage-controlled current source (VCCS)</a:t>
            </a:r>
          </a:p>
          <a:p>
            <a:endParaRPr lang="en-GB" sz="2400" b="1" dirty="0"/>
          </a:p>
          <a:p>
            <a:pPr marL="0" indent="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sources are usually designated by diamond-shaped symbols.</a:t>
            </a:r>
          </a:p>
          <a:p>
            <a:pPr marL="0" indent="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None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source comes with polarities (+ −) in its symbol, while a current source comes with an arrow, irrespective of what it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059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SERIES AND PARALLEL CONNECTION OF SOURCES</a:t>
            </a:r>
          </a:p>
          <a:p>
            <a:r>
              <a:rPr lang="en-GB" b="1" dirty="0"/>
              <a:t>(a) Series Connection of Voltage Sources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b="1" dirty="0"/>
              <a:t>Voltage sources connected in series</a:t>
            </a:r>
            <a:r>
              <a:rPr lang="en-GB" dirty="0"/>
              <a:t> can be combined into a single equivalent voltage source. The </a:t>
            </a:r>
            <a:r>
              <a:rPr lang="en-GB" b="1" dirty="0"/>
              <a:t>equivalent voltage</a:t>
            </a:r>
            <a:r>
              <a:rPr lang="en-GB" dirty="0"/>
              <a:t> is the </a:t>
            </a:r>
            <a:r>
              <a:rPr lang="en-GB" b="1" dirty="0"/>
              <a:t>algebraic sum</a:t>
            </a:r>
            <a:r>
              <a:rPr lang="en-GB" dirty="0"/>
              <a:t> of the individual voltages. This means the total voltage across the series combination is just the sum of the individual voltages, taking into account their polarity.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b="1" dirty="0"/>
              <a:t>(Note:</a:t>
            </a:r>
            <a:r>
              <a:rPr lang="en-GB" dirty="0"/>
              <a:t> Series connection is only valid for voltage sources, and the resulting equivalent source behaves like a single voltage source with the combined voltage.)</a:t>
            </a:r>
          </a:p>
          <a:p>
            <a:pPr>
              <a:buFont typeface="Arial" panose="020B0604020202020204" pitchFamily="34" charset="0"/>
              <a:buNone/>
            </a:pPr>
            <a:endParaRPr lang="en-GB" dirty="0"/>
          </a:p>
          <a:p>
            <a:r>
              <a:rPr lang="en-GB" b="1" dirty="0"/>
              <a:t>(b) Parallel Connection of Current Sources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b="1" dirty="0"/>
              <a:t>Current sources connected in parallel</a:t>
            </a:r>
            <a:r>
              <a:rPr lang="en-GB" dirty="0"/>
              <a:t> can be replaced by a single equivalent current source. The </a:t>
            </a:r>
            <a:r>
              <a:rPr lang="en-GB" b="1" dirty="0"/>
              <a:t>equivalent current</a:t>
            </a:r>
            <a:r>
              <a:rPr lang="en-GB" dirty="0"/>
              <a:t> is the </a:t>
            </a:r>
            <a:r>
              <a:rPr lang="en-GB" b="1" dirty="0"/>
              <a:t>algebraic sum</a:t>
            </a:r>
            <a:r>
              <a:rPr lang="en-GB" dirty="0"/>
              <a:t> of the individual currents. This means the total current provided by the parallel combination is the sum of individual currents, accounting for their directions.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b="1" dirty="0"/>
              <a:t>(Note:</a:t>
            </a:r>
            <a:r>
              <a:rPr lang="en-GB" dirty="0"/>
              <a:t> Parallel connection applies only to current sources, and the equivalent behaves like a single current source with the combined current.)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188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Voltage Sources in Parallel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When </a:t>
            </a:r>
            <a:r>
              <a:rPr lang="en-GB" b="1" dirty="0"/>
              <a:t>two voltage sources</a:t>
            </a:r>
            <a:r>
              <a:rPr lang="en-GB" dirty="0"/>
              <a:t> are connected in </a:t>
            </a:r>
            <a:r>
              <a:rPr lang="en-GB" b="1" dirty="0"/>
              <a:t>parallel</a:t>
            </a:r>
            <a:r>
              <a:rPr lang="en-GB" dirty="0"/>
              <a:t>, the </a:t>
            </a:r>
            <a:r>
              <a:rPr lang="en-GB" b="1" dirty="0"/>
              <a:t>voltage across both sources must be the same</a:t>
            </a:r>
            <a:r>
              <a:rPr lang="en-GB" dirty="0"/>
              <a:t>.</a:t>
            </a:r>
            <a:r>
              <a:rPr lang="en-GB" b="0" dirty="0"/>
              <a:t> </a:t>
            </a:r>
            <a:r>
              <a:rPr lang="en-GB" b="1" dirty="0"/>
              <a:t>Two voltage sources in parallel</a:t>
            </a:r>
            <a:r>
              <a:rPr lang="en-GB" dirty="0"/>
              <a:t> are typically connected to </a:t>
            </a:r>
            <a:r>
              <a:rPr lang="en-GB" b="1" dirty="0"/>
              <a:t>increase the current rating</a:t>
            </a:r>
            <a:r>
              <a:rPr lang="en-GB" dirty="0"/>
              <a:t> (i.e., to supply more current to the load without increasing the voltage).</a:t>
            </a:r>
          </a:p>
          <a:p>
            <a:endParaRPr lang="en-GB" b="1" dirty="0"/>
          </a:p>
          <a:p>
            <a:r>
              <a:rPr lang="en-GB" b="1" dirty="0"/>
              <a:t>Current Sources in Series</a:t>
            </a:r>
          </a:p>
          <a:p>
            <a:pPr>
              <a:buFont typeface="Arial" panose="020B0604020202020204" pitchFamily="34" charset="0"/>
              <a:buNone/>
            </a:pPr>
            <a:r>
              <a:rPr lang="en-GB" dirty="0"/>
              <a:t>When </a:t>
            </a:r>
            <a:r>
              <a:rPr lang="en-GB" b="1" dirty="0"/>
              <a:t>two current sources</a:t>
            </a:r>
            <a:r>
              <a:rPr lang="en-GB" dirty="0"/>
              <a:t> are connected in </a:t>
            </a:r>
            <a:r>
              <a:rPr lang="en-GB" b="1" dirty="0"/>
              <a:t>series</a:t>
            </a:r>
            <a:r>
              <a:rPr lang="en-GB" dirty="0"/>
              <a:t>, the </a:t>
            </a:r>
            <a:r>
              <a:rPr lang="en-GB" b="1" dirty="0"/>
              <a:t>current through both sources must be the same</a:t>
            </a:r>
            <a:r>
              <a:rPr lang="en-GB" dirty="0"/>
              <a:t>. </a:t>
            </a:r>
            <a:r>
              <a:rPr lang="en-GB" b="1" dirty="0"/>
              <a:t>Two different current sources must not be connected in series</a:t>
            </a:r>
            <a:r>
              <a:rPr lang="en-GB" dirty="0"/>
              <a:t> since this would force different currents through the same path, which is impossible physically.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717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2045C-DA37-4164-A520-D9F062F4ED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13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0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7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2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313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1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48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5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706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01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98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3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7F8B94F-D5FD-4D9B-A185-7C81344BCB9C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893C4D9-E69F-4CCF-B6DE-BCC68D428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4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1613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90662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1: Fundamentals of Electrical Circuits</a:t>
            </a:r>
          </a:p>
          <a:p>
            <a:pPr algn="ctr"/>
            <a:endParaRPr lang="en-IN" sz="3600" b="1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FFFF00"/>
                </a:solidFill>
                <a:latin typeface="Arial" panose="020B0604020202020204" pitchFamily="34" charset="0"/>
              </a:rPr>
              <a:t>Lecture 2:</a:t>
            </a:r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Circuit Elements: Resistor, Inductor, Capacitor;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Voltage and Current Sources (Independent and Dependent)</a:t>
            </a:r>
            <a:endParaRPr lang="en-IN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10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0C3211-B4A8-C7E2-62FB-C6D7C146A0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6" t="5478" r="1969" b="5713"/>
          <a:stretch/>
        </p:blipFill>
        <p:spPr>
          <a:xfrm>
            <a:off x="3098095" y="366068"/>
            <a:ext cx="6244661" cy="1915087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BB7795-D35B-232B-D0D9-2A49380F9811}"/>
                  </a:ext>
                </a:extLst>
              </p:cNvPr>
              <p:cNvSpPr txBox="1"/>
              <p:nvPr/>
            </p:nvSpPr>
            <p:spPr>
              <a:xfrm>
                <a:off x="1206074" y="2789939"/>
                <a:ext cx="6210342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Device</a:t>
                </a:r>
                <a:r>
                  <a:rPr lang="en-GB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that resists the flow of electric current through it</a:t>
                </a:r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Ohm’s law: </a:t>
                </a:r>
                <a:r>
                  <a:rPr lang="en-US" sz="2000" b="1" i="0" dirty="0">
                    <a:solidFill>
                      <a:srgbClr val="21242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voltage across a </a:t>
                </a:r>
                <a:r>
                  <a:rPr lang="en-US" sz="2000" b="1" i="1" dirty="0">
                    <a:solidFill>
                      <a:srgbClr val="21242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resistor</a:t>
                </a:r>
                <a:r>
                  <a:rPr lang="en-US" sz="2000" b="1" i="0" dirty="0">
                    <a:solidFill>
                      <a:srgbClr val="21242C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is directly proportional to the current flowing through it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𝑽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𝒊𝑹</m:t>
                      </m:r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BB7795-D35B-232B-D0D9-2A49380F9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074" y="2789939"/>
                <a:ext cx="6210342" cy="3170099"/>
              </a:xfrm>
              <a:prstGeom prst="rect">
                <a:avLst/>
              </a:prstGeom>
              <a:blipFill>
                <a:blip r:embed="rId4"/>
                <a:stretch>
                  <a:fillRect l="-8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4EF2CA7-358D-BB30-0E0A-4A3247EDE830}"/>
              </a:ext>
            </a:extLst>
          </p:cNvPr>
          <p:cNvSpPr txBox="1"/>
          <p:nvPr/>
        </p:nvSpPr>
        <p:spPr>
          <a:xfrm>
            <a:off x="6486941" y="899678"/>
            <a:ext cx="4630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D7A63F-C0D6-2D81-6F24-A7D2A009BAA8}"/>
              </a:ext>
            </a:extLst>
          </p:cNvPr>
          <p:cNvSpPr txBox="1"/>
          <p:nvPr/>
        </p:nvSpPr>
        <p:spPr>
          <a:xfrm>
            <a:off x="8779101" y="913982"/>
            <a:ext cx="367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B3B7B1-1D2A-159E-A77A-2D4EA197F5FA}"/>
              </a:ext>
            </a:extLst>
          </p:cNvPr>
          <p:cNvSpPr txBox="1"/>
          <p:nvPr/>
        </p:nvSpPr>
        <p:spPr>
          <a:xfrm>
            <a:off x="6152482" y="1201158"/>
            <a:ext cx="432594" cy="584775"/>
          </a:xfrm>
          <a:prstGeom prst="rect">
            <a:avLst/>
          </a:prstGeom>
          <a:noFill/>
          <a:ln w="22225"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6A35CA-BFF9-CDDA-7478-89B6C3AC302B}"/>
              </a:ext>
            </a:extLst>
          </p:cNvPr>
          <p:cNvSpPr txBox="1"/>
          <p:nvPr/>
        </p:nvSpPr>
        <p:spPr>
          <a:xfrm>
            <a:off x="7643509" y="797189"/>
            <a:ext cx="371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5380AD-80FA-2395-5638-1D49ED29CCF5}"/>
              </a:ext>
            </a:extLst>
          </p:cNvPr>
          <p:cNvSpPr txBox="1"/>
          <p:nvPr/>
        </p:nvSpPr>
        <p:spPr>
          <a:xfrm>
            <a:off x="6033539" y="1024920"/>
            <a:ext cx="299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609164-C2A5-71BE-ACFA-2C7E399C3A4B}"/>
              </a:ext>
            </a:extLst>
          </p:cNvPr>
          <p:cNvSpPr txBox="1"/>
          <p:nvPr/>
        </p:nvSpPr>
        <p:spPr>
          <a:xfrm>
            <a:off x="7453477" y="1614566"/>
            <a:ext cx="409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2685C22-5A95-C17F-661F-EA8A4274927C}"/>
              </a:ext>
            </a:extLst>
          </p:cNvPr>
          <p:cNvCxnSpPr>
            <a:cxnSpLocks/>
          </p:cNvCxnSpPr>
          <p:nvPr/>
        </p:nvCxnSpPr>
        <p:spPr>
          <a:xfrm flipV="1">
            <a:off x="7970341" y="2429435"/>
            <a:ext cx="0" cy="341951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BD47CF4-F6C1-3DD9-4C47-66AA9B84952A}"/>
              </a:ext>
            </a:extLst>
          </p:cNvPr>
          <p:cNvCxnSpPr>
            <a:cxnSpLocks/>
          </p:cNvCxnSpPr>
          <p:nvPr/>
        </p:nvCxnSpPr>
        <p:spPr>
          <a:xfrm>
            <a:off x="7398841" y="5340163"/>
            <a:ext cx="414770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B36DF79-22A6-96F0-3E90-F8D6E3433716}"/>
              </a:ext>
            </a:extLst>
          </p:cNvPr>
          <p:cNvCxnSpPr>
            <a:cxnSpLocks/>
          </p:cNvCxnSpPr>
          <p:nvPr/>
        </p:nvCxnSpPr>
        <p:spPr>
          <a:xfrm flipV="1">
            <a:off x="7970341" y="3316943"/>
            <a:ext cx="2303212" cy="202322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050F956-5527-1A8F-02AD-6B9620B50482}"/>
              </a:ext>
            </a:extLst>
          </p:cNvPr>
          <p:cNvSpPr txBox="1"/>
          <p:nvPr/>
        </p:nvSpPr>
        <p:spPr>
          <a:xfrm>
            <a:off x="7553581" y="2446382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CAC85C-D217-6638-FD84-6109B28B4D1C}"/>
              </a:ext>
            </a:extLst>
          </p:cNvPr>
          <p:cNvSpPr txBox="1"/>
          <p:nvPr/>
        </p:nvSpPr>
        <p:spPr>
          <a:xfrm>
            <a:off x="11263041" y="5360736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C1A91A-E125-7980-1FB9-6CB68F9769E2}"/>
              </a:ext>
            </a:extLst>
          </p:cNvPr>
          <p:cNvSpPr txBox="1"/>
          <p:nvPr/>
        </p:nvSpPr>
        <p:spPr>
          <a:xfrm>
            <a:off x="9350957" y="4020308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C6B2A8-62F8-2267-9111-0385DCE8AA05}"/>
                  </a:ext>
                </a:extLst>
              </p:cNvPr>
              <p:cNvSpPr txBox="1"/>
              <p:nvPr/>
            </p:nvSpPr>
            <p:spPr>
              <a:xfrm>
                <a:off x="1206074" y="6018587"/>
                <a:ext cx="6096000" cy="444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𝑽𝒊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;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𝑾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𝑹𝒕</m:t>
                    </m:r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C6B2A8-62F8-2267-9111-0385DCE8A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074" y="6018587"/>
                <a:ext cx="6096000" cy="444289"/>
              </a:xfrm>
              <a:prstGeom prst="rect">
                <a:avLst/>
              </a:prstGeom>
              <a:blipFill>
                <a:blip r:embed="rId5"/>
                <a:stretch>
                  <a:fillRect l="-900" t="-145205" b="-2164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81EAE9C-36D1-4DC8-A942-6F215D3F7349}"/>
              </a:ext>
            </a:extLst>
          </p:cNvPr>
          <p:cNvSpPr/>
          <p:nvPr/>
        </p:nvSpPr>
        <p:spPr>
          <a:xfrm>
            <a:off x="610579" y="366068"/>
            <a:ext cx="1828852" cy="89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Resistor</a:t>
            </a:r>
          </a:p>
        </p:txBody>
      </p:sp>
    </p:spTree>
    <p:extLst>
      <p:ext uri="{BB962C8B-B14F-4D97-AF65-F5344CB8AC3E}">
        <p14:creationId xmlns:p14="http://schemas.microsoft.com/office/powerpoint/2010/main" val="17485768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9" grpId="0"/>
      <p:bldP spid="10" grpId="0"/>
      <p:bldP spid="11" grpId="0"/>
      <p:bldP spid="12" grpId="0"/>
      <p:bldP spid="13" grpId="0"/>
      <p:bldP spid="14" grpId="0"/>
      <p:bldP spid="34" grpId="0"/>
      <p:bldP spid="35" grpId="0"/>
      <p:bldP spid="36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9C1D13-B75E-1CDE-B7F1-00E1EC991A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19" t="54861" r="13828" b="8333"/>
          <a:stretch/>
        </p:blipFill>
        <p:spPr>
          <a:xfrm>
            <a:off x="2282436" y="359380"/>
            <a:ext cx="7627128" cy="21945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823694-C853-0429-47FD-4FD404E916C0}"/>
              </a:ext>
            </a:extLst>
          </p:cNvPr>
          <p:cNvSpPr txBox="1"/>
          <p:nvPr/>
        </p:nvSpPr>
        <p:spPr>
          <a:xfrm>
            <a:off x="3052439" y="1163498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D58EA-7382-F384-DCD0-24BA3839ACEB}"/>
              </a:ext>
            </a:extLst>
          </p:cNvPr>
          <p:cNvSpPr txBox="1"/>
          <p:nvPr/>
        </p:nvSpPr>
        <p:spPr>
          <a:xfrm>
            <a:off x="4318945" y="1150311"/>
            <a:ext cx="309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45F376-DB91-7E2C-CF51-03BC70D43681}"/>
              </a:ext>
            </a:extLst>
          </p:cNvPr>
          <p:cNvSpPr txBox="1"/>
          <p:nvPr/>
        </p:nvSpPr>
        <p:spPr>
          <a:xfrm>
            <a:off x="3676875" y="1211867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ADD96E-438E-43B3-69F0-28EE3ADD76E0}"/>
              </a:ext>
            </a:extLst>
          </p:cNvPr>
          <p:cNvSpPr txBox="1"/>
          <p:nvPr/>
        </p:nvSpPr>
        <p:spPr>
          <a:xfrm>
            <a:off x="2692635" y="1455886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EC7609-E49C-0CCF-D96D-A44145FF03EF}"/>
              </a:ext>
            </a:extLst>
          </p:cNvPr>
          <p:cNvSpPr txBox="1"/>
          <p:nvPr/>
        </p:nvSpPr>
        <p:spPr>
          <a:xfrm>
            <a:off x="2845491" y="1587089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692582-651B-83D2-3BEA-29481ED1C08F}"/>
              </a:ext>
            </a:extLst>
          </p:cNvPr>
          <p:cNvSpPr txBox="1"/>
          <p:nvPr/>
        </p:nvSpPr>
        <p:spPr>
          <a:xfrm>
            <a:off x="3988277" y="2059058"/>
            <a:ext cx="370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46B9DC-DE1E-CA27-77F2-5A0CD192A670}"/>
                  </a:ext>
                </a:extLst>
              </p:cNvPr>
              <p:cNvSpPr txBox="1"/>
              <p:nvPr/>
            </p:nvSpPr>
            <p:spPr>
              <a:xfrm>
                <a:off x="924608" y="3061272"/>
                <a:ext cx="6067425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Electronic component that stores electrical energy in an electric field</a:t>
                </a:r>
              </a:p>
              <a:p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l-GR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𝑸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𝑪𝑽</m:t>
                    </m:r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446B9DC-DE1E-CA27-77F2-5A0CD192A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8" y="3061272"/>
                <a:ext cx="6067425" cy="1323439"/>
              </a:xfrm>
              <a:prstGeom prst="rect">
                <a:avLst/>
              </a:prstGeom>
              <a:blipFill>
                <a:blip r:embed="rId4"/>
                <a:stretch>
                  <a:fillRect l="-905" t="-2304" b="-41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595B25-C596-B142-BF83-3686B392FEC7}"/>
              </a:ext>
            </a:extLst>
          </p:cNvPr>
          <p:cNvCxnSpPr>
            <a:cxnSpLocks/>
          </p:cNvCxnSpPr>
          <p:nvPr/>
        </p:nvCxnSpPr>
        <p:spPr>
          <a:xfrm flipV="1">
            <a:off x="7915275" y="2581396"/>
            <a:ext cx="0" cy="41148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D87F28-4CEC-BA56-6B00-AAF54F16C9A5}"/>
              </a:ext>
            </a:extLst>
          </p:cNvPr>
          <p:cNvCxnSpPr/>
          <p:nvPr/>
        </p:nvCxnSpPr>
        <p:spPr>
          <a:xfrm>
            <a:off x="7393768" y="6201301"/>
            <a:ext cx="411480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AB085DB-A9FF-B855-4204-F5A24D3DE84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929562" y="3593928"/>
            <a:ext cx="3017520" cy="2589656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54265EF-D093-74E9-6452-45185A9F3495}"/>
              </a:ext>
            </a:extLst>
          </p:cNvPr>
          <p:cNvSpPr txBox="1"/>
          <p:nvPr/>
        </p:nvSpPr>
        <p:spPr>
          <a:xfrm>
            <a:off x="7381027" y="2732462"/>
            <a:ext cx="4235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1CF19B-5951-0CBA-F5E6-20BC0CDD2023}"/>
              </a:ext>
            </a:extLst>
          </p:cNvPr>
          <p:cNvSpPr txBox="1"/>
          <p:nvPr/>
        </p:nvSpPr>
        <p:spPr>
          <a:xfrm>
            <a:off x="10961368" y="557567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CD7D3A-7153-6BD5-181D-EA9261D93D16}"/>
              </a:ext>
            </a:extLst>
          </p:cNvPr>
          <p:cNvSpPr txBox="1"/>
          <p:nvPr/>
        </p:nvSpPr>
        <p:spPr>
          <a:xfrm>
            <a:off x="9055535" y="4405227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6C5D87-17FE-0D04-027A-0B4739C76DDB}"/>
                  </a:ext>
                </a:extLst>
              </p:cNvPr>
              <p:cNvSpPr txBox="1"/>
              <p:nvPr/>
            </p:nvSpPr>
            <p:spPr>
              <a:xfrm>
                <a:off x="924608" y="4472617"/>
                <a:ext cx="6096000" cy="541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𝒅𝑸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𝒅𝑽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86C5D87-17FE-0D04-027A-0B4739C76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08" y="4472617"/>
                <a:ext cx="6096000" cy="5416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FAB36CD-1737-34AF-9A98-D2CFC1277713}"/>
                  </a:ext>
                </a:extLst>
              </p:cNvPr>
              <p:cNvSpPr txBox="1"/>
              <p:nvPr/>
            </p:nvSpPr>
            <p:spPr>
              <a:xfrm>
                <a:off x="896033" y="5096723"/>
                <a:ext cx="6096000" cy="541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𝑽𝒊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𝑪𝑽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𝒅𝑽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FAB36CD-1737-34AF-9A98-D2CFC1277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033" y="5096723"/>
                <a:ext cx="6096000" cy="5416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81D617-524E-6D35-930B-9779B0119A79}"/>
                  </a:ext>
                </a:extLst>
              </p:cNvPr>
              <p:cNvSpPr txBox="1"/>
              <p:nvPr/>
            </p:nvSpPr>
            <p:spPr>
              <a:xfrm>
                <a:off x="896033" y="5685829"/>
                <a:ext cx="4957113" cy="5382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𝑾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sup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𝑷𝒅𝒕</m:t>
                        </m:r>
                      </m:e>
                    </m:nary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</m:t>
                    </m:r>
                    <m:nary>
                      <m:nary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sup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𝑽𝒅𝒗</m:t>
                        </m:r>
                      </m:e>
                    </m:nary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</m:t>
                    </m:r>
                    <m:sSup>
                      <m:sSup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𝑽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681D617-524E-6D35-930B-9779B0119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033" y="5685829"/>
                <a:ext cx="4957113" cy="53822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C5390C97-9726-48D9-BC7E-972154DAEA7B}"/>
              </a:ext>
            </a:extLst>
          </p:cNvPr>
          <p:cNvSpPr/>
          <p:nvPr/>
        </p:nvSpPr>
        <p:spPr>
          <a:xfrm>
            <a:off x="191867" y="359379"/>
            <a:ext cx="1983915" cy="922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Capacitor</a:t>
            </a:r>
          </a:p>
        </p:txBody>
      </p:sp>
    </p:spTree>
    <p:extLst>
      <p:ext uri="{BB962C8B-B14F-4D97-AF65-F5344CB8AC3E}">
        <p14:creationId xmlns:p14="http://schemas.microsoft.com/office/powerpoint/2010/main" val="30696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6" grpId="0" uiExpand="1" build="p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A66B1C3-8BCB-8764-5D0B-AC0367A58D58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7994590" y="3583537"/>
            <a:ext cx="2680044" cy="2300030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AB9D2CE-8B22-917A-0891-520A25F49C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53" t="66997" r="22266"/>
          <a:stretch/>
        </p:blipFill>
        <p:spPr>
          <a:xfrm>
            <a:off x="2885747" y="163483"/>
            <a:ext cx="6420506" cy="19609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C7C34E-1715-9B0F-29E4-B40F97CD3DB0}"/>
              </a:ext>
            </a:extLst>
          </p:cNvPr>
          <p:cNvSpPr txBox="1"/>
          <p:nvPr/>
        </p:nvSpPr>
        <p:spPr>
          <a:xfrm>
            <a:off x="6607243" y="563009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8A039-5849-C664-FA1E-FA8FFA18BB61}"/>
              </a:ext>
            </a:extLst>
          </p:cNvPr>
          <p:cNvSpPr txBox="1"/>
          <p:nvPr/>
        </p:nvSpPr>
        <p:spPr>
          <a:xfrm>
            <a:off x="8517653" y="457761"/>
            <a:ext cx="287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F8A6B-A3E2-82E2-CB9B-C6BFE3900077}"/>
              </a:ext>
            </a:extLst>
          </p:cNvPr>
          <p:cNvSpPr txBox="1"/>
          <p:nvPr/>
        </p:nvSpPr>
        <p:spPr>
          <a:xfrm>
            <a:off x="7608827" y="440865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E5D8F2-C681-0189-C88F-D98C712EA8ED}"/>
              </a:ext>
            </a:extLst>
          </p:cNvPr>
          <p:cNvSpPr txBox="1"/>
          <p:nvPr/>
        </p:nvSpPr>
        <p:spPr>
          <a:xfrm>
            <a:off x="7107485" y="491189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C5B7CE-2B57-8FE1-A6D7-99475D5A269C}"/>
              </a:ext>
            </a:extLst>
          </p:cNvPr>
          <p:cNvSpPr txBox="1"/>
          <p:nvPr/>
        </p:nvSpPr>
        <p:spPr>
          <a:xfrm>
            <a:off x="6948405" y="662995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CD46DF-594E-B01A-6277-DB9DDC6C7C76}"/>
              </a:ext>
            </a:extLst>
          </p:cNvPr>
          <p:cNvSpPr txBox="1"/>
          <p:nvPr/>
        </p:nvSpPr>
        <p:spPr>
          <a:xfrm>
            <a:off x="7629444" y="1101960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55E1BD-2382-1833-A16B-C5738DEEE45B}"/>
                  </a:ext>
                </a:extLst>
              </p:cNvPr>
              <p:cNvSpPr txBox="1"/>
              <p:nvPr/>
            </p:nvSpPr>
            <p:spPr>
              <a:xfrm>
                <a:off x="880980" y="4180465"/>
                <a:ext cx="60674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l-GR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l-GR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𝜶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;       </m:t>
                    </m:r>
                    <m:r>
                      <a:rPr lang="el-GR" sz="2000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𝝓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55E1BD-2382-1833-A16B-C5738DEEE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80" y="4180465"/>
                <a:ext cx="6067425" cy="400110"/>
              </a:xfrm>
              <a:prstGeom prst="rect">
                <a:avLst/>
              </a:prstGeom>
              <a:blipFill>
                <a:blip r:embed="rId4"/>
                <a:stretch>
                  <a:fillRect l="-905" t="-9231" b="-2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981385-BF6E-9476-7D20-FD7DC7498E8F}"/>
              </a:ext>
            </a:extLst>
          </p:cNvPr>
          <p:cNvCxnSpPr>
            <a:cxnSpLocks/>
          </p:cNvCxnSpPr>
          <p:nvPr/>
        </p:nvCxnSpPr>
        <p:spPr>
          <a:xfrm flipV="1">
            <a:off x="7997481" y="2336703"/>
            <a:ext cx="0" cy="411480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71334E-C972-42B8-1ACE-BD42B37272CD}"/>
              </a:ext>
            </a:extLst>
          </p:cNvPr>
          <p:cNvCxnSpPr/>
          <p:nvPr/>
        </p:nvCxnSpPr>
        <p:spPr>
          <a:xfrm>
            <a:off x="7425981" y="5900698"/>
            <a:ext cx="4114800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70A8AD-43E9-9DCE-3B2F-206797CAAC65}"/>
              </a:ext>
            </a:extLst>
          </p:cNvPr>
          <p:cNvSpPr txBox="1"/>
          <p:nvPr/>
        </p:nvSpPr>
        <p:spPr>
          <a:xfrm>
            <a:off x="7553244" y="2211038"/>
            <a:ext cx="373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ϕ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442404-5F72-9575-3B77-E395E16166F5}"/>
              </a:ext>
            </a:extLst>
          </p:cNvPr>
          <p:cNvSpPr txBox="1"/>
          <p:nvPr/>
        </p:nvSpPr>
        <p:spPr>
          <a:xfrm>
            <a:off x="11030951" y="5884037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281D9D-FB6F-2AD9-3139-639675FEA4B3}"/>
              </a:ext>
            </a:extLst>
          </p:cNvPr>
          <p:cNvSpPr txBox="1"/>
          <p:nvPr/>
        </p:nvSpPr>
        <p:spPr>
          <a:xfrm>
            <a:off x="10479709" y="3597577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8F889C-B3A7-5257-F455-54F3D2D4B443}"/>
                  </a:ext>
                </a:extLst>
              </p:cNvPr>
              <p:cNvSpPr txBox="1"/>
              <p:nvPr/>
            </p:nvSpPr>
            <p:spPr>
              <a:xfrm>
                <a:off x="880980" y="4748757"/>
                <a:ext cx="6096000" cy="541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  <m:r>
                          <a:rPr lang="el-GR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𝝓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</m:oMath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8F889C-B3A7-5257-F455-54F3D2D4B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80" y="4748757"/>
                <a:ext cx="6096000" cy="54162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BF2536-83C8-C82C-91DC-0DAD7A2E3999}"/>
                  </a:ext>
                </a:extLst>
              </p:cNvPr>
              <p:cNvSpPr txBox="1"/>
              <p:nvPr/>
            </p:nvSpPr>
            <p:spPr>
              <a:xfrm>
                <a:off x="900727" y="6091656"/>
                <a:ext cx="6096000" cy="541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𝑽𝒊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𝑳𝒊</m:t>
                    </m:r>
                    <m:f>
                      <m:f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𝒅𝒊</m:t>
                        </m:r>
                      </m:num>
                      <m:den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𝒅𝒕</m:t>
                        </m:r>
                      </m:den>
                    </m:f>
                  </m:oMath>
                </a14:m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BF2536-83C8-C82C-91DC-0DAD7A2E3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27" y="6091656"/>
                <a:ext cx="6096000" cy="5416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0600B0-44DA-8A46-B400-AB561ECC08BE}"/>
                  </a:ext>
                </a:extLst>
              </p:cNvPr>
              <p:cNvSpPr txBox="1"/>
              <p:nvPr/>
            </p:nvSpPr>
            <p:spPr>
              <a:xfrm>
                <a:off x="900727" y="5414131"/>
                <a:ext cx="4957113" cy="540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𝑾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𝑰</m:t>
                        </m:r>
                      </m:sup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𝑷𝒅𝒕</m:t>
                        </m:r>
                      </m:e>
                    </m:nary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  <m:nary>
                      <m:nary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𝑰</m:t>
                        </m:r>
                      </m:sup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𝒊𝒅𝒊</m:t>
                        </m:r>
                      </m:e>
                    </m:nary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  <m:r>
                      <a:rPr lang="en-US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𝑳</m:t>
                    </m:r>
                    <m:sSup>
                      <m:sSupPr>
                        <m:ctrlP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𝑰</m:t>
                        </m:r>
                      </m:e>
                      <m:sup>
                        <m:r>
                          <a:rPr lang="en-US" sz="20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B0600B0-44DA-8A46-B400-AB561ECC0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727" y="5414131"/>
                <a:ext cx="4957113" cy="5405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19D79DB0-A36F-46CF-90DA-757696680B93}"/>
              </a:ext>
            </a:extLst>
          </p:cNvPr>
          <p:cNvSpPr/>
          <p:nvPr/>
        </p:nvSpPr>
        <p:spPr>
          <a:xfrm>
            <a:off x="610579" y="366068"/>
            <a:ext cx="1828852" cy="897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Inductor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64AB1A-012A-4483-ACD6-0DAD2865C585}"/>
              </a:ext>
            </a:extLst>
          </p:cNvPr>
          <p:cNvSpPr txBox="1"/>
          <p:nvPr/>
        </p:nvSpPr>
        <p:spPr>
          <a:xfrm>
            <a:off x="924608" y="3061272"/>
            <a:ext cx="60674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electrical component that stores energy in the form of a magnetic field when electrical current flows through it</a:t>
            </a:r>
          </a:p>
        </p:txBody>
      </p:sp>
    </p:spTree>
    <p:extLst>
      <p:ext uri="{BB962C8B-B14F-4D97-AF65-F5344CB8AC3E}">
        <p14:creationId xmlns:p14="http://schemas.microsoft.com/office/powerpoint/2010/main" val="351081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 uiExpand="1" build="p"/>
      <p:bldP spid="13" grpId="0"/>
      <p:bldP spid="14" grpId="0"/>
      <p:bldP spid="15" grpId="0"/>
      <p:bldP spid="16" grpId="0"/>
      <p:bldP spid="17" grpId="0"/>
      <p:bldP spid="18" grpId="0"/>
      <p:bldP spid="20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369C9D14-C574-1028-1718-1D39BC5772E1}"/>
              </a:ext>
            </a:extLst>
          </p:cNvPr>
          <p:cNvGrpSpPr/>
          <p:nvPr/>
        </p:nvGrpSpPr>
        <p:grpSpPr>
          <a:xfrm>
            <a:off x="0" y="1561712"/>
            <a:ext cx="12184262" cy="4115573"/>
            <a:chOff x="1486" y="1371212"/>
            <a:chExt cx="12184262" cy="4115573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B714923-9FC6-8BB4-6833-83B119A084C9}"/>
                </a:ext>
              </a:extLst>
            </p:cNvPr>
            <p:cNvSpPr/>
            <p:nvPr/>
          </p:nvSpPr>
          <p:spPr>
            <a:xfrm>
              <a:off x="4463444" y="1371212"/>
              <a:ext cx="1624568" cy="1083045"/>
            </a:xfrm>
            <a:custGeom>
              <a:avLst/>
              <a:gdLst>
                <a:gd name="connsiteX0" fmla="*/ 0 w 1624568"/>
                <a:gd name="connsiteY0" fmla="*/ 108305 h 1083045"/>
                <a:gd name="connsiteX1" fmla="*/ 108305 w 1624568"/>
                <a:gd name="connsiteY1" fmla="*/ 0 h 1083045"/>
                <a:gd name="connsiteX2" fmla="*/ 1516264 w 1624568"/>
                <a:gd name="connsiteY2" fmla="*/ 0 h 1083045"/>
                <a:gd name="connsiteX3" fmla="*/ 1624569 w 1624568"/>
                <a:gd name="connsiteY3" fmla="*/ 108305 h 1083045"/>
                <a:gd name="connsiteX4" fmla="*/ 1624568 w 1624568"/>
                <a:gd name="connsiteY4" fmla="*/ 974741 h 1083045"/>
                <a:gd name="connsiteX5" fmla="*/ 1516263 w 1624568"/>
                <a:gd name="connsiteY5" fmla="*/ 1083046 h 1083045"/>
                <a:gd name="connsiteX6" fmla="*/ 108305 w 1624568"/>
                <a:gd name="connsiteY6" fmla="*/ 1083045 h 1083045"/>
                <a:gd name="connsiteX7" fmla="*/ 0 w 1624568"/>
                <a:gd name="connsiteY7" fmla="*/ 974740 h 1083045"/>
                <a:gd name="connsiteX8" fmla="*/ 0 w 1624568"/>
                <a:gd name="connsiteY8" fmla="*/ 108305 h 10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4568" h="1083045">
                  <a:moveTo>
                    <a:pt x="0" y="108305"/>
                  </a:moveTo>
                  <a:cubicBezTo>
                    <a:pt x="0" y="48490"/>
                    <a:pt x="48490" y="0"/>
                    <a:pt x="108305" y="0"/>
                  </a:cubicBezTo>
                  <a:lnTo>
                    <a:pt x="1516264" y="0"/>
                  </a:lnTo>
                  <a:cubicBezTo>
                    <a:pt x="1576079" y="0"/>
                    <a:pt x="1624569" y="48490"/>
                    <a:pt x="1624569" y="108305"/>
                  </a:cubicBezTo>
                  <a:cubicBezTo>
                    <a:pt x="1624569" y="397117"/>
                    <a:pt x="1624568" y="685929"/>
                    <a:pt x="1624568" y="974741"/>
                  </a:cubicBezTo>
                  <a:cubicBezTo>
                    <a:pt x="1624568" y="1034556"/>
                    <a:pt x="1576078" y="1083046"/>
                    <a:pt x="1516263" y="1083046"/>
                  </a:cubicBezTo>
                  <a:lnTo>
                    <a:pt x="108305" y="1083045"/>
                  </a:lnTo>
                  <a:cubicBezTo>
                    <a:pt x="48490" y="1083045"/>
                    <a:pt x="0" y="1034555"/>
                    <a:pt x="0" y="974740"/>
                  </a:cubicBezTo>
                  <a:lnTo>
                    <a:pt x="0" y="108305"/>
                  </a:lnTo>
                  <a:close/>
                </a:path>
              </a:pathLst>
            </a:custGeom>
            <a:solidFill>
              <a:schemeClr val="bg1"/>
            </a:solid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681" tIns="92681" rIns="92681" bIns="9268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Sources</a:t>
              </a: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73047BD-0D65-4167-724F-4C3E5027AE26}"/>
                </a:ext>
              </a:extLst>
            </p:cNvPr>
            <p:cNvSpPr/>
            <p:nvPr/>
          </p:nvSpPr>
          <p:spPr>
            <a:xfrm>
              <a:off x="1869740" y="2454258"/>
              <a:ext cx="3405988" cy="43321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405988" y="0"/>
                  </a:moveTo>
                  <a:lnTo>
                    <a:pt x="3405988" y="216609"/>
                  </a:lnTo>
                  <a:lnTo>
                    <a:pt x="0" y="216609"/>
                  </a:lnTo>
                  <a:lnTo>
                    <a:pt x="0" y="433218"/>
                  </a:lnTo>
                </a:path>
              </a:pathLst>
            </a:custGeom>
            <a:noFill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3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CD4DFF2-3678-E622-1133-94BE6BDD8AD3}"/>
                </a:ext>
              </a:extLst>
            </p:cNvPr>
            <p:cNvSpPr/>
            <p:nvPr/>
          </p:nvSpPr>
          <p:spPr>
            <a:xfrm>
              <a:off x="1057456" y="2887476"/>
              <a:ext cx="1624568" cy="1083045"/>
            </a:xfrm>
            <a:custGeom>
              <a:avLst/>
              <a:gdLst>
                <a:gd name="connsiteX0" fmla="*/ 0 w 1624568"/>
                <a:gd name="connsiteY0" fmla="*/ 108305 h 1083045"/>
                <a:gd name="connsiteX1" fmla="*/ 108305 w 1624568"/>
                <a:gd name="connsiteY1" fmla="*/ 0 h 1083045"/>
                <a:gd name="connsiteX2" fmla="*/ 1516264 w 1624568"/>
                <a:gd name="connsiteY2" fmla="*/ 0 h 1083045"/>
                <a:gd name="connsiteX3" fmla="*/ 1624569 w 1624568"/>
                <a:gd name="connsiteY3" fmla="*/ 108305 h 1083045"/>
                <a:gd name="connsiteX4" fmla="*/ 1624568 w 1624568"/>
                <a:gd name="connsiteY4" fmla="*/ 974741 h 1083045"/>
                <a:gd name="connsiteX5" fmla="*/ 1516263 w 1624568"/>
                <a:gd name="connsiteY5" fmla="*/ 1083046 h 1083045"/>
                <a:gd name="connsiteX6" fmla="*/ 108305 w 1624568"/>
                <a:gd name="connsiteY6" fmla="*/ 1083045 h 1083045"/>
                <a:gd name="connsiteX7" fmla="*/ 0 w 1624568"/>
                <a:gd name="connsiteY7" fmla="*/ 974740 h 1083045"/>
                <a:gd name="connsiteX8" fmla="*/ 0 w 1624568"/>
                <a:gd name="connsiteY8" fmla="*/ 108305 h 10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4568" h="1083045">
                  <a:moveTo>
                    <a:pt x="0" y="108305"/>
                  </a:moveTo>
                  <a:cubicBezTo>
                    <a:pt x="0" y="48490"/>
                    <a:pt x="48490" y="0"/>
                    <a:pt x="108305" y="0"/>
                  </a:cubicBezTo>
                  <a:lnTo>
                    <a:pt x="1516264" y="0"/>
                  </a:lnTo>
                  <a:cubicBezTo>
                    <a:pt x="1576079" y="0"/>
                    <a:pt x="1624569" y="48490"/>
                    <a:pt x="1624569" y="108305"/>
                  </a:cubicBezTo>
                  <a:cubicBezTo>
                    <a:pt x="1624569" y="397117"/>
                    <a:pt x="1624568" y="685929"/>
                    <a:pt x="1624568" y="974741"/>
                  </a:cubicBezTo>
                  <a:cubicBezTo>
                    <a:pt x="1624568" y="1034556"/>
                    <a:pt x="1576078" y="1083046"/>
                    <a:pt x="1516263" y="1083046"/>
                  </a:cubicBezTo>
                  <a:lnTo>
                    <a:pt x="108305" y="1083045"/>
                  </a:lnTo>
                  <a:cubicBezTo>
                    <a:pt x="48490" y="1083045"/>
                    <a:pt x="0" y="1034555"/>
                    <a:pt x="0" y="974740"/>
                  </a:cubicBezTo>
                  <a:lnTo>
                    <a:pt x="0" y="108305"/>
                  </a:lnTo>
                  <a:close/>
                </a:path>
              </a:pathLst>
            </a:custGeom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681" tIns="92681" rIns="92681" bIns="9268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Independent</a:t>
              </a: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6616F6C-078A-D277-8EB8-A4F61ACE41FD}"/>
                </a:ext>
              </a:extLst>
            </p:cNvPr>
            <p:cNvSpPr/>
            <p:nvPr/>
          </p:nvSpPr>
          <p:spPr>
            <a:xfrm>
              <a:off x="813770" y="3970522"/>
              <a:ext cx="1055969" cy="43321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055969" y="0"/>
                  </a:moveTo>
                  <a:lnTo>
                    <a:pt x="1055969" y="216609"/>
                  </a:lnTo>
                  <a:lnTo>
                    <a:pt x="0" y="216609"/>
                  </a:lnTo>
                  <a:lnTo>
                    <a:pt x="0" y="433218"/>
                  </a:lnTo>
                </a:path>
              </a:pathLst>
            </a:custGeom>
            <a:noFill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2D2FE48-6B79-A4CB-1617-4699E2011179}"/>
                </a:ext>
              </a:extLst>
            </p:cNvPr>
            <p:cNvSpPr/>
            <p:nvPr/>
          </p:nvSpPr>
          <p:spPr>
            <a:xfrm>
              <a:off x="1486" y="4403740"/>
              <a:ext cx="1624568" cy="1083045"/>
            </a:xfrm>
            <a:custGeom>
              <a:avLst/>
              <a:gdLst>
                <a:gd name="connsiteX0" fmla="*/ 0 w 1624568"/>
                <a:gd name="connsiteY0" fmla="*/ 108305 h 1083045"/>
                <a:gd name="connsiteX1" fmla="*/ 108305 w 1624568"/>
                <a:gd name="connsiteY1" fmla="*/ 0 h 1083045"/>
                <a:gd name="connsiteX2" fmla="*/ 1516264 w 1624568"/>
                <a:gd name="connsiteY2" fmla="*/ 0 h 1083045"/>
                <a:gd name="connsiteX3" fmla="*/ 1624569 w 1624568"/>
                <a:gd name="connsiteY3" fmla="*/ 108305 h 1083045"/>
                <a:gd name="connsiteX4" fmla="*/ 1624568 w 1624568"/>
                <a:gd name="connsiteY4" fmla="*/ 974741 h 1083045"/>
                <a:gd name="connsiteX5" fmla="*/ 1516263 w 1624568"/>
                <a:gd name="connsiteY5" fmla="*/ 1083046 h 1083045"/>
                <a:gd name="connsiteX6" fmla="*/ 108305 w 1624568"/>
                <a:gd name="connsiteY6" fmla="*/ 1083045 h 1083045"/>
                <a:gd name="connsiteX7" fmla="*/ 0 w 1624568"/>
                <a:gd name="connsiteY7" fmla="*/ 974740 h 1083045"/>
                <a:gd name="connsiteX8" fmla="*/ 0 w 1624568"/>
                <a:gd name="connsiteY8" fmla="*/ 108305 h 10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4568" h="1083045">
                  <a:moveTo>
                    <a:pt x="0" y="108305"/>
                  </a:moveTo>
                  <a:cubicBezTo>
                    <a:pt x="0" y="48490"/>
                    <a:pt x="48490" y="0"/>
                    <a:pt x="108305" y="0"/>
                  </a:cubicBezTo>
                  <a:lnTo>
                    <a:pt x="1516264" y="0"/>
                  </a:lnTo>
                  <a:cubicBezTo>
                    <a:pt x="1576079" y="0"/>
                    <a:pt x="1624569" y="48490"/>
                    <a:pt x="1624569" y="108305"/>
                  </a:cubicBezTo>
                  <a:cubicBezTo>
                    <a:pt x="1624569" y="397117"/>
                    <a:pt x="1624568" y="685929"/>
                    <a:pt x="1624568" y="974741"/>
                  </a:cubicBezTo>
                  <a:cubicBezTo>
                    <a:pt x="1624568" y="1034556"/>
                    <a:pt x="1576078" y="1083046"/>
                    <a:pt x="1516263" y="1083046"/>
                  </a:cubicBezTo>
                  <a:lnTo>
                    <a:pt x="108305" y="1083045"/>
                  </a:lnTo>
                  <a:cubicBezTo>
                    <a:pt x="48490" y="1083045"/>
                    <a:pt x="0" y="1034555"/>
                    <a:pt x="0" y="974740"/>
                  </a:cubicBezTo>
                  <a:lnTo>
                    <a:pt x="0" y="108305"/>
                  </a:lnTo>
                  <a:close/>
                </a:path>
              </a:pathLst>
            </a:custGeom>
            <a:solidFill>
              <a:srgbClr val="A7B77E"/>
            </a:solid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681" tIns="92681" rIns="92681" bIns="9268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Voltage source</a:t>
              </a: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7BF44F3-2A40-9254-81FF-4EB6496F21A1}"/>
                </a:ext>
              </a:extLst>
            </p:cNvPr>
            <p:cNvSpPr/>
            <p:nvPr/>
          </p:nvSpPr>
          <p:spPr>
            <a:xfrm>
              <a:off x="1869740" y="3970522"/>
              <a:ext cx="1055969" cy="43321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16609"/>
                  </a:lnTo>
                  <a:lnTo>
                    <a:pt x="1055969" y="216609"/>
                  </a:lnTo>
                  <a:lnTo>
                    <a:pt x="1055969" y="433218"/>
                  </a:lnTo>
                </a:path>
              </a:pathLst>
            </a:custGeom>
            <a:noFill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9FCCF37-73BC-6FAB-CB24-017302402770}"/>
                </a:ext>
              </a:extLst>
            </p:cNvPr>
            <p:cNvSpPr/>
            <p:nvPr/>
          </p:nvSpPr>
          <p:spPr>
            <a:xfrm>
              <a:off x="2113425" y="4403740"/>
              <a:ext cx="1624568" cy="1083045"/>
            </a:xfrm>
            <a:custGeom>
              <a:avLst/>
              <a:gdLst>
                <a:gd name="connsiteX0" fmla="*/ 0 w 1624568"/>
                <a:gd name="connsiteY0" fmla="*/ 108305 h 1083045"/>
                <a:gd name="connsiteX1" fmla="*/ 108305 w 1624568"/>
                <a:gd name="connsiteY1" fmla="*/ 0 h 1083045"/>
                <a:gd name="connsiteX2" fmla="*/ 1516264 w 1624568"/>
                <a:gd name="connsiteY2" fmla="*/ 0 h 1083045"/>
                <a:gd name="connsiteX3" fmla="*/ 1624569 w 1624568"/>
                <a:gd name="connsiteY3" fmla="*/ 108305 h 1083045"/>
                <a:gd name="connsiteX4" fmla="*/ 1624568 w 1624568"/>
                <a:gd name="connsiteY4" fmla="*/ 974741 h 1083045"/>
                <a:gd name="connsiteX5" fmla="*/ 1516263 w 1624568"/>
                <a:gd name="connsiteY5" fmla="*/ 1083046 h 1083045"/>
                <a:gd name="connsiteX6" fmla="*/ 108305 w 1624568"/>
                <a:gd name="connsiteY6" fmla="*/ 1083045 h 1083045"/>
                <a:gd name="connsiteX7" fmla="*/ 0 w 1624568"/>
                <a:gd name="connsiteY7" fmla="*/ 974740 h 1083045"/>
                <a:gd name="connsiteX8" fmla="*/ 0 w 1624568"/>
                <a:gd name="connsiteY8" fmla="*/ 108305 h 10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4568" h="1083045">
                  <a:moveTo>
                    <a:pt x="0" y="108305"/>
                  </a:moveTo>
                  <a:cubicBezTo>
                    <a:pt x="0" y="48490"/>
                    <a:pt x="48490" y="0"/>
                    <a:pt x="108305" y="0"/>
                  </a:cubicBezTo>
                  <a:lnTo>
                    <a:pt x="1516264" y="0"/>
                  </a:lnTo>
                  <a:cubicBezTo>
                    <a:pt x="1576079" y="0"/>
                    <a:pt x="1624569" y="48490"/>
                    <a:pt x="1624569" y="108305"/>
                  </a:cubicBezTo>
                  <a:cubicBezTo>
                    <a:pt x="1624569" y="397117"/>
                    <a:pt x="1624568" y="685929"/>
                    <a:pt x="1624568" y="974741"/>
                  </a:cubicBezTo>
                  <a:cubicBezTo>
                    <a:pt x="1624568" y="1034556"/>
                    <a:pt x="1576078" y="1083046"/>
                    <a:pt x="1516263" y="1083046"/>
                  </a:cubicBezTo>
                  <a:lnTo>
                    <a:pt x="108305" y="1083045"/>
                  </a:lnTo>
                  <a:cubicBezTo>
                    <a:pt x="48490" y="1083045"/>
                    <a:pt x="0" y="1034555"/>
                    <a:pt x="0" y="974740"/>
                  </a:cubicBezTo>
                  <a:lnTo>
                    <a:pt x="0" y="108305"/>
                  </a:lnTo>
                  <a:close/>
                </a:path>
              </a:pathLst>
            </a:custGeom>
            <a:solidFill>
              <a:srgbClr val="A7B77E"/>
            </a:solid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681" tIns="92681" rIns="92681" bIns="9268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source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A545BE3-9477-B2C7-BFCB-8CE9D691285F}"/>
                </a:ext>
              </a:extLst>
            </p:cNvPr>
            <p:cNvSpPr/>
            <p:nvPr/>
          </p:nvSpPr>
          <p:spPr>
            <a:xfrm>
              <a:off x="5275729" y="2454258"/>
              <a:ext cx="2929827" cy="43321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16609"/>
                  </a:lnTo>
                  <a:lnTo>
                    <a:pt x="2929827" y="216609"/>
                  </a:lnTo>
                  <a:lnTo>
                    <a:pt x="2929827" y="433218"/>
                  </a:lnTo>
                </a:path>
              </a:pathLst>
            </a:custGeom>
            <a:noFill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2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3">
                <a:tint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C02E4F3F-4B23-E3CE-2CA0-D8A2A56ECA3F}"/>
                </a:ext>
              </a:extLst>
            </p:cNvPr>
            <p:cNvSpPr/>
            <p:nvPr/>
          </p:nvSpPr>
          <p:spPr>
            <a:xfrm>
              <a:off x="7393272" y="2887476"/>
              <a:ext cx="1624568" cy="1083045"/>
            </a:xfrm>
            <a:custGeom>
              <a:avLst/>
              <a:gdLst>
                <a:gd name="connsiteX0" fmla="*/ 0 w 1624568"/>
                <a:gd name="connsiteY0" fmla="*/ 108305 h 1083045"/>
                <a:gd name="connsiteX1" fmla="*/ 108305 w 1624568"/>
                <a:gd name="connsiteY1" fmla="*/ 0 h 1083045"/>
                <a:gd name="connsiteX2" fmla="*/ 1516264 w 1624568"/>
                <a:gd name="connsiteY2" fmla="*/ 0 h 1083045"/>
                <a:gd name="connsiteX3" fmla="*/ 1624569 w 1624568"/>
                <a:gd name="connsiteY3" fmla="*/ 108305 h 1083045"/>
                <a:gd name="connsiteX4" fmla="*/ 1624568 w 1624568"/>
                <a:gd name="connsiteY4" fmla="*/ 974741 h 1083045"/>
                <a:gd name="connsiteX5" fmla="*/ 1516263 w 1624568"/>
                <a:gd name="connsiteY5" fmla="*/ 1083046 h 1083045"/>
                <a:gd name="connsiteX6" fmla="*/ 108305 w 1624568"/>
                <a:gd name="connsiteY6" fmla="*/ 1083045 h 1083045"/>
                <a:gd name="connsiteX7" fmla="*/ 0 w 1624568"/>
                <a:gd name="connsiteY7" fmla="*/ 974740 h 1083045"/>
                <a:gd name="connsiteX8" fmla="*/ 0 w 1624568"/>
                <a:gd name="connsiteY8" fmla="*/ 108305 h 10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4568" h="1083045">
                  <a:moveTo>
                    <a:pt x="0" y="108305"/>
                  </a:moveTo>
                  <a:cubicBezTo>
                    <a:pt x="0" y="48490"/>
                    <a:pt x="48490" y="0"/>
                    <a:pt x="108305" y="0"/>
                  </a:cubicBezTo>
                  <a:lnTo>
                    <a:pt x="1516264" y="0"/>
                  </a:lnTo>
                  <a:cubicBezTo>
                    <a:pt x="1576079" y="0"/>
                    <a:pt x="1624569" y="48490"/>
                    <a:pt x="1624569" y="108305"/>
                  </a:cubicBezTo>
                  <a:cubicBezTo>
                    <a:pt x="1624569" y="397117"/>
                    <a:pt x="1624568" y="685929"/>
                    <a:pt x="1624568" y="974741"/>
                  </a:cubicBezTo>
                  <a:cubicBezTo>
                    <a:pt x="1624568" y="1034556"/>
                    <a:pt x="1576078" y="1083046"/>
                    <a:pt x="1516263" y="1083046"/>
                  </a:cubicBezTo>
                  <a:lnTo>
                    <a:pt x="108305" y="1083045"/>
                  </a:lnTo>
                  <a:cubicBezTo>
                    <a:pt x="48490" y="1083045"/>
                    <a:pt x="0" y="1034555"/>
                    <a:pt x="0" y="974740"/>
                  </a:cubicBezTo>
                  <a:lnTo>
                    <a:pt x="0" y="108305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1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681" tIns="92681" rIns="92681" bIns="9268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Dependent</a:t>
              </a: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D769A-7BD8-4084-3B62-FDEE28F0E551}"/>
                </a:ext>
              </a:extLst>
            </p:cNvPr>
            <p:cNvSpPr/>
            <p:nvPr/>
          </p:nvSpPr>
          <p:spPr>
            <a:xfrm>
              <a:off x="5037648" y="3970522"/>
              <a:ext cx="3167908" cy="43321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3167908" y="0"/>
                  </a:moveTo>
                  <a:lnTo>
                    <a:pt x="3167908" y="216609"/>
                  </a:lnTo>
                  <a:lnTo>
                    <a:pt x="0" y="216609"/>
                  </a:lnTo>
                  <a:lnTo>
                    <a:pt x="0" y="433218"/>
                  </a:lnTo>
                </a:path>
              </a:pathLst>
            </a:custGeom>
            <a:noFill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44E9CBC-17F4-666F-323A-B243336315EC}"/>
                </a:ext>
              </a:extLst>
            </p:cNvPr>
            <p:cNvSpPr/>
            <p:nvPr/>
          </p:nvSpPr>
          <p:spPr>
            <a:xfrm>
              <a:off x="4225364" y="4403740"/>
              <a:ext cx="1624568" cy="1083045"/>
            </a:xfrm>
            <a:custGeom>
              <a:avLst/>
              <a:gdLst>
                <a:gd name="connsiteX0" fmla="*/ 0 w 1624568"/>
                <a:gd name="connsiteY0" fmla="*/ 108305 h 1083045"/>
                <a:gd name="connsiteX1" fmla="*/ 108305 w 1624568"/>
                <a:gd name="connsiteY1" fmla="*/ 0 h 1083045"/>
                <a:gd name="connsiteX2" fmla="*/ 1516264 w 1624568"/>
                <a:gd name="connsiteY2" fmla="*/ 0 h 1083045"/>
                <a:gd name="connsiteX3" fmla="*/ 1624569 w 1624568"/>
                <a:gd name="connsiteY3" fmla="*/ 108305 h 1083045"/>
                <a:gd name="connsiteX4" fmla="*/ 1624568 w 1624568"/>
                <a:gd name="connsiteY4" fmla="*/ 974741 h 1083045"/>
                <a:gd name="connsiteX5" fmla="*/ 1516263 w 1624568"/>
                <a:gd name="connsiteY5" fmla="*/ 1083046 h 1083045"/>
                <a:gd name="connsiteX6" fmla="*/ 108305 w 1624568"/>
                <a:gd name="connsiteY6" fmla="*/ 1083045 h 1083045"/>
                <a:gd name="connsiteX7" fmla="*/ 0 w 1624568"/>
                <a:gd name="connsiteY7" fmla="*/ 974740 h 1083045"/>
                <a:gd name="connsiteX8" fmla="*/ 0 w 1624568"/>
                <a:gd name="connsiteY8" fmla="*/ 108305 h 10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4568" h="1083045">
                  <a:moveTo>
                    <a:pt x="0" y="108305"/>
                  </a:moveTo>
                  <a:cubicBezTo>
                    <a:pt x="0" y="48490"/>
                    <a:pt x="48490" y="0"/>
                    <a:pt x="108305" y="0"/>
                  </a:cubicBezTo>
                  <a:lnTo>
                    <a:pt x="1516264" y="0"/>
                  </a:lnTo>
                  <a:cubicBezTo>
                    <a:pt x="1576079" y="0"/>
                    <a:pt x="1624569" y="48490"/>
                    <a:pt x="1624569" y="108305"/>
                  </a:cubicBezTo>
                  <a:cubicBezTo>
                    <a:pt x="1624569" y="397117"/>
                    <a:pt x="1624568" y="685929"/>
                    <a:pt x="1624568" y="974741"/>
                  </a:cubicBezTo>
                  <a:cubicBezTo>
                    <a:pt x="1624568" y="1034556"/>
                    <a:pt x="1576078" y="1083046"/>
                    <a:pt x="1516263" y="1083046"/>
                  </a:cubicBezTo>
                  <a:lnTo>
                    <a:pt x="108305" y="1083045"/>
                  </a:lnTo>
                  <a:cubicBezTo>
                    <a:pt x="48490" y="1083045"/>
                    <a:pt x="0" y="1034555"/>
                    <a:pt x="0" y="974740"/>
                  </a:cubicBezTo>
                  <a:lnTo>
                    <a:pt x="0" y="108305"/>
                  </a:lnTo>
                  <a:close/>
                </a:path>
              </a:pathLst>
            </a:custGeom>
            <a:solidFill>
              <a:srgbClr val="D3DFBF"/>
            </a:solid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681" tIns="92681" rIns="92681" bIns="9268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controlled Current source(CCCS)</a:t>
              </a: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B39B5F7-9698-3DDE-490C-5CB4D709D6A2}"/>
                </a:ext>
              </a:extLst>
            </p:cNvPr>
            <p:cNvSpPr/>
            <p:nvPr/>
          </p:nvSpPr>
          <p:spPr>
            <a:xfrm>
              <a:off x="7149587" y="3970522"/>
              <a:ext cx="1055969" cy="43321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1055969" y="0"/>
                  </a:moveTo>
                  <a:lnTo>
                    <a:pt x="1055969" y="216609"/>
                  </a:lnTo>
                  <a:lnTo>
                    <a:pt x="0" y="216609"/>
                  </a:lnTo>
                  <a:lnTo>
                    <a:pt x="0" y="433218"/>
                  </a:lnTo>
                </a:path>
              </a:pathLst>
            </a:custGeom>
            <a:noFill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E25648D9-9A5A-87B3-3FDD-F0C5A22B6A75}"/>
                </a:ext>
              </a:extLst>
            </p:cNvPr>
            <p:cNvSpPr/>
            <p:nvPr/>
          </p:nvSpPr>
          <p:spPr>
            <a:xfrm>
              <a:off x="6337303" y="4403740"/>
              <a:ext cx="1624568" cy="1083045"/>
            </a:xfrm>
            <a:custGeom>
              <a:avLst/>
              <a:gdLst>
                <a:gd name="connsiteX0" fmla="*/ 0 w 1624568"/>
                <a:gd name="connsiteY0" fmla="*/ 108305 h 1083045"/>
                <a:gd name="connsiteX1" fmla="*/ 108305 w 1624568"/>
                <a:gd name="connsiteY1" fmla="*/ 0 h 1083045"/>
                <a:gd name="connsiteX2" fmla="*/ 1516264 w 1624568"/>
                <a:gd name="connsiteY2" fmla="*/ 0 h 1083045"/>
                <a:gd name="connsiteX3" fmla="*/ 1624569 w 1624568"/>
                <a:gd name="connsiteY3" fmla="*/ 108305 h 1083045"/>
                <a:gd name="connsiteX4" fmla="*/ 1624568 w 1624568"/>
                <a:gd name="connsiteY4" fmla="*/ 974741 h 1083045"/>
                <a:gd name="connsiteX5" fmla="*/ 1516263 w 1624568"/>
                <a:gd name="connsiteY5" fmla="*/ 1083046 h 1083045"/>
                <a:gd name="connsiteX6" fmla="*/ 108305 w 1624568"/>
                <a:gd name="connsiteY6" fmla="*/ 1083045 h 1083045"/>
                <a:gd name="connsiteX7" fmla="*/ 0 w 1624568"/>
                <a:gd name="connsiteY7" fmla="*/ 974740 h 1083045"/>
                <a:gd name="connsiteX8" fmla="*/ 0 w 1624568"/>
                <a:gd name="connsiteY8" fmla="*/ 108305 h 10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4568" h="1083045">
                  <a:moveTo>
                    <a:pt x="0" y="108305"/>
                  </a:moveTo>
                  <a:cubicBezTo>
                    <a:pt x="0" y="48490"/>
                    <a:pt x="48490" y="0"/>
                    <a:pt x="108305" y="0"/>
                  </a:cubicBezTo>
                  <a:lnTo>
                    <a:pt x="1516264" y="0"/>
                  </a:lnTo>
                  <a:cubicBezTo>
                    <a:pt x="1576079" y="0"/>
                    <a:pt x="1624569" y="48490"/>
                    <a:pt x="1624569" y="108305"/>
                  </a:cubicBezTo>
                  <a:cubicBezTo>
                    <a:pt x="1624569" y="397117"/>
                    <a:pt x="1624568" y="685929"/>
                    <a:pt x="1624568" y="974741"/>
                  </a:cubicBezTo>
                  <a:cubicBezTo>
                    <a:pt x="1624568" y="1034556"/>
                    <a:pt x="1576078" y="1083046"/>
                    <a:pt x="1516263" y="1083046"/>
                  </a:cubicBezTo>
                  <a:lnTo>
                    <a:pt x="108305" y="1083045"/>
                  </a:lnTo>
                  <a:cubicBezTo>
                    <a:pt x="48490" y="1083045"/>
                    <a:pt x="0" y="1034555"/>
                    <a:pt x="0" y="974740"/>
                  </a:cubicBezTo>
                  <a:lnTo>
                    <a:pt x="0" y="108305"/>
                  </a:lnTo>
                  <a:close/>
                </a:path>
              </a:pathLst>
            </a:custGeom>
            <a:solidFill>
              <a:srgbClr val="D1DDBD"/>
            </a:solid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681" tIns="92681" rIns="92681" bIns="9268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 controlled Voltage source(CCVS)</a:t>
              </a: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964C2B0-9799-F378-BE32-3B1D358BC6A7}"/>
                </a:ext>
              </a:extLst>
            </p:cNvPr>
            <p:cNvSpPr/>
            <p:nvPr/>
          </p:nvSpPr>
          <p:spPr>
            <a:xfrm>
              <a:off x="8205556" y="3970522"/>
              <a:ext cx="1055969" cy="43321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16609"/>
                  </a:lnTo>
                  <a:lnTo>
                    <a:pt x="1055969" y="216609"/>
                  </a:lnTo>
                  <a:lnTo>
                    <a:pt x="1055969" y="433218"/>
                  </a:lnTo>
                </a:path>
              </a:pathLst>
            </a:custGeom>
            <a:noFill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6FFD349-8C10-0870-7D1F-F932E6711C7D}"/>
                </a:ext>
              </a:extLst>
            </p:cNvPr>
            <p:cNvSpPr/>
            <p:nvPr/>
          </p:nvSpPr>
          <p:spPr>
            <a:xfrm>
              <a:off x="8449242" y="4403740"/>
              <a:ext cx="1624568" cy="1083045"/>
            </a:xfrm>
            <a:custGeom>
              <a:avLst/>
              <a:gdLst>
                <a:gd name="connsiteX0" fmla="*/ 0 w 1624568"/>
                <a:gd name="connsiteY0" fmla="*/ 108305 h 1083045"/>
                <a:gd name="connsiteX1" fmla="*/ 108305 w 1624568"/>
                <a:gd name="connsiteY1" fmla="*/ 0 h 1083045"/>
                <a:gd name="connsiteX2" fmla="*/ 1516264 w 1624568"/>
                <a:gd name="connsiteY2" fmla="*/ 0 h 1083045"/>
                <a:gd name="connsiteX3" fmla="*/ 1624569 w 1624568"/>
                <a:gd name="connsiteY3" fmla="*/ 108305 h 1083045"/>
                <a:gd name="connsiteX4" fmla="*/ 1624568 w 1624568"/>
                <a:gd name="connsiteY4" fmla="*/ 974741 h 1083045"/>
                <a:gd name="connsiteX5" fmla="*/ 1516263 w 1624568"/>
                <a:gd name="connsiteY5" fmla="*/ 1083046 h 1083045"/>
                <a:gd name="connsiteX6" fmla="*/ 108305 w 1624568"/>
                <a:gd name="connsiteY6" fmla="*/ 1083045 h 1083045"/>
                <a:gd name="connsiteX7" fmla="*/ 0 w 1624568"/>
                <a:gd name="connsiteY7" fmla="*/ 974740 h 1083045"/>
                <a:gd name="connsiteX8" fmla="*/ 0 w 1624568"/>
                <a:gd name="connsiteY8" fmla="*/ 108305 h 10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4568" h="1083045">
                  <a:moveTo>
                    <a:pt x="0" y="108305"/>
                  </a:moveTo>
                  <a:cubicBezTo>
                    <a:pt x="0" y="48490"/>
                    <a:pt x="48490" y="0"/>
                    <a:pt x="108305" y="0"/>
                  </a:cubicBezTo>
                  <a:lnTo>
                    <a:pt x="1516264" y="0"/>
                  </a:lnTo>
                  <a:cubicBezTo>
                    <a:pt x="1576079" y="0"/>
                    <a:pt x="1624569" y="48490"/>
                    <a:pt x="1624569" y="108305"/>
                  </a:cubicBezTo>
                  <a:cubicBezTo>
                    <a:pt x="1624569" y="397117"/>
                    <a:pt x="1624568" y="685929"/>
                    <a:pt x="1624568" y="974741"/>
                  </a:cubicBezTo>
                  <a:cubicBezTo>
                    <a:pt x="1624568" y="1034556"/>
                    <a:pt x="1576078" y="1083046"/>
                    <a:pt x="1516263" y="1083046"/>
                  </a:cubicBezTo>
                  <a:lnTo>
                    <a:pt x="108305" y="1083045"/>
                  </a:lnTo>
                  <a:cubicBezTo>
                    <a:pt x="48490" y="1083045"/>
                    <a:pt x="0" y="1034555"/>
                    <a:pt x="0" y="974740"/>
                  </a:cubicBezTo>
                  <a:lnTo>
                    <a:pt x="0" y="108305"/>
                  </a:lnTo>
                  <a:close/>
                </a:path>
              </a:pathLst>
            </a:custGeom>
            <a:solidFill>
              <a:srgbClr val="CDD9B9"/>
            </a:solid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681" tIns="92681" rIns="92681" bIns="9268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Voltage controlled Voltage source(VCVS)</a:t>
              </a: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6EDF1588-308B-361C-D6DD-ECCE0DB73679}"/>
                </a:ext>
              </a:extLst>
            </p:cNvPr>
            <p:cNvSpPr/>
            <p:nvPr/>
          </p:nvSpPr>
          <p:spPr>
            <a:xfrm>
              <a:off x="8205556" y="3970522"/>
              <a:ext cx="3167908" cy="433218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216609"/>
                  </a:lnTo>
                  <a:lnTo>
                    <a:pt x="3167908" y="216609"/>
                  </a:lnTo>
                  <a:lnTo>
                    <a:pt x="3167908" y="433218"/>
                  </a:lnTo>
                </a:path>
              </a:pathLst>
            </a:custGeom>
            <a:noFill/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z="-110000"/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4">
                <a:tint val="7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A02B319D-7568-0940-AFA4-913761EAC0EE}"/>
                </a:ext>
              </a:extLst>
            </p:cNvPr>
            <p:cNvSpPr/>
            <p:nvPr/>
          </p:nvSpPr>
          <p:spPr>
            <a:xfrm>
              <a:off x="10561180" y="4403740"/>
              <a:ext cx="1624568" cy="1083045"/>
            </a:xfrm>
            <a:custGeom>
              <a:avLst/>
              <a:gdLst>
                <a:gd name="connsiteX0" fmla="*/ 0 w 1624568"/>
                <a:gd name="connsiteY0" fmla="*/ 108305 h 1083045"/>
                <a:gd name="connsiteX1" fmla="*/ 108305 w 1624568"/>
                <a:gd name="connsiteY1" fmla="*/ 0 h 1083045"/>
                <a:gd name="connsiteX2" fmla="*/ 1516264 w 1624568"/>
                <a:gd name="connsiteY2" fmla="*/ 0 h 1083045"/>
                <a:gd name="connsiteX3" fmla="*/ 1624569 w 1624568"/>
                <a:gd name="connsiteY3" fmla="*/ 108305 h 1083045"/>
                <a:gd name="connsiteX4" fmla="*/ 1624568 w 1624568"/>
                <a:gd name="connsiteY4" fmla="*/ 974741 h 1083045"/>
                <a:gd name="connsiteX5" fmla="*/ 1516263 w 1624568"/>
                <a:gd name="connsiteY5" fmla="*/ 1083046 h 1083045"/>
                <a:gd name="connsiteX6" fmla="*/ 108305 w 1624568"/>
                <a:gd name="connsiteY6" fmla="*/ 1083045 h 1083045"/>
                <a:gd name="connsiteX7" fmla="*/ 0 w 1624568"/>
                <a:gd name="connsiteY7" fmla="*/ 974740 h 1083045"/>
                <a:gd name="connsiteX8" fmla="*/ 0 w 1624568"/>
                <a:gd name="connsiteY8" fmla="*/ 108305 h 10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24568" h="1083045">
                  <a:moveTo>
                    <a:pt x="0" y="108305"/>
                  </a:moveTo>
                  <a:cubicBezTo>
                    <a:pt x="0" y="48490"/>
                    <a:pt x="48490" y="0"/>
                    <a:pt x="108305" y="0"/>
                  </a:cubicBezTo>
                  <a:lnTo>
                    <a:pt x="1516264" y="0"/>
                  </a:lnTo>
                  <a:cubicBezTo>
                    <a:pt x="1576079" y="0"/>
                    <a:pt x="1624569" y="48490"/>
                    <a:pt x="1624569" y="108305"/>
                  </a:cubicBezTo>
                  <a:cubicBezTo>
                    <a:pt x="1624569" y="397117"/>
                    <a:pt x="1624568" y="685929"/>
                    <a:pt x="1624568" y="974741"/>
                  </a:cubicBezTo>
                  <a:cubicBezTo>
                    <a:pt x="1624568" y="1034556"/>
                    <a:pt x="1576078" y="1083046"/>
                    <a:pt x="1516263" y="1083046"/>
                  </a:cubicBezTo>
                  <a:lnTo>
                    <a:pt x="108305" y="1083045"/>
                  </a:lnTo>
                  <a:cubicBezTo>
                    <a:pt x="48490" y="1083045"/>
                    <a:pt x="0" y="1034555"/>
                    <a:pt x="0" y="974740"/>
                  </a:cubicBezTo>
                  <a:lnTo>
                    <a:pt x="0" y="108305"/>
                  </a:lnTo>
                  <a:close/>
                </a:path>
              </a:pathLst>
            </a:custGeom>
            <a:solidFill>
              <a:srgbClr val="CBD7B7"/>
            </a:solidFill>
            <a:scene3d>
              <a:camera prst="orthographicFront">
                <a:rot lat="0" lon="0" rev="0"/>
              </a:camera>
              <a:lightRig rig="contrasting" dir="t">
                <a:rot lat="0" lon="0" rev="1200000"/>
              </a:lightRig>
            </a:scene3d>
            <a:sp3d contourW="19050" prstMaterial="metal">
              <a:bevelT w="88900" h="203200"/>
              <a:bevelB w="165100" h="2540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681" tIns="92681" rIns="92681" bIns="92681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Voltage controlled </a:t>
              </a:r>
              <a:r>
                <a: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Current</a:t>
              </a:r>
              <a:r>
                <a:rPr lang="en-US" b="1" kern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source(VCCS)</a:t>
              </a: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54AB955F-ACE3-68EB-9C51-1EC9F416BCA9}"/>
              </a:ext>
            </a:extLst>
          </p:cNvPr>
          <p:cNvSpPr txBox="1"/>
          <p:nvPr/>
        </p:nvSpPr>
        <p:spPr>
          <a:xfrm>
            <a:off x="451556" y="162257"/>
            <a:ext cx="11446933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SOURCES</a:t>
            </a:r>
          </a:p>
        </p:txBody>
      </p:sp>
    </p:spTree>
    <p:extLst>
      <p:ext uri="{BB962C8B-B14F-4D97-AF65-F5344CB8AC3E}">
        <p14:creationId xmlns:p14="http://schemas.microsoft.com/office/powerpoint/2010/main" val="36765965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A62383-624A-839D-6BDB-B274AEE428D6}"/>
              </a:ext>
            </a:extLst>
          </p:cNvPr>
          <p:cNvSpPr txBox="1"/>
          <p:nvPr/>
        </p:nvSpPr>
        <p:spPr>
          <a:xfrm>
            <a:off x="451556" y="18360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Vs. Dependent 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E83BD5-8BC7-F70C-1177-143A96237FDF}"/>
              </a:ext>
            </a:extLst>
          </p:cNvPr>
          <p:cNvSpPr txBox="1"/>
          <p:nvPr/>
        </p:nvSpPr>
        <p:spPr>
          <a:xfrm>
            <a:off x="451556" y="933533"/>
            <a:ext cx="114469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in which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is completely independent of the current, or the current is completely independent of the voltage;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termed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sources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05223-3F6D-10E8-1C67-F32A970F77A2}"/>
              </a:ext>
            </a:extLst>
          </p:cNvPr>
          <p:cNvSpPr txBox="1"/>
          <p:nvPr/>
        </p:nvSpPr>
        <p:spPr>
          <a:xfrm>
            <a:off x="451556" y="1714451"/>
            <a:ext cx="114469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kinds of sources for which either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voltage or current depends upon a current or voltage elsewhere in the circuit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such sources are referred to as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sources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3F67C4-DBDB-4AAF-7A08-EC2D70F7037B}"/>
              </a:ext>
            </a:extLst>
          </p:cNvPr>
          <p:cNvSpPr txBox="1"/>
          <p:nvPr/>
        </p:nvSpPr>
        <p:spPr>
          <a:xfrm>
            <a:off x="451556" y="265663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Voltage Sources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AA7C46-1738-D02C-ABD1-D7AC65D082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40" t="42639" r="54609" b="28194"/>
          <a:stretch/>
        </p:blipFill>
        <p:spPr>
          <a:xfrm>
            <a:off x="4088351" y="3132080"/>
            <a:ext cx="3810001" cy="200025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642808C-8E7A-8E6D-D0B2-FC504073555A}"/>
              </a:ext>
            </a:extLst>
          </p:cNvPr>
          <p:cNvSpPr txBox="1"/>
          <p:nvPr/>
        </p:nvSpPr>
        <p:spPr>
          <a:xfrm>
            <a:off x="451554" y="5977677"/>
            <a:ext cx="11446932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independent voltage source is characterized by a terminal voltage which is completely independent of the current through it.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2A87E6-B4F5-2F5C-3F47-1C3C39D6C355}"/>
              </a:ext>
            </a:extLst>
          </p:cNvPr>
          <p:cNvSpPr txBox="1"/>
          <p:nvPr/>
        </p:nvSpPr>
        <p:spPr>
          <a:xfrm>
            <a:off x="3940489" y="5193974"/>
            <a:ext cx="2358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DC voltage 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D41990-376E-E68B-8F7B-828CDD4AFBD0}"/>
              </a:ext>
            </a:extLst>
          </p:cNvPr>
          <p:cNvSpPr txBox="1"/>
          <p:nvPr/>
        </p:nvSpPr>
        <p:spPr>
          <a:xfrm>
            <a:off x="6132527" y="5212786"/>
            <a:ext cx="22559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battery symbol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F85CAA-FD55-3ED6-1848-635A092BE43C}"/>
              </a:ext>
            </a:extLst>
          </p:cNvPr>
          <p:cNvSpPr txBox="1"/>
          <p:nvPr/>
        </p:nvSpPr>
        <p:spPr>
          <a:xfrm>
            <a:off x="3942312" y="5520602"/>
            <a:ext cx="32904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AC voltage source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symbol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89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7" grpId="0" animBg="1"/>
      <p:bldP spid="19" grpId="0"/>
      <p:bldP spid="21" grpId="0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756277-1C63-D0A4-A30C-88F54D2A6FC0}"/>
              </a:ext>
            </a:extLst>
          </p:cNvPr>
          <p:cNvSpPr txBox="1"/>
          <p:nvPr/>
        </p:nvSpPr>
        <p:spPr>
          <a:xfrm>
            <a:off x="447675" y="508338"/>
            <a:ext cx="11296650" cy="369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independent voltage source is an ideal source and does not represent exactly any real physical device.</a:t>
            </a:r>
          </a:p>
          <a:p>
            <a:pPr marL="285750" indent="-285750" algn="just">
              <a:lnSpc>
                <a:spcPct val="20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ideal source could theoretically deliver an infinite amount of energy from its terminals (delivery of infinite current at a particular constant voltage).</a:t>
            </a:r>
          </a:p>
          <a:p>
            <a:pPr marL="285750" indent="-285750" algn="just">
              <a:lnSpc>
                <a:spcPct val="20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idealized voltage source does, however, furnish a reasonable approximation to several practical voltage sources.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67AC5-3509-C313-6929-A2FD38B51AEF}"/>
              </a:ext>
            </a:extLst>
          </p:cNvPr>
          <p:cNvSpPr txBox="1"/>
          <p:nvPr/>
        </p:nvSpPr>
        <p:spPr>
          <a:xfrm>
            <a:off x="4096449" y="3897954"/>
            <a:ext cx="48944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Vs. Practical Voltage Sources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71860A-8D44-4FB9-FCAA-FBC82D04A525}"/>
              </a:ext>
            </a:extLst>
          </p:cNvPr>
          <p:cNvGrpSpPr/>
          <p:nvPr/>
        </p:nvGrpSpPr>
        <p:grpSpPr>
          <a:xfrm>
            <a:off x="1364103" y="4816463"/>
            <a:ext cx="1530078" cy="1425575"/>
            <a:chOff x="1952625" y="3368754"/>
            <a:chExt cx="1530078" cy="1425575"/>
          </a:xfrm>
        </p:grpSpPr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CA2263BD-F17D-39A7-6906-6DC498FB6B01}"/>
                </a:ext>
              </a:extLst>
            </p:cNvPr>
            <p:cNvSpPr/>
            <p:nvPr/>
          </p:nvSpPr>
          <p:spPr>
            <a:xfrm>
              <a:off x="1952625" y="3829050"/>
              <a:ext cx="447675" cy="504825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7FB72E32-B90B-D7A5-B392-E32FACDD6968}"/>
                </a:ext>
              </a:extLst>
            </p:cNvPr>
            <p:cNvCxnSpPr>
              <a:stCxn id="7" idx="0"/>
            </p:cNvCxnSpPr>
            <p:nvPr/>
          </p:nvCxnSpPr>
          <p:spPr>
            <a:xfrm flipH="1" flipV="1">
              <a:off x="2171700" y="3429000"/>
              <a:ext cx="4763" cy="400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6D17FAE-CC53-29B9-0FE4-83B8D4D4EBBA}"/>
                </a:ext>
              </a:extLst>
            </p:cNvPr>
            <p:cNvCxnSpPr/>
            <p:nvPr/>
          </p:nvCxnSpPr>
          <p:spPr>
            <a:xfrm flipH="1" flipV="1">
              <a:off x="2171700" y="4345305"/>
              <a:ext cx="4763" cy="400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2A0B2A-B055-9255-2FD6-EC478E39483E}"/>
                </a:ext>
              </a:extLst>
            </p:cNvPr>
            <p:cNvCxnSpPr>
              <a:cxnSpLocks/>
            </p:cNvCxnSpPr>
            <p:nvPr/>
          </p:nvCxnSpPr>
          <p:spPr>
            <a:xfrm>
              <a:off x="2159507" y="3429000"/>
              <a:ext cx="126682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D11DFDE-1DC4-D421-E686-4CA4379BBC32}"/>
                </a:ext>
              </a:extLst>
            </p:cNvPr>
            <p:cNvCxnSpPr>
              <a:cxnSpLocks/>
            </p:cNvCxnSpPr>
            <p:nvPr/>
          </p:nvCxnSpPr>
          <p:spPr>
            <a:xfrm>
              <a:off x="2168652" y="4737735"/>
              <a:ext cx="126682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6C2E98DB-290E-C02E-324B-D8F099671A45}"/>
                </a:ext>
              </a:extLst>
            </p:cNvPr>
            <p:cNvSpPr/>
            <p:nvPr/>
          </p:nvSpPr>
          <p:spPr>
            <a:xfrm>
              <a:off x="3371608" y="3368754"/>
              <a:ext cx="111095" cy="113189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Flowchart: Connector 12">
              <a:extLst>
                <a:ext uri="{FF2B5EF4-FFF2-40B4-BE49-F238E27FC236}">
                  <a16:creationId xmlns:a16="http://schemas.microsoft.com/office/drawing/2014/main" id="{BE3793A0-3B06-3A35-B25A-84285F7BA1D7}"/>
                </a:ext>
              </a:extLst>
            </p:cNvPr>
            <p:cNvSpPr/>
            <p:nvPr/>
          </p:nvSpPr>
          <p:spPr>
            <a:xfrm>
              <a:off x="3370784" y="4681140"/>
              <a:ext cx="111095" cy="113189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F7D0542-4849-9C3A-EABB-47D9742474E2}"/>
              </a:ext>
            </a:extLst>
          </p:cNvPr>
          <p:cNvSpPr txBox="1"/>
          <p:nvPr/>
        </p:nvSpPr>
        <p:spPr>
          <a:xfrm>
            <a:off x="1317530" y="4791344"/>
            <a:ext cx="4634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CFFA200-1AE2-51BD-4281-4CC779BFEB2B}"/>
              </a:ext>
            </a:extLst>
          </p:cNvPr>
          <p:cNvGrpSpPr/>
          <p:nvPr/>
        </p:nvGrpSpPr>
        <p:grpSpPr>
          <a:xfrm>
            <a:off x="2884479" y="4873057"/>
            <a:ext cx="1497754" cy="1341914"/>
            <a:chOff x="3473001" y="3425348"/>
            <a:chExt cx="1497754" cy="134191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F416208-B41D-9D7A-A74A-BD83AF968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3752984" y="3549491"/>
              <a:ext cx="1338262" cy="1097280"/>
            </a:xfrm>
            <a:prstGeom prst="rect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24F0BD-286C-1486-B7C7-7D831E1FADC9}"/>
                </a:ext>
              </a:extLst>
            </p:cNvPr>
            <p:cNvCxnSpPr>
              <a:cxnSpLocks/>
              <a:endCxn id="16" idx="1"/>
            </p:cNvCxnSpPr>
            <p:nvPr/>
          </p:nvCxnSpPr>
          <p:spPr>
            <a:xfrm>
              <a:off x="3473001" y="3425348"/>
              <a:ext cx="949114" cy="36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AC17FC2-2689-6B09-72F8-003FF81E4ECA}"/>
                </a:ext>
              </a:extLst>
            </p:cNvPr>
            <p:cNvCxnSpPr>
              <a:cxnSpLocks/>
            </p:cNvCxnSpPr>
            <p:nvPr/>
          </p:nvCxnSpPr>
          <p:spPr>
            <a:xfrm>
              <a:off x="3481879" y="4742960"/>
              <a:ext cx="949114" cy="36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247D30-D988-B483-FE4B-9536616E0BA1}"/>
              </a:ext>
            </a:extLst>
          </p:cNvPr>
          <p:cNvCxnSpPr>
            <a:cxnSpLocks/>
          </p:cNvCxnSpPr>
          <p:nvPr/>
        </p:nvCxnSpPr>
        <p:spPr>
          <a:xfrm flipV="1">
            <a:off x="8654860" y="4600506"/>
            <a:ext cx="0" cy="15783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3A189F3-65E5-FF6D-91DA-6567ABF5EBA2}"/>
              </a:ext>
            </a:extLst>
          </p:cNvPr>
          <p:cNvCxnSpPr>
            <a:cxnSpLocks/>
          </p:cNvCxnSpPr>
          <p:nvPr/>
        </p:nvCxnSpPr>
        <p:spPr>
          <a:xfrm>
            <a:off x="8314183" y="5866026"/>
            <a:ext cx="176871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F58F3E-39E3-DF0F-0836-947274B7D689}"/>
              </a:ext>
            </a:extLst>
          </p:cNvPr>
          <p:cNvCxnSpPr>
            <a:cxnSpLocks/>
          </p:cNvCxnSpPr>
          <p:nvPr/>
        </p:nvCxnSpPr>
        <p:spPr>
          <a:xfrm flipV="1">
            <a:off x="8650179" y="5139982"/>
            <a:ext cx="1333030" cy="1"/>
          </a:xfrm>
          <a:prstGeom prst="line">
            <a:avLst/>
          </a:prstGeom>
          <a:ln w="508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450E1FA-ADA1-1D01-96AA-2E58E2C8C0C7}"/>
              </a:ext>
            </a:extLst>
          </p:cNvPr>
          <p:cNvSpPr txBox="1"/>
          <p:nvPr/>
        </p:nvSpPr>
        <p:spPr>
          <a:xfrm>
            <a:off x="8171569" y="4947226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3D13B2-AD8A-A948-B56D-7E480D7B570D}"/>
              </a:ext>
            </a:extLst>
          </p:cNvPr>
          <p:cNvSpPr txBox="1"/>
          <p:nvPr/>
        </p:nvSpPr>
        <p:spPr>
          <a:xfrm>
            <a:off x="9766729" y="5807007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2F83A9-C3C3-4D78-B27A-52E8A36708A9}"/>
              </a:ext>
            </a:extLst>
          </p:cNvPr>
          <p:cNvSpPr txBox="1"/>
          <p:nvPr/>
        </p:nvSpPr>
        <p:spPr>
          <a:xfrm>
            <a:off x="9983209" y="501183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2D3251-74C1-C613-5F69-6BC02AAA833F}"/>
              </a:ext>
            </a:extLst>
          </p:cNvPr>
          <p:cNvCxnSpPr>
            <a:cxnSpLocks/>
          </p:cNvCxnSpPr>
          <p:nvPr/>
        </p:nvCxnSpPr>
        <p:spPr>
          <a:xfrm>
            <a:off x="8650179" y="5139982"/>
            <a:ext cx="1333030" cy="19708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24DE7F6F-B6E2-BA6C-F322-B8350471B7D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7413" y="4397061"/>
            <a:ext cx="914400" cy="95199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C0C2ADA-1BB3-F97F-0716-B6BA8044D21B}"/>
              </a:ext>
            </a:extLst>
          </p:cNvPr>
          <p:cNvSpPr txBox="1"/>
          <p:nvPr/>
        </p:nvSpPr>
        <p:spPr>
          <a:xfrm>
            <a:off x="1959371" y="4483868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0A73DC-C9D3-7360-BFD4-A3148E644D09}"/>
              </a:ext>
            </a:extLst>
          </p:cNvPr>
          <p:cNvSpPr txBox="1"/>
          <p:nvPr/>
        </p:nvSpPr>
        <p:spPr>
          <a:xfrm>
            <a:off x="447675" y="5065"/>
            <a:ext cx="6096000" cy="71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Voltage Sources</a:t>
            </a:r>
          </a:p>
        </p:txBody>
      </p:sp>
    </p:spTree>
    <p:extLst>
      <p:ext uri="{BB962C8B-B14F-4D97-AF65-F5344CB8AC3E}">
        <p14:creationId xmlns:p14="http://schemas.microsoft.com/office/powerpoint/2010/main" val="2505415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14" grpId="0"/>
      <p:bldP spid="22" grpId="0"/>
      <p:bldP spid="23" grpId="0"/>
      <p:bldP spid="24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EBB38D5-360B-124D-300B-73ED87869641}"/>
              </a:ext>
            </a:extLst>
          </p:cNvPr>
          <p:cNvGrpSpPr/>
          <p:nvPr/>
        </p:nvGrpSpPr>
        <p:grpSpPr>
          <a:xfrm>
            <a:off x="928748" y="4486753"/>
            <a:ext cx="1530078" cy="1425575"/>
            <a:chOff x="1952625" y="3368754"/>
            <a:chExt cx="1530078" cy="1425575"/>
          </a:xfrm>
        </p:grpSpPr>
        <p:sp>
          <p:nvSpPr>
            <p:cNvPr id="3" name="Flowchart: Connector 2">
              <a:extLst>
                <a:ext uri="{FF2B5EF4-FFF2-40B4-BE49-F238E27FC236}">
                  <a16:creationId xmlns:a16="http://schemas.microsoft.com/office/drawing/2014/main" id="{04241D19-4936-72AF-C2AC-6E200F2FA6A8}"/>
                </a:ext>
              </a:extLst>
            </p:cNvPr>
            <p:cNvSpPr/>
            <p:nvPr/>
          </p:nvSpPr>
          <p:spPr>
            <a:xfrm>
              <a:off x="1952625" y="3829050"/>
              <a:ext cx="447675" cy="504825"/>
            </a:xfrm>
            <a:prstGeom prst="flowChartConnector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5A5BED1-6D3D-368F-50D7-8E1A3C3F02B3}"/>
                </a:ext>
              </a:extLst>
            </p:cNvPr>
            <p:cNvCxnSpPr>
              <a:stCxn id="3" idx="0"/>
            </p:cNvCxnSpPr>
            <p:nvPr/>
          </p:nvCxnSpPr>
          <p:spPr>
            <a:xfrm flipH="1" flipV="1">
              <a:off x="2171700" y="3429000"/>
              <a:ext cx="4763" cy="400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8C9C864-645E-7A4F-E3BB-15811E6C4AFD}"/>
                </a:ext>
              </a:extLst>
            </p:cNvPr>
            <p:cNvCxnSpPr/>
            <p:nvPr/>
          </p:nvCxnSpPr>
          <p:spPr>
            <a:xfrm flipH="1" flipV="1">
              <a:off x="2171700" y="4345305"/>
              <a:ext cx="4763" cy="40005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CBD75EF-11B0-728C-ED4D-65C3A9CB7223}"/>
                </a:ext>
              </a:extLst>
            </p:cNvPr>
            <p:cNvCxnSpPr>
              <a:cxnSpLocks/>
            </p:cNvCxnSpPr>
            <p:nvPr/>
          </p:nvCxnSpPr>
          <p:spPr>
            <a:xfrm>
              <a:off x="2159507" y="3429000"/>
              <a:ext cx="126682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119B770-0EEB-5B1E-136B-B3168120D400}"/>
                </a:ext>
              </a:extLst>
            </p:cNvPr>
            <p:cNvCxnSpPr>
              <a:cxnSpLocks/>
            </p:cNvCxnSpPr>
            <p:nvPr/>
          </p:nvCxnSpPr>
          <p:spPr>
            <a:xfrm>
              <a:off x="2168652" y="4737735"/>
              <a:ext cx="126682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9491025A-5AB3-B803-F956-2DD9F2A67888}"/>
                </a:ext>
              </a:extLst>
            </p:cNvPr>
            <p:cNvSpPr/>
            <p:nvPr/>
          </p:nvSpPr>
          <p:spPr>
            <a:xfrm>
              <a:off x="3371608" y="3368754"/>
              <a:ext cx="111095" cy="113189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2A4F2435-1B1D-01AC-663C-3B71A44DEEFA}"/>
                </a:ext>
              </a:extLst>
            </p:cNvPr>
            <p:cNvSpPr/>
            <p:nvPr/>
          </p:nvSpPr>
          <p:spPr>
            <a:xfrm>
              <a:off x="3370784" y="4681140"/>
              <a:ext cx="111095" cy="113189"/>
            </a:xfrm>
            <a:prstGeom prst="flowChartConnector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C575079-379B-320E-1122-66962E6A38BE}"/>
              </a:ext>
            </a:extLst>
          </p:cNvPr>
          <p:cNvSpPr txBox="1"/>
          <p:nvPr/>
        </p:nvSpPr>
        <p:spPr>
          <a:xfrm>
            <a:off x="577370" y="4737074"/>
            <a:ext cx="463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F64B61-5DC9-39CD-1C15-61B4D93C9EED}"/>
              </a:ext>
            </a:extLst>
          </p:cNvPr>
          <p:cNvGrpSpPr/>
          <p:nvPr/>
        </p:nvGrpSpPr>
        <p:grpSpPr>
          <a:xfrm>
            <a:off x="2449124" y="4543347"/>
            <a:ext cx="1497754" cy="1341914"/>
            <a:chOff x="3473001" y="3425348"/>
            <a:chExt cx="1497754" cy="13419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C1EAFEB-8EDB-3A95-3FA9-A52ECB9D2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3752984" y="3549491"/>
              <a:ext cx="1338262" cy="1097280"/>
            </a:xfrm>
            <a:prstGeom prst="rect">
              <a:avLst/>
            </a:prstGeom>
            <a:scene3d>
              <a:camera prst="orthographicFront">
                <a:rot lat="0" lon="10800000" rev="0"/>
              </a:camera>
              <a:lightRig rig="threePt" dir="t"/>
            </a:scene3d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770D60-BB84-4CC9-B9ED-A9D6047B46C7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>
              <a:off x="3473001" y="3425348"/>
              <a:ext cx="949114" cy="36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0675483-B5A1-252D-3D77-E821200C45BA}"/>
                </a:ext>
              </a:extLst>
            </p:cNvPr>
            <p:cNvCxnSpPr>
              <a:cxnSpLocks/>
            </p:cNvCxnSpPr>
            <p:nvPr/>
          </p:nvCxnSpPr>
          <p:spPr>
            <a:xfrm>
              <a:off x="3481879" y="4742960"/>
              <a:ext cx="949114" cy="36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3B8DD9D-E6BC-560C-7788-CAF59F42D2F1}"/>
              </a:ext>
            </a:extLst>
          </p:cNvPr>
          <p:cNvCxnSpPr>
            <a:cxnSpLocks/>
          </p:cNvCxnSpPr>
          <p:nvPr/>
        </p:nvCxnSpPr>
        <p:spPr>
          <a:xfrm>
            <a:off x="7951776" y="5652078"/>
            <a:ext cx="2438318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A11343-8279-892C-A801-FE697208A975}"/>
              </a:ext>
            </a:extLst>
          </p:cNvPr>
          <p:cNvCxnSpPr>
            <a:cxnSpLocks/>
          </p:cNvCxnSpPr>
          <p:nvPr/>
        </p:nvCxnSpPr>
        <p:spPr>
          <a:xfrm flipV="1">
            <a:off x="8287772" y="4903627"/>
            <a:ext cx="1940957" cy="224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FD59EAA-5DD3-55C2-1A65-DB9234D5C929}"/>
              </a:ext>
            </a:extLst>
          </p:cNvPr>
          <p:cNvSpPr txBox="1"/>
          <p:nvPr/>
        </p:nvSpPr>
        <p:spPr>
          <a:xfrm>
            <a:off x="9404322" y="559305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750BCE-FCC0-3667-C5AD-7D2489E63263}"/>
              </a:ext>
            </a:extLst>
          </p:cNvPr>
          <p:cNvSpPr txBox="1"/>
          <p:nvPr/>
        </p:nvSpPr>
        <p:spPr>
          <a:xfrm>
            <a:off x="10228729" y="4842716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V/r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6342AC4-63E7-46CE-3F16-04943BA568CB}"/>
              </a:ext>
            </a:extLst>
          </p:cNvPr>
          <p:cNvCxnSpPr>
            <a:cxnSpLocks/>
          </p:cNvCxnSpPr>
          <p:nvPr/>
        </p:nvCxnSpPr>
        <p:spPr>
          <a:xfrm>
            <a:off x="8287772" y="4926033"/>
            <a:ext cx="1920240" cy="27432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A3B936-F4FC-E0D6-466F-99D242CD2246}"/>
              </a:ext>
            </a:extLst>
          </p:cNvPr>
          <p:cNvCxnSpPr>
            <a:cxnSpLocks/>
          </p:cNvCxnSpPr>
          <p:nvPr/>
        </p:nvCxnSpPr>
        <p:spPr>
          <a:xfrm flipV="1">
            <a:off x="1152585" y="5088293"/>
            <a:ext cx="0" cy="25046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1F367BF-0AF9-9156-E80A-0A78AC814C68}"/>
              </a:ext>
            </a:extLst>
          </p:cNvPr>
          <p:cNvSpPr txBox="1"/>
          <p:nvPr/>
        </p:nvSpPr>
        <p:spPr>
          <a:xfrm>
            <a:off x="3650761" y="4515328"/>
            <a:ext cx="4634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AF585D-C6F9-75B5-E261-F865B7ECB418}"/>
              </a:ext>
            </a:extLst>
          </p:cNvPr>
          <p:cNvSpPr txBox="1"/>
          <p:nvPr/>
        </p:nvSpPr>
        <p:spPr>
          <a:xfrm>
            <a:off x="495330" y="9529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 Current Sources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253F48E-68DA-6ADF-3A48-1FDA1F6E01C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609" t="27916" r="42500" b="45697"/>
          <a:stretch/>
        </p:blipFill>
        <p:spPr>
          <a:xfrm>
            <a:off x="1362044" y="652342"/>
            <a:ext cx="2752134" cy="228315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EDD2492-1B46-1206-0885-413B8BA61CA2}"/>
              </a:ext>
            </a:extLst>
          </p:cNvPr>
          <p:cNvSpPr txBox="1"/>
          <p:nvPr/>
        </p:nvSpPr>
        <p:spPr>
          <a:xfrm>
            <a:off x="0" y="2935495"/>
            <a:ext cx="5508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symbol for the independent current source.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202B10-687F-7301-FEFF-28D000673F81}"/>
              </a:ext>
            </a:extLst>
          </p:cNvPr>
          <p:cNvSpPr txBox="1"/>
          <p:nvPr/>
        </p:nvSpPr>
        <p:spPr>
          <a:xfrm>
            <a:off x="4558717" y="1307399"/>
            <a:ext cx="7286626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independent current source, the current through the element is completely independent of the voltage across it.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986E7B-DF7E-4DDB-95A8-4C552C45339A}"/>
              </a:ext>
            </a:extLst>
          </p:cNvPr>
          <p:cNvSpPr txBox="1"/>
          <p:nvPr/>
        </p:nvSpPr>
        <p:spPr>
          <a:xfrm>
            <a:off x="3299012" y="3433674"/>
            <a:ext cx="4903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Ideal Vs. Practical Current Sources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08DE2CD-082B-A247-35C7-1F224333BA52}"/>
              </a:ext>
            </a:extLst>
          </p:cNvPr>
          <p:cNvCxnSpPr>
            <a:cxnSpLocks/>
          </p:cNvCxnSpPr>
          <p:nvPr/>
        </p:nvCxnSpPr>
        <p:spPr>
          <a:xfrm flipV="1">
            <a:off x="8278806" y="3953673"/>
            <a:ext cx="0" cy="20116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E26E8BA-0A33-3ADE-8B96-64A7C48346E3}"/>
              </a:ext>
            </a:extLst>
          </p:cNvPr>
          <p:cNvSpPr txBox="1"/>
          <p:nvPr/>
        </p:nvSpPr>
        <p:spPr>
          <a:xfrm>
            <a:off x="7825004" y="4136025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D949833-C2E3-C652-DE4C-93C9E7F1DD5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247620" y="4716468"/>
            <a:ext cx="1743545" cy="95199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985B3A58-04BF-4792-05CF-E0CBB60947BE}"/>
              </a:ext>
            </a:extLst>
          </p:cNvPr>
          <p:cNvSpPr txBox="1"/>
          <p:nvPr/>
        </p:nvSpPr>
        <p:spPr>
          <a:xfrm>
            <a:off x="1719172" y="5007798"/>
            <a:ext cx="264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80171280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0" grpId="0"/>
      <p:bldP spid="25" grpId="0"/>
      <p:bldP spid="31" grpId="0"/>
      <p:bldP spid="33" grpId="0" animBg="1"/>
      <p:bldP spid="35" grpId="0"/>
      <p:bldP spid="34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655433-6FC9-7D45-DF6D-11698EE6F212}"/>
              </a:ext>
            </a:extLst>
          </p:cNvPr>
          <p:cNvSpPr txBox="1"/>
          <p:nvPr/>
        </p:nvSpPr>
        <p:spPr>
          <a:xfrm>
            <a:off x="314325" y="69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Dependent Sources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8B00C-059A-3A6F-62A3-8276E95636F1}"/>
              </a:ext>
            </a:extLst>
          </p:cNvPr>
          <p:cNvSpPr txBox="1"/>
          <p:nvPr/>
        </p:nvSpPr>
        <p:spPr>
          <a:xfrm>
            <a:off x="0" y="428887"/>
            <a:ext cx="12192000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sources are useful in modelling elements such as transistors, operational amplifiers, and integrated circuits.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D0F158-D4B2-3AB1-5F4D-5E8E2FD0DC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984" t="26250" r="40156" b="50972"/>
          <a:stretch/>
        </p:blipFill>
        <p:spPr>
          <a:xfrm>
            <a:off x="1137678" y="1317972"/>
            <a:ext cx="3801035" cy="2334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E73D70-6300-BADE-3AF9-57F6689AAF7E}"/>
              </a:ext>
            </a:extLst>
          </p:cNvPr>
          <p:cNvSpPr txBox="1"/>
          <p:nvPr/>
        </p:nvSpPr>
        <p:spPr>
          <a:xfrm>
            <a:off x="1137678" y="3616076"/>
            <a:ext cx="19854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dependent voltage source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CB9117-5DF0-28D6-5A31-931B07A3198A}"/>
              </a:ext>
            </a:extLst>
          </p:cNvPr>
          <p:cNvSpPr txBox="1"/>
          <p:nvPr/>
        </p:nvSpPr>
        <p:spPr>
          <a:xfrm>
            <a:off x="3231497" y="3634384"/>
            <a:ext cx="2047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dependent current source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E19592-D9CD-FA0B-9454-0190CE89DBB0}"/>
              </a:ext>
            </a:extLst>
          </p:cNvPr>
          <p:cNvSpPr txBox="1"/>
          <p:nvPr/>
        </p:nvSpPr>
        <p:spPr>
          <a:xfrm>
            <a:off x="6297086" y="3809048"/>
            <a:ext cx="50542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different types of dependent sources:</a:t>
            </a:r>
          </a:p>
          <a:p>
            <a:pPr marL="342900" indent="-342900">
              <a:buAutoNum type="alphaLcParenBoth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current-controlled current source; </a:t>
            </a:r>
          </a:p>
          <a:p>
            <a:pPr marL="342900" indent="-342900">
              <a:buAutoNum type="alphaLcParenBoth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voltage-controlled current source;</a:t>
            </a:r>
          </a:p>
          <a:p>
            <a:pPr marL="342900" indent="-342900">
              <a:buAutoNum type="alphaLcParenBoth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voltage-controlled voltage source;</a:t>
            </a:r>
          </a:p>
          <a:p>
            <a:pPr marL="342900" indent="-342900">
              <a:buAutoNum type="alphaLcParenBoth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controlled voltage source.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4F9CA0-B09E-338F-A750-AE196D95C6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219" t="39584" r="51757" b="31667"/>
          <a:stretch/>
        </p:blipFill>
        <p:spPr>
          <a:xfrm>
            <a:off x="6297086" y="1318077"/>
            <a:ext cx="5054288" cy="24022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6E8454-389B-4FB3-E674-BE9D381A128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578" t="39722" r="15547" b="33611"/>
          <a:stretch/>
        </p:blipFill>
        <p:spPr>
          <a:xfrm>
            <a:off x="314325" y="4371976"/>
            <a:ext cx="5268025" cy="24790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6AEFA59-874F-AAFB-10A9-71E8341B76BC}"/>
              </a:ext>
            </a:extLst>
          </p:cNvPr>
          <p:cNvSpPr txBox="1"/>
          <p:nvPr/>
        </p:nvSpPr>
        <p:spPr>
          <a:xfrm>
            <a:off x="5570585" y="6105947"/>
            <a:ext cx="61483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source on the right-hand side is a current-controlled voltage source.</a:t>
            </a:r>
          </a:p>
        </p:txBody>
      </p:sp>
    </p:spTree>
    <p:extLst>
      <p:ext uri="{BB962C8B-B14F-4D97-AF65-F5344CB8AC3E}">
        <p14:creationId xmlns:p14="http://schemas.microsoft.com/office/powerpoint/2010/main" val="116701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3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E1A678-A100-13A7-222A-957E211F0352}"/>
              </a:ext>
            </a:extLst>
          </p:cNvPr>
          <p:cNvSpPr txBox="1"/>
          <p:nvPr/>
        </p:nvSpPr>
        <p:spPr>
          <a:xfrm>
            <a:off x="428624" y="310634"/>
            <a:ext cx="81326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 AND PARALLEL CONNECTION OF SOURCES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4F587-7E38-E6A4-7605-61795447A5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765" t="24722" r="15235" b="32362"/>
          <a:stretch/>
        </p:blipFill>
        <p:spPr>
          <a:xfrm>
            <a:off x="1828799" y="1266825"/>
            <a:ext cx="8534401" cy="2943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D0C2BA-9735-2037-DD49-9BF7B5514440}"/>
              </a:ext>
            </a:extLst>
          </p:cNvPr>
          <p:cNvSpPr txBox="1"/>
          <p:nvPr/>
        </p:nvSpPr>
        <p:spPr>
          <a:xfrm>
            <a:off x="0" y="4586568"/>
            <a:ext cx="6174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Series-connected voltage sources can be replaced by a single source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535DC7-B7C4-26BC-CF46-74F436A0138B}"/>
              </a:ext>
            </a:extLst>
          </p:cNvPr>
          <p:cNvSpPr txBox="1"/>
          <p:nvPr/>
        </p:nvSpPr>
        <p:spPr>
          <a:xfrm>
            <a:off x="6174582" y="4586568"/>
            <a:ext cx="60174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Parallel current sources can be replaced by a single source.</a:t>
            </a:r>
          </a:p>
        </p:txBody>
      </p:sp>
    </p:spTree>
    <p:extLst>
      <p:ext uri="{BB962C8B-B14F-4D97-AF65-F5344CB8AC3E}">
        <p14:creationId xmlns:p14="http://schemas.microsoft.com/office/powerpoint/2010/main" val="1839376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58E6AD-5339-5A88-0345-FFFCBCC04189}"/>
              </a:ext>
            </a:extLst>
          </p:cNvPr>
          <p:cNvSpPr txBox="1"/>
          <p:nvPr/>
        </p:nvSpPr>
        <p:spPr>
          <a:xfrm>
            <a:off x="247650" y="2725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Sources in Parallel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7A93F-B899-073A-1A9B-C4F89C6DDD87}"/>
              </a:ext>
            </a:extLst>
          </p:cNvPr>
          <p:cNvSpPr txBox="1"/>
          <p:nvPr/>
        </p:nvSpPr>
        <p:spPr>
          <a:xfrm>
            <a:off x="247650" y="3908703"/>
            <a:ext cx="5848350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voltage sources are connected in parallel to increase current rating.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EC1DF-E615-8A0C-78C8-0C8F68F9FF48}"/>
              </a:ext>
            </a:extLst>
          </p:cNvPr>
          <p:cNvSpPr txBox="1"/>
          <p:nvPr/>
        </p:nvSpPr>
        <p:spPr>
          <a:xfrm>
            <a:off x="6524625" y="2725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Sources in Series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14B81A-6D8F-DB3F-A22E-6C69D97CF103}"/>
              </a:ext>
            </a:extLst>
          </p:cNvPr>
          <p:cNvSpPr txBox="1"/>
          <p:nvPr/>
        </p:nvSpPr>
        <p:spPr>
          <a:xfrm>
            <a:off x="6524625" y="4493599"/>
            <a:ext cx="5667375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different current sources must not be connected in series as it violates Kirchhoff’s current law.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C60FA9-099C-49FF-9FCE-DAD3292FF1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250" t="37083" r="50547" b="29028"/>
          <a:stretch/>
        </p:blipFill>
        <p:spPr>
          <a:xfrm>
            <a:off x="247650" y="1310758"/>
            <a:ext cx="2828926" cy="23241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8D363A-75B6-6E44-C789-D1853B627129}"/>
              </a:ext>
            </a:extLst>
          </p:cNvPr>
          <p:cNvSpPr txBox="1"/>
          <p:nvPr/>
        </p:nvSpPr>
        <p:spPr>
          <a:xfrm>
            <a:off x="3505199" y="1562815"/>
            <a:ext cx="11116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V</a:t>
            </a:r>
            <a:r>
              <a:rPr lang="en-US" sz="2400" b="1" baseline="-25000" dirty="0"/>
              <a:t>1</a:t>
            </a:r>
            <a:r>
              <a:rPr lang="en-US" sz="2400" b="1" dirty="0"/>
              <a:t>= V</a:t>
            </a:r>
            <a:r>
              <a:rPr lang="en-US" sz="2400" b="1" baseline="-250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B3C4CC-23D2-2ED3-3FBC-56A1F738EF51}"/>
              </a:ext>
            </a:extLst>
          </p:cNvPr>
          <p:cNvSpPr txBox="1"/>
          <p:nvPr/>
        </p:nvSpPr>
        <p:spPr>
          <a:xfrm>
            <a:off x="10117459" y="2853241"/>
            <a:ext cx="75693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I</a:t>
            </a:r>
            <a:r>
              <a:rPr lang="en-US" sz="2400" b="1" baseline="-25000" dirty="0"/>
              <a:t>1</a:t>
            </a:r>
            <a:r>
              <a:rPr lang="en-US" sz="2400" b="1" dirty="0"/>
              <a:t>≠ I</a:t>
            </a:r>
            <a:r>
              <a:rPr lang="en-US" sz="2400" b="1" baseline="-250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5BCC4C-7A0D-B05D-2E69-2C4E246B2CC9}"/>
              </a:ext>
            </a:extLst>
          </p:cNvPr>
          <p:cNvSpPr txBox="1"/>
          <p:nvPr/>
        </p:nvSpPr>
        <p:spPr>
          <a:xfrm>
            <a:off x="10395580" y="3640929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8C394D-65DF-324B-6EEF-C03FA6809445}"/>
              </a:ext>
            </a:extLst>
          </p:cNvPr>
          <p:cNvSpPr txBox="1"/>
          <p:nvPr/>
        </p:nvSpPr>
        <p:spPr>
          <a:xfrm>
            <a:off x="4876709" y="1562814"/>
            <a:ext cx="702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4000" dirty="0"/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C5950DF-E871-0BA1-8444-E609C8E3D6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2264" t="31944" r="37266" b="49082"/>
          <a:stretch/>
        </p:blipFill>
        <p:spPr>
          <a:xfrm>
            <a:off x="7345596" y="1355614"/>
            <a:ext cx="3714750" cy="130123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40F7939-B03A-8BF4-1A44-8DEB6443FF06}"/>
              </a:ext>
            </a:extLst>
          </p:cNvPr>
          <p:cNvSpPr txBox="1"/>
          <p:nvPr/>
        </p:nvSpPr>
        <p:spPr>
          <a:xfrm>
            <a:off x="7345596" y="2853241"/>
            <a:ext cx="756938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I</a:t>
            </a:r>
            <a:r>
              <a:rPr lang="en-US" sz="2400" b="1" baseline="-25000" dirty="0"/>
              <a:t>1</a:t>
            </a:r>
            <a:r>
              <a:rPr lang="en-US" sz="2400" b="1" dirty="0"/>
              <a:t>= I</a:t>
            </a:r>
            <a:r>
              <a:rPr lang="en-US" sz="2400" b="1" baseline="-250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7A495E-5E39-EDA2-6730-2B20CFABD7C6}"/>
              </a:ext>
            </a:extLst>
          </p:cNvPr>
          <p:cNvSpPr txBox="1"/>
          <p:nvPr/>
        </p:nvSpPr>
        <p:spPr>
          <a:xfrm>
            <a:off x="7465821" y="3640929"/>
            <a:ext cx="7024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US" sz="4000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C78E00-0088-6CEC-4941-3B355254D894}"/>
              </a:ext>
            </a:extLst>
          </p:cNvPr>
          <p:cNvSpPr txBox="1"/>
          <p:nvPr/>
        </p:nvSpPr>
        <p:spPr>
          <a:xfrm>
            <a:off x="5017764" y="2590950"/>
            <a:ext cx="3866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832AC8-49E4-AF06-C2D0-A7A2DB66C460}"/>
              </a:ext>
            </a:extLst>
          </p:cNvPr>
          <p:cNvSpPr txBox="1"/>
          <p:nvPr/>
        </p:nvSpPr>
        <p:spPr>
          <a:xfrm>
            <a:off x="3505198" y="2590951"/>
            <a:ext cx="11116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V</a:t>
            </a:r>
            <a:r>
              <a:rPr lang="en-US" sz="2400" b="1" baseline="-25000" dirty="0"/>
              <a:t>1</a:t>
            </a:r>
            <a:r>
              <a:rPr lang="en-US" sz="2400" b="1" dirty="0"/>
              <a:t>≠ V</a:t>
            </a:r>
            <a:r>
              <a:rPr lang="en-US" sz="2400" b="1" baseline="-250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B5D143-FF94-1860-4F05-0BC8D33E3447}"/>
              </a:ext>
            </a:extLst>
          </p:cNvPr>
          <p:cNvSpPr txBox="1"/>
          <p:nvPr/>
        </p:nvSpPr>
        <p:spPr>
          <a:xfrm>
            <a:off x="247650" y="4943247"/>
            <a:ext cx="5848350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Two unequal voltage sources parallel connection should be avoided as it leads to circulating current among the sources</a:t>
            </a:r>
          </a:p>
        </p:txBody>
      </p:sp>
    </p:spTree>
    <p:extLst>
      <p:ext uri="{BB962C8B-B14F-4D97-AF65-F5344CB8AC3E}">
        <p14:creationId xmlns:p14="http://schemas.microsoft.com/office/powerpoint/2010/main" val="107065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2" grpId="0" animBg="1"/>
      <p:bldP spid="13" grpId="0" animBg="1"/>
      <p:bldP spid="14" grpId="0"/>
      <p:bldP spid="15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5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50C3D7-CA24-D544-58C8-9DA176F60F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157" t="31528" r="24921" b="37222"/>
          <a:stretch/>
        </p:blipFill>
        <p:spPr>
          <a:xfrm>
            <a:off x="1066798" y="885824"/>
            <a:ext cx="1819275" cy="2143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A5ADB2-3C6E-4B89-057E-AB1F8556B3E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157" t="31528" r="24921" b="37222"/>
          <a:stretch/>
        </p:blipFill>
        <p:spPr>
          <a:xfrm>
            <a:off x="8239125" y="885824"/>
            <a:ext cx="1819275" cy="21431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EADF32-1236-F05B-9982-F3E9AFF6DDC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5000" t="31389" r="16172" b="37361"/>
          <a:stretch/>
        </p:blipFill>
        <p:spPr>
          <a:xfrm>
            <a:off x="2876548" y="885824"/>
            <a:ext cx="1076326" cy="21431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0D0BB92-DCE0-ED9F-80A2-A2C5716D16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7578" t="31389" r="63594" b="37360"/>
          <a:stretch/>
        </p:blipFill>
        <p:spPr>
          <a:xfrm>
            <a:off x="10058400" y="885824"/>
            <a:ext cx="1076327" cy="21431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0E90D4-1DD7-8119-A129-9A448DCC7B7E}"/>
                  </a:ext>
                </a:extLst>
              </p:cNvPr>
              <p:cNvSpPr txBox="1"/>
              <p:nvPr/>
            </p:nvSpPr>
            <p:spPr>
              <a:xfrm>
                <a:off x="1066798" y="3541752"/>
                <a:ext cx="1076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→∞</m:t>
                      </m:r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0E90D4-1DD7-8119-A129-9A448DCC7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798" y="3541752"/>
                <a:ext cx="107632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12FF191-FC7D-8E29-2136-6DBE2FD95310}"/>
              </a:ext>
            </a:extLst>
          </p:cNvPr>
          <p:cNvSpPr txBox="1"/>
          <p:nvPr/>
        </p:nvSpPr>
        <p:spPr>
          <a:xfrm>
            <a:off x="1762125" y="3100685"/>
            <a:ext cx="1482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563AFCE-3C4F-AB19-D25A-5AEB8AA575DE}"/>
                  </a:ext>
                </a:extLst>
              </p:cNvPr>
              <p:cNvSpPr txBox="1"/>
              <p:nvPr/>
            </p:nvSpPr>
            <p:spPr>
              <a:xfrm>
                <a:off x="2352671" y="3541752"/>
                <a:ext cx="1338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563AFCE-3C4F-AB19-D25A-5AEB8AA57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671" y="3541752"/>
                <a:ext cx="13386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D15E17A-5449-171C-2449-C18332FA68DA}"/>
              </a:ext>
            </a:extLst>
          </p:cNvPr>
          <p:cNvSpPr txBox="1"/>
          <p:nvPr/>
        </p:nvSpPr>
        <p:spPr>
          <a:xfrm>
            <a:off x="1219200" y="1609725"/>
            <a:ext cx="1133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element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4A1B94-BB05-33CD-98FA-E63FEF25AC98}"/>
              </a:ext>
            </a:extLst>
          </p:cNvPr>
          <p:cNvSpPr txBox="1"/>
          <p:nvPr/>
        </p:nvSpPr>
        <p:spPr>
          <a:xfrm>
            <a:off x="8382000" y="1609724"/>
            <a:ext cx="11334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element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118BD6-74EE-5A2A-EB37-068EA3C8EDE8}"/>
                  </a:ext>
                </a:extLst>
              </p:cNvPr>
              <p:cNvSpPr txBox="1"/>
              <p:nvPr/>
            </p:nvSpPr>
            <p:spPr>
              <a:xfrm>
                <a:off x="8382000" y="3541752"/>
                <a:ext cx="10763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𝑅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→0</m:t>
                      </m:r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118BD6-74EE-5A2A-EB37-068EA3C8E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3541752"/>
                <a:ext cx="107632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20B395D6-99CF-5DAF-2B0E-8CF2513AFD42}"/>
              </a:ext>
            </a:extLst>
          </p:cNvPr>
          <p:cNvSpPr txBox="1"/>
          <p:nvPr/>
        </p:nvSpPr>
        <p:spPr>
          <a:xfrm>
            <a:off x="9077327" y="3100685"/>
            <a:ext cx="1494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Circuit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10A4F69-42E8-A857-1069-4229D3A13C79}"/>
                  </a:ext>
                </a:extLst>
              </p:cNvPr>
              <p:cNvSpPr txBox="1"/>
              <p:nvPr/>
            </p:nvSpPr>
            <p:spPr>
              <a:xfrm>
                <a:off x="9667873" y="3541752"/>
                <a:ext cx="13386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10A4F69-42E8-A857-1069-4229D3A13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73" y="3541752"/>
                <a:ext cx="133863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113CE8A-1121-6DA9-1E3C-87397FF60327}"/>
              </a:ext>
            </a:extLst>
          </p:cNvPr>
          <p:cNvSpPr txBox="1"/>
          <p:nvPr/>
        </p:nvSpPr>
        <p:spPr>
          <a:xfrm>
            <a:off x="5189050" y="161925"/>
            <a:ext cx="18138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Termination</a:t>
            </a:r>
          </a:p>
        </p:txBody>
      </p:sp>
    </p:spTree>
    <p:extLst>
      <p:ext uri="{BB962C8B-B14F-4D97-AF65-F5344CB8AC3E}">
        <p14:creationId xmlns:p14="http://schemas.microsoft.com/office/powerpoint/2010/main" val="234607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735580" y="2752344"/>
            <a:ext cx="6720840" cy="26883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75988316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10224</TotalTime>
  <Words>2679</Words>
  <Application>Microsoft Office PowerPoint</Application>
  <PresentationFormat>Widescreen</PresentationFormat>
  <Paragraphs>308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Source Sans Pro</vt:lpstr>
      <vt:lpstr>Times New Roman</vt:lpstr>
      <vt:lpstr>Wingdings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131</cp:revision>
  <dcterms:created xsi:type="dcterms:W3CDTF">2022-09-07T07:22:45Z</dcterms:created>
  <dcterms:modified xsi:type="dcterms:W3CDTF">2025-09-17T06:53:13Z</dcterms:modified>
</cp:coreProperties>
</file>