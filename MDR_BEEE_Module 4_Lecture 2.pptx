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68" r:id="rId2"/>
    <p:sldId id="369" r:id="rId3"/>
    <p:sldId id="333" r:id="rId4"/>
    <p:sldId id="334" r:id="rId5"/>
    <p:sldId id="336" r:id="rId6"/>
    <p:sldId id="337" r:id="rId7"/>
    <p:sldId id="338" r:id="rId8"/>
    <p:sldId id="346" r:id="rId9"/>
    <p:sldId id="347" r:id="rId10"/>
    <p:sldId id="348" r:id="rId11"/>
    <p:sldId id="350" r:id="rId12"/>
    <p:sldId id="351" r:id="rId13"/>
    <p:sldId id="354" r:id="rId14"/>
    <p:sldId id="355" r:id="rId15"/>
    <p:sldId id="339" r:id="rId16"/>
    <p:sldId id="340" r:id="rId17"/>
    <p:sldId id="3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E1399-5D02-490B-835E-E1B12F98CAE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05B43C-2C9E-48BA-8AB6-B1F8C338D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726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DCCC6F-D71C-43FE-B589-BB073785CCC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21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10AB7-0B7F-8D04-DF8F-94D445229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94E486-B61D-76EE-2633-4C228B564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45FEA-D725-20E1-29C4-7D8CA9BB7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1438D-1DFA-BC5A-D760-1584E3CD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B4D06-673C-407E-7BD9-0D2B8C8DC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08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31C9B-0069-E2C7-7DBE-A3B289810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6BFD7-5A88-CF85-C4D9-6224382ED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D105E-3B08-0C75-CA40-8DF834399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6D25B-23C8-A391-0ABA-915B7951D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C6B5E-1A3F-2130-D186-8251705B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28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08805-3640-6B5E-EC12-D88783BE2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97504-52CB-85E0-D4B7-57A400D61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C798D-1C95-3658-C0FA-D80D01FF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D6ED82-E50B-AB18-7D59-DB440D84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2CDAE-AFB8-79B1-05CA-06ECE977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258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03612-4BFF-0477-BF1F-EB318570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423D6-A1AE-3BDA-0295-166E0F7D21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64EE1-EAFD-E367-10BB-E1B5643E6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279F5E-0388-0E18-C92D-E3078290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5A107-1E42-AEFC-00D3-4BA7FAA8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76C25-AC01-3647-755D-9AD4D721A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71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3D98E-60E6-1D2D-6152-3EAD04C26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7B2F4-ADE0-0BC2-C079-49216B683A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866CD2-B112-9CD4-CD54-AAA53F94D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6189DB-D1A5-057A-658A-1B7CF02852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0D9880-516D-2AE7-5269-5D4F48E147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2F9A40-609E-D381-945D-460481DBB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202779-5308-B00A-37F9-56B41154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2DD56C-E36A-4D2C-58FA-08D2AEDF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EAF65-0660-BA75-BDF5-D5F6A717B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06A33-D6D0-D10E-C263-FFD039BA6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ADA10-4176-0DE3-CAB8-EE6FCBAD9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CAB8B3-4041-AE16-8CBC-753FD044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395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E56846-0E68-48CB-49ED-485234942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8307C6-EFF2-00AC-4C64-539F56788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50272-F034-60E5-B1A7-C7DB6B676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9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88DE6-6E41-5909-2097-77FF26F40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3B59B-EFEC-E535-95FD-F2338085B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34C1F-FDC2-0CA7-15AB-F746C99B7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605E3-F6C9-269F-C44D-C3B177EE1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FCEE8-A08C-75C0-14EC-B5F86AC40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2D8B2-DD1C-9CCE-F8B1-50510AD75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28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43B7-7BFA-90DB-8628-11F59283A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B308EA-DCEE-651A-5C2C-96B31541C5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40A3B-1145-A785-0374-CF0AB7CF2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0F1F6-A528-E6FF-5732-F804CD013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B233D8-FCBB-B1E4-47DB-DED76B7C7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9855D-4B4C-D411-C9DD-79C586163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58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2871A-59E6-44C2-17AE-C23713405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F618C5-8C73-E195-FCBE-A7673C274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7BFD5-0CB3-A8F6-AEAF-58AE76947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FD36B-0D9E-37CA-FC9D-205BFC7EF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535CF-A264-8AF3-2B48-E4EE67A0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64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64A7D7-96D5-11C0-4511-719FE4AE0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18564-92D3-64EC-B89A-F5C2C2404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B0D19-936E-AB48-3B79-262093BD5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BCCFE-180C-4958-A81B-2CD30B260F6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D4742-8F48-15E2-DB64-9D64E4AB9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5F124-BDDB-4779-88C6-168372F4F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87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795CB8-2A0D-8B61-6D28-7E78A7A9A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F121C-C411-55CF-30DA-52AE8C8EF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7EFB8-C55F-7E2C-B55B-0B470822E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BCCFE-180C-4958-A81B-2CD30B260F66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FC996-C5A9-B80D-3F2C-8899FC9D9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ED9F-1290-21D6-FCF2-298463C63E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0849C-B9E0-4A64-A5B3-3AE92537AC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15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2D925B0-AE19-E2B9-658A-C8272B84BF68}"/>
              </a:ext>
            </a:extLst>
          </p:cNvPr>
          <p:cNvSpPr txBox="1"/>
          <p:nvPr/>
        </p:nvSpPr>
        <p:spPr>
          <a:xfrm>
            <a:off x="0" y="321839"/>
            <a:ext cx="121919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ELECTRICAL AND ELECTRONICS ENGINEERING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62FAA-F529-C553-DAA9-DE1301ED3032}"/>
              </a:ext>
            </a:extLst>
          </p:cNvPr>
          <p:cNvSpPr txBox="1"/>
          <p:nvPr/>
        </p:nvSpPr>
        <p:spPr>
          <a:xfrm>
            <a:off x="0" y="922475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CSE1002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9A555-6C9B-8A0A-5EF3-8850BD6F8A4C}"/>
              </a:ext>
            </a:extLst>
          </p:cNvPr>
          <p:cNvSpPr txBox="1"/>
          <p:nvPr/>
        </p:nvSpPr>
        <p:spPr>
          <a:xfrm>
            <a:off x="0" y="4624604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Mrunmayee Rahate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Professor, DYPIU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C1866A-9491-240C-FA66-458DACD07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886" y="2312437"/>
            <a:ext cx="1800225" cy="18002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642395-5764-B4A9-7211-391B05C4E175}"/>
              </a:ext>
            </a:extLst>
          </p:cNvPr>
          <p:cNvSpPr txBox="1"/>
          <p:nvPr/>
        </p:nvSpPr>
        <p:spPr>
          <a:xfrm>
            <a:off x="2" y="1573301"/>
            <a:ext cx="1219199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ENGINEERING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2708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BC2278-4B8F-9818-462E-E7E8827B7D79}"/>
              </a:ext>
            </a:extLst>
          </p:cNvPr>
          <p:cNvSpPr txBox="1"/>
          <p:nvPr/>
        </p:nvSpPr>
        <p:spPr>
          <a:xfrm>
            <a:off x="0" y="1997839"/>
            <a:ext cx="1219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00206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Module 4: Operational Amplifiers (OP-AMPS)</a:t>
            </a:r>
          </a:p>
          <a:p>
            <a:pPr algn="ctr"/>
            <a:endParaRPr lang="en-IN" sz="3600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algn="ctr"/>
            <a:r>
              <a:rPr lang="en-IN" sz="3200" b="1" dirty="0">
                <a:solidFill>
                  <a:srgbClr val="C00000"/>
                </a:solidFill>
                <a:latin typeface="Arial" panose="020B0604020202020204" pitchFamily="34" charset="0"/>
              </a:rPr>
              <a:t>Lecture 2: </a:t>
            </a:r>
            <a:r>
              <a:rPr lang="en-GB" sz="3200" b="1" dirty="0">
                <a:solidFill>
                  <a:srgbClr val="C00000"/>
                </a:solidFill>
                <a:latin typeface="Arial" panose="020B0604020202020204" pitchFamily="34" charset="0"/>
              </a:rPr>
              <a:t>Applications of OP-AMP: Voltage Follower, Adder, Subtractor, Integrator and Differentiator</a:t>
            </a:r>
          </a:p>
          <a:p>
            <a:pPr algn="ctr"/>
            <a:endParaRPr lang="en-GB" sz="32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154C5E-51B5-4EEC-C27F-4B5FC2C29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144" y="197614"/>
            <a:ext cx="1366275" cy="136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80628"/>
      </p:ext>
    </p:extLst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C94F4AB-D7B3-4EEF-B476-C7032A0B0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644" y="1446127"/>
            <a:ext cx="9772390" cy="52315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CEDFA9A-BEA1-4EDD-80AD-E12516589F9B}"/>
              </a:ext>
            </a:extLst>
          </p:cNvPr>
          <p:cNvSpPr/>
          <p:nvPr/>
        </p:nvSpPr>
        <p:spPr>
          <a:xfrm>
            <a:off x="328580" y="593496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Application as a voltage follower (Buffer Amplifier)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8457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6181EC-8F31-09A2-5E83-E10AE2291E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5" t="15657" r="2695" b="6177"/>
          <a:stretch/>
        </p:blipFill>
        <p:spPr>
          <a:xfrm>
            <a:off x="895530" y="1518407"/>
            <a:ext cx="10400939" cy="483361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C13BB9A-4F70-46D8-A90B-FEBA6336224B}"/>
              </a:ext>
            </a:extLst>
          </p:cNvPr>
          <p:cNvSpPr/>
          <p:nvPr/>
        </p:nvSpPr>
        <p:spPr>
          <a:xfrm>
            <a:off x="328580" y="593496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Application as a voltage follower (Buffer Amplifier)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296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98AC2A-1FF0-D0C4-1567-A911FF301C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5" t="14558" r="2695" b="6189"/>
          <a:stretch/>
        </p:blipFill>
        <p:spPr>
          <a:xfrm>
            <a:off x="1128824" y="1400962"/>
            <a:ext cx="9934351" cy="468105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91EF14D-0D41-472E-AF1C-4D5C40094BCC}"/>
              </a:ext>
            </a:extLst>
          </p:cNvPr>
          <p:cNvSpPr/>
          <p:nvPr/>
        </p:nvSpPr>
        <p:spPr>
          <a:xfrm>
            <a:off x="328580" y="593496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Application as an adder (summing Amplifier)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376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B96526-00EC-83DC-FE57-15F7EB5C4F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73" t="14190" r="3051" b="5566"/>
          <a:stretch/>
        </p:blipFill>
        <p:spPr>
          <a:xfrm>
            <a:off x="811634" y="1520530"/>
            <a:ext cx="10568731" cy="509785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C07F247-E0AC-4DD5-A742-5D824773EFFD}"/>
              </a:ext>
            </a:extLst>
          </p:cNvPr>
          <p:cNvSpPr/>
          <p:nvPr/>
        </p:nvSpPr>
        <p:spPr>
          <a:xfrm>
            <a:off x="328580" y="593496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Application as an adder (summing Amplifier)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98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F7D37B-6744-EB8A-B7DD-66440D3864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34" t="15780" r="2775" b="7034"/>
          <a:stretch/>
        </p:blipFill>
        <p:spPr>
          <a:xfrm>
            <a:off x="577465" y="1235306"/>
            <a:ext cx="11037069" cy="509838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670790D-21A4-48B0-87CE-15557D0B4640}"/>
              </a:ext>
            </a:extLst>
          </p:cNvPr>
          <p:cNvSpPr/>
          <p:nvPr/>
        </p:nvSpPr>
        <p:spPr>
          <a:xfrm>
            <a:off x="328580" y="593496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Application as an adder (summing Amplifier)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452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B369E9-ED10-11BD-785B-2EED50A0C8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5" t="16024" r="3188" b="5714"/>
          <a:stretch/>
        </p:blipFill>
        <p:spPr>
          <a:xfrm>
            <a:off x="841002" y="1619076"/>
            <a:ext cx="10509996" cy="491594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0C6583A-E993-488C-901A-234A27522578}"/>
              </a:ext>
            </a:extLst>
          </p:cNvPr>
          <p:cNvSpPr/>
          <p:nvPr/>
        </p:nvSpPr>
        <p:spPr>
          <a:xfrm>
            <a:off x="328580" y="593496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Application as a subtractor (difference Amplifier)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167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53938B-989E-4D5A-9743-C45083759DE7}"/>
              </a:ext>
            </a:extLst>
          </p:cNvPr>
          <p:cNvSpPr/>
          <p:nvPr/>
        </p:nvSpPr>
        <p:spPr>
          <a:xfrm>
            <a:off x="328580" y="593496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Application as a subtractor (difference Amplifier)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363384-64B0-499E-B119-BFA933168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856" y="1208016"/>
            <a:ext cx="10551304" cy="537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946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C8B563-A84F-4CB2-A70A-50A509638EE8}"/>
              </a:ext>
            </a:extLst>
          </p:cNvPr>
          <p:cNvSpPr/>
          <p:nvPr/>
        </p:nvSpPr>
        <p:spPr>
          <a:xfrm>
            <a:off x="328580" y="593496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Application as a subtractor (difference Amplifier)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209390-4E06-4EB7-BAEA-92EC11989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35" y="1396894"/>
            <a:ext cx="10326729" cy="539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74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6E3E77-4A20-41C0-8D46-79B5B6C84C79}"/>
              </a:ext>
            </a:extLst>
          </p:cNvPr>
          <p:cNvSpPr/>
          <p:nvPr/>
        </p:nvSpPr>
        <p:spPr>
          <a:xfrm>
            <a:off x="328580" y="593496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Application as an integrator 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F5FEF4-08CC-45AF-8CED-85D1AC2BD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52" y="1400738"/>
            <a:ext cx="10113496" cy="499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545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5147C4-562D-456E-AA5A-76AA0107D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015" y="1207103"/>
            <a:ext cx="9619969" cy="52105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40E8F12-F529-4E4C-AC41-7061B7E1EFB8}"/>
              </a:ext>
            </a:extLst>
          </p:cNvPr>
          <p:cNvSpPr/>
          <p:nvPr/>
        </p:nvSpPr>
        <p:spPr>
          <a:xfrm>
            <a:off x="328580" y="593496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Application as an integrator 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0634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BBC580-3AD4-2D95-B1CC-6F87213A7D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14" t="14558" r="3532" b="5076"/>
          <a:stretch/>
        </p:blipFill>
        <p:spPr>
          <a:xfrm>
            <a:off x="815130" y="1300294"/>
            <a:ext cx="10561739" cy="50872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67A060E-8D0C-4825-9A00-7B62A4E8C80F}"/>
              </a:ext>
            </a:extLst>
          </p:cNvPr>
          <p:cNvSpPr/>
          <p:nvPr/>
        </p:nvSpPr>
        <p:spPr>
          <a:xfrm>
            <a:off x="328580" y="593496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Application as a differentiator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439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ACB7D3-F81E-4E47-0ACF-23632CE808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79" t="14067" r="2982" b="6422"/>
          <a:stretch/>
        </p:blipFill>
        <p:spPr>
          <a:xfrm>
            <a:off x="1086373" y="1555336"/>
            <a:ext cx="10019253" cy="485284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0680187-6C5D-4AF4-9301-C63F85C45F6C}"/>
              </a:ext>
            </a:extLst>
          </p:cNvPr>
          <p:cNvSpPr/>
          <p:nvPr/>
        </p:nvSpPr>
        <p:spPr>
          <a:xfrm>
            <a:off x="328580" y="593496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Application as a differentiator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830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1773E6-8390-F605-4A4E-E14A97DD96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73" t="14800" r="2694" b="4954"/>
          <a:stretch/>
        </p:blipFill>
        <p:spPr>
          <a:xfrm>
            <a:off x="411061" y="1015068"/>
            <a:ext cx="11452360" cy="550317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D7563ED-4222-4596-A21D-467F1FF9D128}"/>
              </a:ext>
            </a:extLst>
          </p:cNvPr>
          <p:cNvSpPr/>
          <p:nvPr/>
        </p:nvSpPr>
        <p:spPr>
          <a:xfrm>
            <a:off x="328580" y="339754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numerical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415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AA76FF-8478-3A4F-552B-3CEC8BA7B2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5" t="4954" r="3188" b="5933"/>
          <a:stretch/>
        </p:blipFill>
        <p:spPr>
          <a:xfrm>
            <a:off x="681611" y="750897"/>
            <a:ext cx="10828778" cy="576734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556533F-35CC-4ACC-B654-3DA15C594B1E}"/>
              </a:ext>
            </a:extLst>
          </p:cNvPr>
          <p:cNvSpPr/>
          <p:nvPr/>
        </p:nvSpPr>
        <p:spPr>
          <a:xfrm>
            <a:off x="328580" y="339754"/>
            <a:ext cx="11534840" cy="153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>
                <a:solidFill>
                  <a:srgbClr val="C00000"/>
                </a:solidFill>
                <a:latin typeface="Algerian" panose="04020705040A02060702" pitchFamily="82" charset="0"/>
              </a:rPr>
              <a:t>Operational Amplifier: numerical</a:t>
            </a:r>
            <a:endParaRPr lang="en-IN" sz="3200" b="1" dirty="0">
              <a:solidFill>
                <a:srgbClr val="C00000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0384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2425A8-BFF0-2824-D9B4-A93EDCB55BB2}"/>
              </a:ext>
            </a:extLst>
          </p:cNvPr>
          <p:cNvSpPr txBox="1"/>
          <p:nvPr/>
        </p:nvSpPr>
        <p:spPr>
          <a:xfrm>
            <a:off x="3048000" y="15823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b="0" i="0" dirty="0">
              <a:solidFill>
                <a:srgbClr val="4A4A4A"/>
              </a:solidFill>
              <a:effectLst/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EA8FD-5544-4FE3-A4E7-E631E6AF9896}"/>
              </a:ext>
            </a:extLst>
          </p:cNvPr>
          <p:cNvSpPr/>
          <p:nvPr/>
        </p:nvSpPr>
        <p:spPr>
          <a:xfrm>
            <a:off x="2137410" y="2642616"/>
            <a:ext cx="7917180" cy="28895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600" b="1" dirty="0"/>
              <a:t>Thank You !!!</a:t>
            </a:r>
          </a:p>
        </p:txBody>
      </p:sp>
    </p:spTree>
    <p:extLst>
      <p:ext uri="{BB962C8B-B14F-4D97-AF65-F5344CB8AC3E}">
        <p14:creationId xmlns:p14="http://schemas.microsoft.com/office/powerpoint/2010/main" val="2906306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1703</TotalTime>
  <Words>178</Words>
  <Application>Microsoft Office PowerPoint</Application>
  <PresentationFormat>Widescreen</PresentationFormat>
  <Paragraphs>24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Algerian</vt:lpstr>
      <vt:lpstr>Arial</vt:lpstr>
      <vt:lpstr>Calibri</vt:lpstr>
      <vt:lpstr>Calibri Light</vt:lpstr>
      <vt:lpstr>Source Sans Pro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gaurav singh</dc:creator>
  <cp:lastModifiedBy>DYPIU</cp:lastModifiedBy>
  <cp:revision>32</cp:revision>
  <dcterms:created xsi:type="dcterms:W3CDTF">2023-10-30T08:26:26Z</dcterms:created>
  <dcterms:modified xsi:type="dcterms:W3CDTF">2025-11-18T16:36:40Z</dcterms:modified>
</cp:coreProperties>
</file>