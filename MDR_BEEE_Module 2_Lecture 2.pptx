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79" r:id="rId3"/>
    <p:sldId id="280" r:id="rId4"/>
    <p:sldId id="267" r:id="rId5"/>
    <p:sldId id="268" r:id="rId6"/>
    <p:sldId id="464" r:id="rId7"/>
    <p:sldId id="271" r:id="rId8"/>
    <p:sldId id="467" r:id="rId9"/>
    <p:sldId id="468" r:id="rId10"/>
    <p:sldId id="471" r:id="rId11"/>
    <p:sldId id="470" r:id="rId12"/>
    <p:sldId id="473" r:id="rId13"/>
    <p:sldId id="476" r:id="rId14"/>
    <p:sldId id="275" r:id="rId15"/>
    <p:sldId id="477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582" autoAdjust="0"/>
  </p:normalViewPr>
  <p:slideViewPr>
    <p:cSldViewPr snapToGrid="0">
      <p:cViewPr varScale="1">
        <p:scale>
          <a:sx n="76" d="100"/>
          <a:sy n="76" d="100"/>
        </p:scale>
        <p:origin x="1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57C04-2F31-4F25-BBB5-DF30993EEB5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7BAD3-28E6-4C15-A559-6F869165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3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7BAD3-28E6-4C15-A559-6F869165B6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5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7BAD3-28E6-4C15-A559-6F869165B6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84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CEAB-0A1F-AB86-EC59-11BC8F54B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3A3A6-3664-E7E2-A9A1-949FC07B8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19E77-E1C4-C078-9F3D-8E28BD93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D29B3-D08A-A3D2-CA7E-45CCF3B3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29D5-9B9C-2AA8-9224-13D19561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3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83B5-3E34-6DBC-E130-A00FF71A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F2B5-693E-F87E-51C4-6ECB28CB7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4E2F-8289-1E78-C4A5-BC2E913B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112AC-2238-3265-D0AE-3D6C9F47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BB05-047D-3840-D05E-9DF40DF1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5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B598-67E8-692A-9AE1-15B0C392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14883-D32C-B2BD-74BE-C5ED08889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F3BC4-955D-2531-CE1D-875C8354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FC4A-5BBB-8669-E6C5-8201A11A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2201-E8E0-8603-B94A-65BFECFA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FBF5-0376-ED89-EEAE-AC18DE78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3A136-0193-DE4A-0937-364333D0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99852-E770-C387-A686-30B42EFEB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2E685-49E5-482D-DFAC-D32F6D9D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7A4E-ADEB-DA91-E6CC-891827BE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6FE66-7262-FEF9-166B-07F68D1E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6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BB6D-C441-C05E-3CE5-EA892C31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8C1DB-DC24-1AD7-D8BF-69E36C7FE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790CF-86DE-4BA5-2FC4-F2B7A2A02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DE7DC-EC74-9E2C-385A-F494A7C0E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00069-1418-2A18-43DD-34B1E46B1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1363F-8A2F-7B62-0763-3C8087F7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4E9FA-67C8-925C-2E42-DE3B451E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1D293-8835-CCD1-B239-EC7E4AD1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7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D9ED-837E-C32F-EDC2-5FD49386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18F4B8-12B4-B0A6-ACA5-5C619EB2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ACE45-D2C9-EAFE-778B-FB04FC09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3E833-FBF3-C367-586B-96EE681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5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B5FF8-09C6-707E-23BC-49776D9F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C8F52-BF46-557E-E3DA-7BEC0007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A3FCF-3A72-6289-EB15-97C87BED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0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83EF-5963-3D96-1E17-E864AD86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F57B7-A6DD-D093-8169-EC4B26EE1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7B1E0-ECA2-BA3B-33A5-0E6296FEC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5A236-C91B-6E12-E418-E301707F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66C55-7A81-0D7E-300E-183CC56C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D360F-F581-A7EA-25A9-52DD50BF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7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EC47-C7B5-D8F1-7739-04259B10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F1994-016A-405E-3215-0FC22C362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6ECF5-2CB5-C8D8-37F8-392477C3E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35023-4D1C-84AC-EBA9-B4BE6D86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E9F3A-91E5-356E-F9D0-2A4A38BF2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4A810-5888-20BE-F0F5-4E0CE48D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2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24C8-E9C6-ACFA-2C8A-089154B8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F989E-4201-24FC-E23A-38CD40636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11EA-FED7-7FD1-85C7-62F6F8EF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85267-24C8-645D-11B3-B380FEF1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4CADE-0DC4-BD5C-7BCC-947A7B19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3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1BB76-B9FE-1A98-7EB0-A56C65B98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B35A-FDC3-7A46-B4DC-7A1260EFF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21E94-B000-FDB4-B440-757D4940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BC9D8-E171-8A81-BB5C-98262AED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C4F0C-2524-C5BB-16EB-37D16BC4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83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47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01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52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84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24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09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6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38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00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23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2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F9A07-BCCA-BD26-668E-9DE954D3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F6069-23BF-A61F-72BE-C97F442C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DA431-EE53-305F-E6E9-459893C0B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B6FAA-11C2-48AA-B280-45997166082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1A5C-6EB5-1DFD-9D2F-6FB91C5E8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CD868-5232-AE3F-3EE8-E9298ED42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2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5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2: Semiconductor Devices and Applications</a:t>
            </a:r>
            <a:endParaRPr lang="en-IN" sz="3600" b="1" dirty="0"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2: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P-N Junction Diode: Working Principle and Characteristics, </a:t>
            </a:r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Diode Approximations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5A074-D762-631F-B7AD-B4ACB3D1F5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55" t="7336" r="21648" b="23724"/>
          <a:stretch/>
        </p:blipFill>
        <p:spPr>
          <a:xfrm>
            <a:off x="1382267" y="342858"/>
            <a:ext cx="9652401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01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8A6170-2466-6301-F76C-BA43747754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15" t="12773" r="13750" b="10493"/>
          <a:stretch/>
        </p:blipFill>
        <p:spPr>
          <a:xfrm>
            <a:off x="4682622" y="1582275"/>
            <a:ext cx="4562424" cy="5110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82DD37-2C18-4AC2-8E3D-1315A8EEE9A8}"/>
              </a:ext>
            </a:extLst>
          </p:cNvPr>
          <p:cNvSpPr txBox="1"/>
          <p:nvPr/>
        </p:nvSpPr>
        <p:spPr>
          <a:xfrm>
            <a:off x="9355668" y="1137411"/>
            <a:ext cx="2622264" cy="4583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A potential difference across the junction due to the depletion region (positive ions in the </a:t>
            </a:r>
            <a:r>
              <a:rPr lang="en-GB" sz="1400" i="1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n</a:t>
            </a:r>
            <a:r>
              <a:rPr lang="en-GB" sz="14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-Type region and the negative ions in the </a:t>
            </a:r>
            <a:r>
              <a:rPr lang="en-GB" sz="1400" i="1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p</a:t>
            </a:r>
            <a:r>
              <a:rPr lang="en-GB" sz="14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-Type region) is called as the barrier potential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1400" dirty="0">
              <a:solidFill>
                <a:srgbClr val="C00000"/>
              </a:solidFill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It’s value is 0.7 V for Silicon (Si) and 0.3 V for Germanium (Ge)</a:t>
            </a:r>
            <a:endParaRPr lang="en-IN" sz="1400" dirty="0">
              <a:solidFill>
                <a:srgbClr val="C0000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95AED-A03C-4BBF-8BE9-D56F42EC258D}"/>
              </a:ext>
            </a:extLst>
          </p:cNvPr>
          <p:cNvSpPr txBox="1"/>
          <p:nvPr/>
        </p:nvSpPr>
        <p:spPr>
          <a:xfrm>
            <a:off x="517321" y="1104141"/>
            <a:ext cx="4054679" cy="572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715" indent="-343535" algn="just">
              <a:lnSpc>
                <a:spcPct val="150000"/>
              </a:lnSpc>
              <a:spcBef>
                <a:spcPts val="105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6235" algn="l"/>
              </a:tabLs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Free electrons in the </a:t>
            </a:r>
            <a:r>
              <a:rPr lang="en-GB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region near the </a:t>
            </a:r>
            <a:r>
              <a:rPr lang="en-GB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pn</a:t>
            </a:r>
            <a:r>
              <a:rPr lang="en-GB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junction begin to diffuse across the junction and fall into holes near the junction in the </a:t>
            </a:r>
            <a:r>
              <a:rPr lang="en-GB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region</a:t>
            </a:r>
          </a:p>
          <a:p>
            <a:pPr marL="355600" marR="5715" indent="-343535" algn="just">
              <a:lnSpc>
                <a:spcPct val="150000"/>
              </a:lnSpc>
              <a:spcBef>
                <a:spcPts val="105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6235" algn="l"/>
              </a:tabLs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every electron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diffuses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junction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combines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hole,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positive </a:t>
            </a:r>
            <a:r>
              <a:rPr lang="en-GB" sz="1600" b="1" spc="-5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charge</a:t>
            </a:r>
            <a:r>
              <a:rPr lang="en-GB" sz="16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GB" sz="1600" b="1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en-GB" sz="1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GB" sz="1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GB" sz="16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GB" sz="1600" b="1" i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3535" algn="just">
              <a:lnSpc>
                <a:spcPct val="150000"/>
              </a:lnSpc>
              <a:spcBef>
                <a:spcPts val="475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6235" algn="l"/>
              </a:tabLs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negative charge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GB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GB"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region, forming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barrier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potential.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715" indent="-343535" algn="just">
              <a:lnSpc>
                <a:spcPct val="15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6235" algn="l"/>
              </a:tabLst>
            </a:pP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GB" sz="1600" b="1" spc="4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en-GB" sz="1600" b="1" spc="4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continues</a:t>
            </a:r>
            <a:r>
              <a:rPr lang="en-GB" sz="1600" b="1" spc="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until</a:t>
            </a:r>
            <a:r>
              <a:rPr lang="en-GB" sz="1600" b="1" spc="4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600" b="1" spc="-5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voltage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barrier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repels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further</a:t>
            </a:r>
            <a:r>
              <a:rPr lang="en-GB" sz="16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diffusion.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59E901-2FF4-435F-B6E3-52CB0A8C95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155" t="7336" r="21648" b="85490"/>
          <a:stretch/>
        </p:blipFill>
        <p:spPr>
          <a:xfrm>
            <a:off x="1391144" y="165497"/>
            <a:ext cx="9652401" cy="64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7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4792EE-0BEB-4094-B63B-A9C3F2F7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6" y="172743"/>
            <a:ext cx="8928987" cy="625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9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B7A36A-2360-D21D-0B66-5DE879A4FE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41" t="989" r="14477" b="13189"/>
          <a:stretch/>
        </p:blipFill>
        <p:spPr>
          <a:xfrm>
            <a:off x="1583814" y="402828"/>
            <a:ext cx="9024371" cy="60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4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6C8877-2700-4AF5-B56E-EDCD830A7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1" y="292963"/>
            <a:ext cx="11551760" cy="647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3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728EA-D5A4-4D09-9A3F-497DE9358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59" y="468296"/>
            <a:ext cx="10770521" cy="61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9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B0590-EF13-45DA-8744-27E3C86A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01" y="115827"/>
            <a:ext cx="10867722" cy="641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5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532DC-8A31-4E3C-83E8-ECC3AC8FA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26" y="0"/>
            <a:ext cx="10759647" cy="6427954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F37E941C-36E5-40FC-99F1-2699858083BA}"/>
              </a:ext>
            </a:extLst>
          </p:cNvPr>
          <p:cNvSpPr txBox="1"/>
          <p:nvPr/>
        </p:nvSpPr>
        <p:spPr>
          <a:xfrm>
            <a:off x="1394191" y="1927313"/>
            <a:ext cx="10299782" cy="43787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5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Unlike charges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attract,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the positive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side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of the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bias-voltage source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“pulls”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the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free electrons,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which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are the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majority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carriers in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the </a:t>
            </a:r>
            <a:r>
              <a:rPr sz="1400" i="1" dirty="0">
                <a:latin typeface="Arial Black" panose="020B0A04020102020204" pitchFamily="34" charset="0"/>
                <a:cs typeface="Arial" panose="020B0604020202020204" pitchFamily="34" charset="0"/>
              </a:rPr>
              <a:t>n </a:t>
            </a:r>
            <a:r>
              <a:rPr sz="1400" i="1" spc="5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region,</a:t>
            </a:r>
            <a:r>
              <a:rPr sz="1400" spc="-15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away</a:t>
            </a:r>
            <a:r>
              <a:rPr sz="1400" spc="5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from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the</a:t>
            </a:r>
            <a:r>
              <a:rPr sz="1400" spc="1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i="1" dirty="0" err="1">
                <a:latin typeface="Arial Black" panose="020B0A04020102020204" pitchFamily="34" charset="0"/>
                <a:cs typeface="Arial" panose="020B0604020202020204" pitchFamily="34" charset="0"/>
              </a:rPr>
              <a:t>pn</a:t>
            </a:r>
            <a:r>
              <a:rPr sz="1400" i="1" spc="-25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junction</a:t>
            </a:r>
            <a:endParaRPr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475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As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the electrons flow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toward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the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positive side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of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the voltage source, additional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positive</a:t>
            </a:r>
            <a:r>
              <a:rPr sz="1400" spc="35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ions</a:t>
            </a:r>
            <a:r>
              <a:rPr sz="1400" spc="5" dirty="0">
                <a:latin typeface="Arial Black" panose="020B0A04020102020204" pitchFamily="34" charset="0"/>
                <a:cs typeface="Arial" panose="020B0604020202020204" pitchFamily="34" charset="0"/>
              </a:rPr>
              <a:t> are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created</a:t>
            </a:r>
          </a:p>
          <a:p>
            <a:pPr marL="354965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This results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in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a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widening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of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the depletion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region and 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a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depletion </a:t>
            </a:r>
            <a:r>
              <a:rPr sz="1400" spc="-10" dirty="0">
                <a:latin typeface="Arial Black" panose="020B0A04020102020204" pitchFamily="34" charset="0"/>
                <a:cs typeface="Arial" panose="020B0604020202020204" pitchFamily="34" charset="0"/>
              </a:rPr>
              <a:t>of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majority</a:t>
            </a:r>
            <a:r>
              <a:rPr sz="14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Arial" panose="020B0604020202020204" pitchFamily="34" charset="0"/>
              </a:rPr>
              <a:t>carriers</a:t>
            </a:r>
            <a:endParaRPr lang="en-IN" sz="1400" spc="-5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Arial" panose="020B0604020202020204" pitchFamily="34" charset="0"/>
              </a:rPr>
              <a:t>In the p region, electrons from the negative side of the  voltage source enter as valence electrons and move  from hole to hole toward the depletion region where they create additional negative ions</a:t>
            </a:r>
          </a:p>
          <a:p>
            <a:pPr marL="354965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Arial" panose="020B0604020202020204" pitchFamily="34" charset="0"/>
              </a:rPr>
              <a:t>The flow of valence electrons can be viewed as holes being “pulled” toward  the positive side</a:t>
            </a:r>
          </a:p>
          <a:p>
            <a:pPr marL="354965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Arial" panose="020B0604020202020204" pitchFamily="34" charset="0"/>
              </a:rPr>
              <a:t>This results in a widening of the depletion region and a depletion of majority carriers</a:t>
            </a:r>
          </a:p>
          <a:p>
            <a:pPr marL="354965" marR="5080" indent="-342900" algn="just"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Arial" panose="020B0604020202020204" pitchFamily="34" charset="0"/>
              </a:rPr>
              <a:t>As more of the n and p regions become depleted of majority carriers, the electric field between the positive and negative ions increases in strength until the potential across the depletion region equals the bias voltage, V</a:t>
            </a:r>
            <a:r>
              <a:rPr lang="en-GB" sz="1100" dirty="0">
                <a:latin typeface="Arial Black" panose="020B0A04020102020204" pitchFamily="34" charset="0"/>
                <a:cs typeface="Arial" panose="020B0604020202020204" pitchFamily="34" charset="0"/>
              </a:rPr>
              <a:t>BIAS</a:t>
            </a:r>
            <a:endParaRPr lang="en-GB"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54965" marR="5080" indent="-342900" algn="just"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Arial" panose="020B0604020202020204" pitchFamily="34" charset="0"/>
              </a:rPr>
              <a:t>At this point, the transition current essentially ceases</a:t>
            </a:r>
          </a:p>
          <a:p>
            <a:pPr marL="354965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Arial" panose="020B0604020202020204" pitchFamily="34" charset="0"/>
              </a:rPr>
              <a:t>Thus, initial flow of majority charge carriers is transitional and lasts for only a very short time after the reverse-bias voltage is applied</a:t>
            </a:r>
          </a:p>
          <a:p>
            <a:pPr marL="354965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endParaRPr lang="en-GB"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endParaRPr lang="en-IN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33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532DC-8A31-4E3C-83E8-ECC3AC8FA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26" y="-62665"/>
            <a:ext cx="10759647" cy="642795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1E1C3708-C30B-4E4A-AEAF-7779DAC1C615}"/>
              </a:ext>
            </a:extLst>
          </p:cNvPr>
          <p:cNvSpPr txBox="1"/>
          <p:nvPr/>
        </p:nvSpPr>
        <p:spPr>
          <a:xfrm>
            <a:off x="1234107" y="1860115"/>
            <a:ext cx="10386763" cy="4683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475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IN" sz="1400" dirty="0">
                <a:latin typeface="Arial Black" panose="020B0A04020102020204" pitchFamily="34" charset="0"/>
                <a:cs typeface="Microsoft Sans Serif"/>
              </a:rPr>
              <a:t>At the same time, t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he</a:t>
            </a:r>
            <a:r>
              <a:rPr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small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number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of</a:t>
            </a:r>
            <a:r>
              <a:rPr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free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minority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electrons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in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the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i="1" dirty="0">
                <a:latin typeface="Arial Black" panose="020B0A04020102020204" pitchFamily="34" charset="0"/>
                <a:cs typeface="Arial"/>
              </a:rPr>
              <a:t>p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region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are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“pushed”</a:t>
            </a:r>
            <a:r>
              <a:rPr sz="1400" spc="-2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toward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the</a:t>
            </a:r>
            <a:r>
              <a:rPr sz="1400" spc="1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i="1" dirty="0">
                <a:latin typeface="Arial Black" panose="020B0A04020102020204" pitchFamily="34" charset="0"/>
                <a:cs typeface="Arial"/>
              </a:rPr>
              <a:t>pn</a:t>
            </a:r>
            <a:r>
              <a:rPr sz="1400" i="1" spc="-25" dirty="0">
                <a:latin typeface="Arial Black" panose="020B0A04020102020204" pitchFamily="34" charset="0"/>
                <a:cs typeface="Arial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junction</a:t>
            </a:r>
            <a:r>
              <a:rPr sz="1400" spc="1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by</a:t>
            </a:r>
            <a:r>
              <a:rPr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the</a:t>
            </a:r>
            <a:r>
              <a:rPr sz="1400" spc="1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negative 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bias</a:t>
            </a:r>
            <a:r>
              <a:rPr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voltage</a:t>
            </a:r>
            <a:endParaRPr sz="1400" dirty="0">
              <a:latin typeface="Arial Black" panose="020B0A04020102020204" pitchFamily="34" charset="0"/>
              <a:cs typeface="Microsoft Sans Serif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sz="1400" spc="-5" dirty="0">
                <a:latin typeface="Arial Black" panose="020B0A04020102020204" pitchFamily="34" charset="0"/>
                <a:cs typeface="Microsoft Sans Serif"/>
              </a:rPr>
              <a:t>When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these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electrons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reach</a:t>
            </a:r>
            <a:r>
              <a:rPr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the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wide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depletion region,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they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easily pass through the depletion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region as </a:t>
            </a:r>
            <a:r>
              <a:rPr lang="en-GB" sz="1400" spc="-10" dirty="0">
                <a:latin typeface="Arial Black" panose="020B0A04020102020204" pitchFamily="34" charset="0"/>
                <a:cs typeface="Microsoft Sans Serif"/>
              </a:rPr>
              <a:t>they</a:t>
            </a:r>
            <a:r>
              <a:rPr lang="en-GB" sz="1400" spc="2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require</a:t>
            </a:r>
            <a:r>
              <a:rPr lang="en-GB" sz="1400" spc="-2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no</a:t>
            </a:r>
            <a:r>
              <a:rPr lang="en-GB" sz="1400" spc="1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additional</a:t>
            </a:r>
            <a:r>
              <a:rPr lang="en-GB"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energy </a:t>
            </a:r>
            <a:endParaRPr lang="en-GB" sz="1400" spc="-5" dirty="0">
              <a:latin typeface="Arial Black" panose="020B0A04020102020204" pitchFamily="34" charset="0"/>
              <a:cs typeface="Microsoft Sans Serif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These electrons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combine with the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minority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holes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in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the </a:t>
            </a:r>
            <a:r>
              <a:rPr sz="1400" i="1" dirty="0">
                <a:latin typeface="Arial Black" panose="020B0A04020102020204" pitchFamily="34" charset="0"/>
                <a:cs typeface="Arial"/>
              </a:rPr>
              <a:t>n</a:t>
            </a:r>
            <a:r>
              <a:rPr sz="1400" i="1" spc="5" dirty="0">
                <a:latin typeface="Arial Black" panose="020B0A04020102020204" pitchFamily="34" charset="0"/>
                <a:cs typeface="Arial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region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as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valence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electrons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and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flow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toward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10" dirty="0">
                <a:latin typeface="Arial Black" panose="020B0A04020102020204" pitchFamily="34" charset="0"/>
                <a:cs typeface="Microsoft Sans Serif"/>
              </a:rPr>
              <a:t>the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 positive</a:t>
            </a:r>
            <a:r>
              <a:rPr lang="en-IN" sz="1400" spc="-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bias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voltage,</a:t>
            </a:r>
            <a:r>
              <a:rPr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creating 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a</a:t>
            </a:r>
            <a:r>
              <a:rPr lang="en-IN" sz="1400" dirty="0">
                <a:latin typeface="Arial Black" panose="020B0A04020102020204" pitchFamily="34" charset="0"/>
                <a:cs typeface="Microsoft Sans Serif"/>
              </a:rPr>
              <a:t>n extremely</a:t>
            </a:r>
            <a:r>
              <a:rPr sz="1400" spc="1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spc="-5" dirty="0">
                <a:latin typeface="Arial Black" panose="020B0A04020102020204" pitchFamily="34" charset="0"/>
                <a:cs typeface="Microsoft Sans Serif"/>
              </a:rPr>
              <a:t>small</a:t>
            </a:r>
            <a:r>
              <a:rPr sz="1400" spc="2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sz="1400" dirty="0">
                <a:latin typeface="Arial Black" panose="020B0A04020102020204" pitchFamily="34" charset="0"/>
                <a:cs typeface="Microsoft Sans Serif"/>
              </a:rPr>
              <a:t>current</a:t>
            </a:r>
            <a:endParaRPr lang="en-IN" sz="1400" dirty="0">
              <a:latin typeface="Arial Black" panose="020B0A04020102020204" pitchFamily="34" charset="0"/>
              <a:cs typeface="Microsoft Sans Serif"/>
            </a:endParaRPr>
          </a:p>
          <a:p>
            <a:pPr marL="355600" marR="5080" indent="-342900" algn="just"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Thus, the</a:t>
            </a:r>
            <a:r>
              <a:rPr lang="en-GB"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extremely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small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current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10" dirty="0">
                <a:latin typeface="Arial Black" panose="020B0A04020102020204" pitchFamily="34" charset="0"/>
                <a:cs typeface="Microsoft Sans Serif"/>
              </a:rPr>
              <a:t>that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 exists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10" dirty="0">
                <a:latin typeface="Arial Black" panose="020B0A04020102020204" pitchFamily="34" charset="0"/>
                <a:cs typeface="Microsoft Sans Serif"/>
              </a:rPr>
              <a:t>in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 reverse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 bias</a:t>
            </a:r>
            <a:r>
              <a:rPr lang="en-GB" sz="1400" spc="5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10" dirty="0">
                <a:latin typeface="Arial Black" panose="020B0A04020102020204" pitchFamily="34" charset="0"/>
                <a:cs typeface="Microsoft Sans Serif"/>
              </a:rPr>
              <a:t>after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 the</a:t>
            </a:r>
            <a:r>
              <a:rPr lang="en-GB" sz="1400" spc="-520" dirty="0">
                <a:latin typeface="Arial Black" panose="020B0A04020102020204" pitchFamily="34" charset="0"/>
                <a:cs typeface="Microsoft Sans Serif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transition current 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dies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out </a:t>
            </a:r>
            <a:r>
              <a:rPr lang="en-GB" sz="1400" spc="-10" dirty="0">
                <a:latin typeface="Arial Black" panose="020B0A04020102020204" pitchFamily="34" charset="0"/>
                <a:cs typeface="Microsoft Sans Serif"/>
              </a:rPr>
              <a:t>is called as the </a:t>
            </a:r>
            <a:r>
              <a:rPr lang="en-GB" sz="1400" spc="-10" dirty="0">
                <a:solidFill>
                  <a:srgbClr val="C00000"/>
                </a:solidFill>
                <a:latin typeface="Arial Black" panose="020B0A04020102020204" pitchFamily="34" charset="0"/>
                <a:cs typeface="Microsoft Sans Serif"/>
              </a:rPr>
              <a:t>reverse current </a:t>
            </a:r>
            <a:r>
              <a:rPr lang="en-GB" sz="1400" spc="-10" dirty="0">
                <a:latin typeface="Arial Black" panose="020B0A04020102020204" pitchFamily="34" charset="0"/>
                <a:cs typeface="Microsoft Sans Serif"/>
              </a:rPr>
              <a:t>and is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caused 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by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the minority </a:t>
            </a:r>
            <a:r>
              <a:rPr lang="en-GB" sz="1400" spc="-10" dirty="0">
                <a:latin typeface="Arial Black" panose="020B0A04020102020204" pitchFamily="34" charset="0"/>
                <a:cs typeface="Microsoft Sans Serif"/>
              </a:rPr>
              <a:t>carriers in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the </a:t>
            </a:r>
            <a:r>
              <a:rPr lang="en-GB" sz="1400" i="1" dirty="0">
                <a:latin typeface="Arial Black" panose="020B0A04020102020204" pitchFamily="34" charset="0"/>
                <a:cs typeface="Arial"/>
              </a:rPr>
              <a:t>n</a:t>
            </a:r>
            <a:r>
              <a:rPr lang="en-GB" sz="1400" i="1" spc="5" dirty="0">
                <a:latin typeface="Arial Black" panose="020B0A04020102020204" pitchFamily="34" charset="0"/>
                <a:cs typeface="Arial"/>
              </a:rPr>
              <a:t>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and </a:t>
            </a:r>
            <a:r>
              <a:rPr lang="en-GB" sz="1400" i="1" dirty="0">
                <a:latin typeface="Arial Black" panose="020B0A04020102020204" pitchFamily="34" charset="0"/>
                <a:cs typeface="Arial"/>
              </a:rPr>
              <a:t>p </a:t>
            </a:r>
            <a:r>
              <a:rPr lang="en-GB" sz="1400" spc="-5" dirty="0">
                <a:latin typeface="Arial Black" panose="020B0A04020102020204" pitchFamily="34" charset="0"/>
                <a:cs typeface="Microsoft Sans Serif"/>
              </a:rPr>
              <a:t>regions generated due to thermal agitation</a:t>
            </a:r>
            <a:endParaRPr sz="1400" dirty="0">
              <a:latin typeface="Arial Black" panose="020B0A04020102020204" pitchFamily="34" charset="0"/>
              <a:cs typeface="Microsoft Sans Serif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Normally, the reverse current is very small and can be neglected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Now, if the external reverse-bias voltage is increased to a value called as </a:t>
            </a:r>
            <a:r>
              <a:rPr lang="en-GB" sz="1400" dirty="0">
                <a:solidFill>
                  <a:srgbClr val="C00000"/>
                </a:solidFill>
                <a:latin typeface="Arial Black" panose="020B0A04020102020204" pitchFamily="34" charset="0"/>
                <a:cs typeface="Microsoft Sans Serif"/>
              </a:rPr>
              <a:t>breakdown voltage</a:t>
            </a: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, it imparts energy to the free minority electrons so that as they speed through the p region, they collide with atoms with enough energy to knock valence electrons out of their orbit and into the conduction band</a:t>
            </a:r>
          </a:p>
          <a:p>
            <a:pPr marL="355600" marR="6350" indent="-342900" algn="just"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The newly created conduction electrons are also high in energy and repeat the process, thus the number of electrons quickly multiply</a:t>
            </a:r>
          </a:p>
          <a:p>
            <a:pPr marL="355600" marR="6350" indent="-342900" algn="just"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The reverse current increases drastically to the value called as </a:t>
            </a:r>
            <a:r>
              <a:rPr lang="en-GB" sz="1400" dirty="0">
                <a:solidFill>
                  <a:srgbClr val="C00000"/>
                </a:solidFill>
                <a:latin typeface="Arial Black" panose="020B0A04020102020204" pitchFamily="34" charset="0"/>
                <a:cs typeface="Microsoft Sans Serif"/>
              </a:rPr>
              <a:t>reverse saturation current </a:t>
            </a:r>
          </a:p>
          <a:p>
            <a:pPr marL="355600" marR="6350" indent="-342900" algn="just"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This may permanently damage the diode if steps are not taken to limit the current</a:t>
            </a:r>
          </a:p>
          <a:p>
            <a:pPr marL="355600" marR="6350" indent="-342900" algn="just">
              <a:spcBef>
                <a:spcPts val="480"/>
              </a:spcBef>
              <a:buClr>
                <a:srgbClr val="CC9900"/>
              </a:buClr>
              <a:buSzPct val="65000"/>
              <a:buFont typeface="PMingLiU-ExtB"/>
              <a:buChar char="■"/>
              <a:tabLst>
                <a:tab pos="355600" algn="l"/>
              </a:tabLst>
            </a:pPr>
            <a:r>
              <a:rPr lang="en-GB" sz="1400" dirty="0">
                <a:latin typeface="Arial Black" panose="020B0A04020102020204" pitchFamily="34" charset="0"/>
                <a:cs typeface="Microsoft Sans Serif"/>
              </a:rPr>
              <a:t>This effect is known as the </a:t>
            </a:r>
            <a:r>
              <a:rPr lang="en-GB" sz="1400" dirty="0">
                <a:solidFill>
                  <a:srgbClr val="C00000"/>
                </a:solidFill>
                <a:latin typeface="Arial Black" panose="020B0A04020102020204" pitchFamily="34" charset="0"/>
                <a:cs typeface="Microsoft Sans Serif"/>
              </a:rPr>
              <a:t>avalanche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073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D2BCD-2CAC-4E3C-9FF0-06C50A4E2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83" y="278178"/>
            <a:ext cx="11400825" cy="630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1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53D5D1-1FE6-043A-3A1F-CE84ADE705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1112" r="13264" b="10494"/>
          <a:stretch/>
        </p:blipFill>
        <p:spPr>
          <a:xfrm>
            <a:off x="1507215" y="302863"/>
            <a:ext cx="9177569" cy="625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7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836F4-6E77-4078-B76D-8D25E5F5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34" y="375806"/>
            <a:ext cx="10986682" cy="595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9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384298" y="2624328"/>
            <a:ext cx="7423404" cy="3026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5804</TotalTime>
  <Words>630</Words>
  <Application>Microsoft Office PowerPoint</Application>
  <PresentationFormat>Widescreen</PresentationFormat>
  <Paragraphs>38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PMingLiU-ExtB</vt:lpstr>
      <vt:lpstr>Arial</vt:lpstr>
      <vt:lpstr>Arial Black</vt:lpstr>
      <vt:lpstr>Calibri</vt:lpstr>
      <vt:lpstr>Calibri Light</vt:lpstr>
      <vt:lpstr>Source Sans Pro</vt:lpstr>
      <vt:lpstr>Times New Roman</vt:lpstr>
      <vt:lpstr>Wingdings</vt:lpstr>
      <vt:lpstr>Office Theme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199</cp:revision>
  <dcterms:created xsi:type="dcterms:W3CDTF">2022-10-16T18:26:52Z</dcterms:created>
  <dcterms:modified xsi:type="dcterms:W3CDTF">2025-10-30T17:52:35Z</dcterms:modified>
</cp:coreProperties>
</file>