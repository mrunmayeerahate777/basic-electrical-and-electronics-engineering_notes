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311" r:id="rId3"/>
    <p:sldId id="312" r:id="rId4"/>
    <p:sldId id="287" r:id="rId5"/>
    <p:sldId id="324" r:id="rId6"/>
    <p:sldId id="314" r:id="rId7"/>
    <p:sldId id="322" r:id="rId8"/>
    <p:sldId id="323" r:id="rId9"/>
    <p:sldId id="31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29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09CF1-61B3-41B0-A8BC-DDDEA565EB34}"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CF7A4-0BCD-4295-8C63-FB88310A2B4B}" type="slidenum">
              <a:rPr lang="en-US" smtClean="0"/>
              <a:t>‹#›</a:t>
            </a:fld>
            <a:endParaRPr lang="en-US"/>
          </a:p>
        </p:txBody>
      </p:sp>
    </p:spTree>
    <p:extLst>
      <p:ext uri="{BB962C8B-B14F-4D97-AF65-F5344CB8AC3E}">
        <p14:creationId xmlns:p14="http://schemas.microsoft.com/office/powerpoint/2010/main" val="2682346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DCCC6F-D71C-43FE-B589-BB073785CCC8}" type="slidenum">
              <a:rPr lang="en-US" smtClean="0"/>
              <a:t>1</a:t>
            </a:fld>
            <a:endParaRPr lang="en-US"/>
          </a:p>
        </p:txBody>
      </p:sp>
    </p:spTree>
    <p:extLst>
      <p:ext uri="{BB962C8B-B14F-4D97-AF65-F5344CB8AC3E}">
        <p14:creationId xmlns:p14="http://schemas.microsoft.com/office/powerpoint/2010/main" val="2032382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A138D-5C0C-DF49-BD06-D5FC85F9A8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FD12FB-7298-7A60-D0FF-C3B7529EC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C81E87-35DD-F5C7-127D-99E25F885B0F}"/>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BB4ADE55-FB43-0E4A-44E6-2BE0F9883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E7A037-92B1-E88A-A5DF-C51A24663453}"/>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465369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0778-D376-E11E-A73F-D510FD640B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4C7577-9C4A-5ABB-74B0-4C813F748A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47F71-5B9F-23A2-A3A4-8296BE5BDF48}"/>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EEAACE4D-BF27-91B6-B939-E491172BB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F26C3-7A75-0723-1021-7E9ACA5AE790}"/>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748804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4994-F9FA-E66D-8662-585FC9D5AC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BCB1A3-0F72-D466-4B22-5B0B5EE4C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63A6A7-DA01-7C39-46C1-AB542836CD39}"/>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B5DEFBB1-A10F-B366-7688-9E0B7A726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7691E-627E-90F5-14E6-31D71EE8A2BE}"/>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4280127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7010-2587-1811-C4C8-3474A627D5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FD023E-5F58-6DE9-3B11-C2DF960A9D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16BF6C-0D3A-29E4-FC04-21BFA95734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09892F-B951-6F67-C477-FDA846378747}"/>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6" name="Footer Placeholder 5">
            <a:extLst>
              <a:ext uri="{FF2B5EF4-FFF2-40B4-BE49-F238E27FC236}">
                <a16:creationId xmlns:a16="http://schemas.microsoft.com/office/drawing/2014/main" id="{E2D30C04-A5FE-2701-3B8C-6A02C17054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261A5A-F984-26EF-03CE-035363044EE9}"/>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3436236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9897-67AF-E49D-F73E-6C275FDB9E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217454-899B-E2F0-BBE5-954E9E02CD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0A99B4-041C-1514-F5D5-4F317BD6BE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AB1AA2-7A4C-3386-1FB7-0A83FF3131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4928A-1323-6B86-1989-AB2C189AD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19043B-F1F6-15FD-E0D1-3CFBB0EEB3A1}"/>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8" name="Footer Placeholder 7">
            <a:extLst>
              <a:ext uri="{FF2B5EF4-FFF2-40B4-BE49-F238E27FC236}">
                <a16:creationId xmlns:a16="http://schemas.microsoft.com/office/drawing/2014/main" id="{82B7F5DF-C706-DA4D-6B43-9B8BADF9FE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D37ECF-DCD0-A098-8F73-1DEE9DA165E4}"/>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1184291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44E76-4724-D3E8-C245-AAA22ADD21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1D1435-7CCF-6AC7-7938-7740511F2916}"/>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4" name="Footer Placeholder 3">
            <a:extLst>
              <a:ext uri="{FF2B5EF4-FFF2-40B4-BE49-F238E27FC236}">
                <a16:creationId xmlns:a16="http://schemas.microsoft.com/office/drawing/2014/main" id="{62720600-DC79-AE95-FBE4-7263BE5A11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B2A1B3-4955-E81C-762F-30E1763B9623}"/>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3292910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F5B6CA-A348-8F74-8D94-C2DDECC44106}"/>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3" name="Footer Placeholder 2">
            <a:extLst>
              <a:ext uri="{FF2B5EF4-FFF2-40B4-BE49-F238E27FC236}">
                <a16:creationId xmlns:a16="http://schemas.microsoft.com/office/drawing/2014/main" id="{44CB3DA9-9D6C-195C-8AAC-96324D9F85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B6EA38-D914-F5CD-56CF-69535A113381}"/>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1941602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B34C4-9800-4D46-6B08-CE1BBA1F1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A2D5D3-7138-1A4C-C0FA-A5AF8D3552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9353E8-23F3-03C9-2B52-07AC0D72FF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59F8D-AA2C-3403-193C-40E156C445E0}"/>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6" name="Footer Placeholder 5">
            <a:extLst>
              <a:ext uri="{FF2B5EF4-FFF2-40B4-BE49-F238E27FC236}">
                <a16:creationId xmlns:a16="http://schemas.microsoft.com/office/drawing/2014/main" id="{9AB9F207-A133-811E-3AD8-CC2F425CE9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F3FE2F-2206-BCB2-EA6C-EB74BEC5C7B9}"/>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1523988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AEBCE-FC60-731F-C0B6-D475DC9E8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69CE7D-CE32-AF85-5F46-996A0D569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8381A5-E142-998D-7958-4381F0CAC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963381-40FC-9D80-7422-7DDE7378F519}"/>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6" name="Footer Placeholder 5">
            <a:extLst>
              <a:ext uri="{FF2B5EF4-FFF2-40B4-BE49-F238E27FC236}">
                <a16:creationId xmlns:a16="http://schemas.microsoft.com/office/drawing/2014/main" id="{32BFE4B1-A9AE-D4C9-BF89-00ACC71D84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0083A-7D12-5C07-8E7F-A17D66101DD3}"/>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2048114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351E-AFC3-CE13-A4F3-D8131805EB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7DD97B-EFB9-5BF0-D6A8-2CEDD84637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D812D-34F6-803A-87D5-904E0269C96C}"/>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60CB204B-88B0-5231-7691-5C9075A5B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850A3-CBF4-4988-6DD5-9C655EC6C446}"/>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860719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248BC-8F96-1E8D-687A-F5D03B0F00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164210-2589-D2D8-7671-5121CC4F1B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B7742-12E1-A4F5-9B0A-7E4358D57544}"/>
              </a:ext>
            </a:extLst>
          </p:cNvPr>
          <p:cNvSpPr>
            <a:spLocks noGrp="1"/>
          </p:cNvSpPr>
          <p:nvPr>
            <p:ph type="dt" sz="half" idx="10"/>
          </p:nvPr>
        </p:nvSpPr>
        <p:spPr/>
        <p:txBody>
          <a:body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8EA6DD7C-C845-BECE-8C81-A30E4CBA1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8D12E-0F6E-BBC0-12EF-A9FA89990F2B}"/>
              </a:ext>
            </a:extLst>
          </p:cNvPr>
          <p:cNvSpPr>
            <a:spLocks noGrp="1"/>
          </p:cNvSpPr>
          <p:nvPr>
            <p:ph type="sldNum" sz="quarter" idx="12"/>
          </p:nvPr>
        </p:nvSpPr>
        <p:spPr/>
        <p:txBody>
          <a:bodyPr/>
          <a:lstStyle/>
          <a:p>
            <a:fld id="{95886AF8-C397-44C9-9C4B-67B340CB9C33}" type="slidenum">
              <a:rPr lang="en-US" smtClean="0"/>
              <a:t>‹#›</a:t>
            </a:fld>
            <a:endParaRPr lang="en-US"/>
          </a:p>
        </p:txBody>
      </p:sp>
    </p:spTree>
    <p:extLst>
      <p:ext uri="{BB962C8B-B14F-4D97-AF65-F5344CB8AC3E}">
        <p14:creationId xmlns:p14="http://schemas.microsoft.com/office/powerpoint/2010/main" val="2776071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D7F8B94F-D5FD-4D9B-A185-7C81344BCB9C}" type="datetimeFigureOut">
              <a:rPr lang="en-US" smtClean="0"/>
              <a:t>11/6/2025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2601373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107551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F8B94F-D5FD-4D9B-A185-7C81344BCB9C}"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232682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F8B94F-D5FD-4D9B-A185-7C81344BCB9C}"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365200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F8B94F-D5FD-4D9B-A185-7C81344BCB9C}"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088780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F8B94F-D5FD-4D9B-A185-7C81344BCB9C}"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298311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F8B94F-D5FD-4D9B-A185-7C81344BCB9C}"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1015509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D7F8B94F-D5FD-4D9B-A185-7C81344BCB9C}"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2169045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D7F8B94F-D5FD-4D9B-A185-7C81344BCB9C}" type="datetimeFigureOut">
              <a:rPr lang="en-US" smtClean="0"/>
              <a:t>11/6/2025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397164039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10377882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1677746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FDF685-B783-9CFF-70D7-E15EAAF9AF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F55D5F-F49A-E8BD-06D9-027D0BB53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197F48-6EE4-0435-A20C-63A397F55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93572-B274-498D-848B-411DE9428C03}" type="datetimeFigureOut">
              <a:rPr lang="en-US" smtClean="0"/>
              <a:t>11/6/2025</a:t>
            </a:fld>
            <a:endParaRPr lang="en-US"/>
          </a:p>
        </p:txBody>
      </p:sp>
      <p:sp>
        <p:nvSpPr>
          <p:cNvPr id="5" name="Footer Placeholder 4">
            <a:extLst>
              <a:ext uri="{FF2B5EF4-FFF2-40B4-BE49-F238E27FC236}">
                <a16:creationId xmlns:a16="http://schemas.microsoft.com/office/drawing/2014/main" id="{8A2E7EBF-77AE-D075-C253-0FDECA05D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0E571B7-18F2-17C6-F79D-FA1F7577A8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886AF8-C397-44C9-9C4B-67B340CB9C33}" type="slidenum">
              <a:rPr lang="en-US" smtClean="0"/>
              <a:t>‹#›</a:t>
            </a:fld>
            <a:endParaRPr lang="en-US"/>
          </a:p>
        </p:txBody>
      </p:sp>
    </p:spTree>
    <p:extLst>
      <p:ext uri="{BB962C8B-B14F-4D97-AF65-F5344CB8AC3E}">
        <p14:creationId xmlns:p14="http://schemas.microsoft.com/office/powerpoint/2010/main" val="3413000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alpha val="51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D7F8B94F-D5FD-4D9B-A185-7C81344BCB9C}" type="datetimeFigureOut">
              <a:rPr lang="en-US" smtClean="0"/>
              <a:t>11/6/2025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190474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2D925B0-AE19-E2B9-658A-C8272B84BF68}"/>
              </a:ext>
            </a:extLst>
          </p:cNvPr>
          <p:cNvSpPr txBox="1"/>
          <p:nvPr/>
        </p:nvSpPr>
        <p:spPr>
          <a:xfrm>
            <a:off x="0" y="321839"/>
            <a:ext cx="12191999"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BASIC ELECTRICAL AND ELECTRONICS ENGINEERING </a:t>
            </a:r>
          </a:p>
        </p:txBody>
      </p:sp>
      <p:sp>
        <p:nvSpPr>
          <p:cNvPr id="9" name="TextBox 8">
            <a:extLst>
              <a:ext uri="{FF2B5EF4-FFF2-40B4-BE49-F238E27FC236}">
                <a16:creationId xmlns:a16="http://schemas.microsoft.com/office/drawing/2014/main" id="{CB862FAA-F529-C553-DAA9-DE1301ED3032}"/>
              </a:ext>
            </a:extLst>
          </p:cNvPr>
          <p:cNvSpPr txBox="1"/>
          <p:nvPr/>
        </p:nvSpPr>
        <p:spPr>
          <a:xfrm>
            <a:off x="0" y="922475"/>
            <a:ext cx="1219200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Course Code: CSE1002</a:t>
            </a:r>
          </a:p>
        </p:txBody>
      </p:sp>
      <p:sp>
        <p:nvSpPr>
          <p:cNvPr id="11" name="TextBox 10">
            <a:extLst>
              <a:ext uri="{FF2B5EF4-FFF2-40B4-BE49-F238E27FC236}">
                <a16:creationId xmlns:a16="http://schemas.microsoft.com/office/drawing/2014/main" id="{C819A555-6C9B-8A0A-5EF3-8850BD6F8A4C}"/>
              </a:ext>
            </a:extLst>
          </p:cNvPr>
          <p:cNvSpPr txBox="1"/>
          <p:nvPr/>
        </p:nvSpPr>
        <p:spPr>
          <a:xfrm>
            <a:off x="0" y="4624604"/>
            <a:ext cx="12192000" cy="830997"/>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Mrunmayee Rahate</a:t>
            </a:r>
          </a:p>
          <a:p>
            <a:pPr algn="ctr"/>
            <a:r>
              <a:rPr lang="en-US" sz="2400" b="1" dirty="0">
                <a:latin typeface="Times New Roman" panose="02020603050405020304" pitchFamily="18" charset="0"/>
                <a:cs typeface="Times New Roman" panose="02020603050405020304" pitchFamily="18" charset="0"/>
              </a:rPr>
              <a:t> Assistant Professor, DYPIU</a:t>
            </a:r>
          </a:p>
        </p:txBody>
      </p:sp>
      <p:pic>
        <p:nvPicPr>
          <p:cNvPr id="13" name="Picture 12">
            <a:extLst>
              <a:ext uri="{FF2B5EF4-FFF2-40B4-BE49-F238E27FC236}">
                <a16:creationId xmlns:a16="http://schemas.microsoft.com/office/drawing/2014/main" id="{7BC1866A-9491-240C-FA66-458DACD07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886" y="2312437"/>
            <a:ext cx="1800225" cy="1800225"/>
          </a:xfrm>
          <a:prstGeom prst="rect">
            <a:avLst/>
          </a:prstGeom>
        </p:spPr>
      </p:pic>
      <p:sp>
        <p:nvSpPr>
          <p:cNvPr id="8" name="TextBox 7">
            <a:extLst>
              <a:ext uri="{FF2B5EF4-FFF2-40B4-BE49-F238E27FC236}">
                <a16:creationId xmlns:a16="http://schemas.microsoft.com/office/drawing/2014/main" id="{7A642395-5764-B4A9-7211-391B05C4E175}"/>
              </a:ext>
            </a:extLst>
          </p:cNvPr>
          <p:cNvSpPr txBox="1"/>
          <p:nvPr/>
        </p:nvSpPr>
        <p:spPr>
          <a:xfrm>
            <a:off x="2" y="1573301"/>
            <a:ext cx="1219199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b="1" dirty="0">
                <a:solidFill>
                  <a:schemeClr val="tx1"/>
                </a:solidFill>
                <a:latin typeface="Times New Roman" panose="02020603050405020304" pitchFamily="18" charset="0"/>
                <a:cs typeface="Times New Roman" panose="02020603050405020304" pitchFamily="18" charset="0"/>
              </a:rPr>
              <a:t>SCHOOL OF COMPUTER SCIENCE ENGINEERING AND APPLICATIONS</a:t>
            </a:r>
          </a:p>
        </p:txBody>
      </p:sp>
    </p:spTree>
    <p:extLst>
      <p:ext uri="{BB962C8B-B14F-4D97-AF65-F5344CB8AC3E}">
        <p14:creationId xmlns:p14="http://schemas.microsoft.com/office/powerpoint/2010/main" val="105255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000" fill="hold"/>
                                        <p:tgtEl>
                                          <p:spTgt spid="9"/>
                                        </p:tgtEl>
                                        <p:attrNameLst>
                                          <p:attrName>ppt_w</p:attrName>
                                        </p:attrNameLst>
                                      </p:cBhvr>
                                      <p:tavLst>
                                        <p:tav tm="0">
                                          <p:val>
                                            <p:fltVal val="0"/>
                                          </p:val>
                                        </p:tav>
                                        <p:tav tm="100000">
                                          <p:val>
                                            <p:strVal val="#ppt_w"/>
                                          </p:val>
                                        </p:tav>
                                      </p:tavLst>
                                    </p:anim>
                                    <p:anim calcmode="lin" valueType="num">
                                      <p:cBhvr>
                                        <p:cTn id="13" dur="1000" fill="hold"/>
                                        <p:tgtEl>
                                          <p:spTgt spid="9"/>
                                        </p:tgtEl>
                                        <p:attrNameLst>
                                          <p:attrName>ppt_h</p:attrName>
                                        </p:attrNameLst>
                                      </p:cBhvr>
                                      <p:tavLst>
                                        <p:tav tm="0">
                                          <p:val>
                                            <p:fltVal val="0"/>
                                          </p:val>
                                        </p:tav>
                                        <p:tav tm="100000">
                                          <p:val>
                                            <p:strVal val="#ppt_h"/>
                                          </p:val>
                                        </p:tav>
                                      </p:tavLst>
                                    </p:anim>
                                    <p:animEffect transition="in" filter="fade">
                                      <p:cBhvr>
                                        <p:cTn id="14" dur="10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1000" fill="hold"/>
                                        <p:tgtEl>
                                          <p:spTgt spid="11"/>
                                        </p:tgtEl>
                                        <p:attrNameLst>
                                          <p:attrName>ppt_w</p:attrName>
                                        </p:attrNameLst>
                                      </p:cBhvr>
                                      <p:tavLst>
                                        <p:tav tm="0">
                                          <p:val>
                                            <p:fltVal val="0"/>
                                          </p:val>
                                        </p:tav>
                                        <p:tav tm="100000">
                                          <p:val>
                                            <p:strVal val="#ppt_w"/>
                                          </p:val>
                                        </p:tav>
                                      </p:tavLst>
                                    </p:anim>
                                    <p:anim calcmode="lin" valueType="num">
                                      <p:cBhvr>
                                        <p:cTn id="18" dur="1000" fill="hold"/>
                                        <p:tgtEl>
                                          <p:spTgt spid="11"/>
                                        </p:tgtEl>
                                        <p:attrNameLst>
                                          <p:attrName>ppt_h</p:attrName>
                                        </p:attrNameLst>
                                      </p:cBhvr>
                                      <p:tavLst>
                                        <p:tav tm="0">
                                          <p:val>
                                            <p:fltVal val="0"/>
                                          </p:val>
                                        </p:tav>
                                        <p:tav tm="100000">
                                          <p:val>
                                            <p:strVal val="#ppt_h"/>
                                          </p:val>
                                        </p:tav>
                                      </p:tavLst>
                                    </p:anim>
                                    <p:animEffect transition="in" filter="fade">
                                      <p:cBhvr>
                                        <p:cTn id="19" dur="1000"/>
                                        <p:tgtEl>
                                          <p:spTgt spid="11"/>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1000" fill="hold"/>
                                        <p:tgtEl>
                                          <p:spTgt spid="13"/>
                                        </p:tgtEl>
                                        <p:attrNameLst>
                                          <p:attrName>ppt_w</p:attrName>
                                        </p:attrNameLst>
                                      </p:cBhvr>
                                      <p:tavLst>
                                        <p:tav tm="0">
                                          <p:val>
                                            <p:fltVal val="0"/>
                                          </p:val>
                                        </p:tav>
                                        <p:tav tm="100000">
                                          <p:val>
                                            <p:strVal val="#ppt_w"/>
                                          </p:val>
                                        </p:tav>
                                      </p:tavLst>
                                    </p:anim>
                                    <p:anim calcmode="lin" valueType="num">
                                      <p:cBhvr>
                                        <p:cTn id="23" dur="1000" fill="hold"/>
                                        <p:tgtEl>
                                          <p:spTgt spid="13"/>
                                        </p:tgtEl>
                                        <p:attrNameLst>
                                          <p:attrName>ppt_h</p:attrName>
                                        </p:attrNameLst>
                                      </p:cBhvr>
                                      <p:tavLst>
                                        <p:tav tm="0">
                                          <p:val>
                                            <p:fltVal val="0"/>
                                          </p:val>
                                        </p:tav>
                                        <p:tav tm="100000">
                                          <p:val>
                                            <p:strVal val="#ppt_h"/>
                                          </p:val>
                                        </p:tav>
                                      </p:tavLst>
                                    </p:anim>
                                    <p:animEffect transition="in" filter="fade">
                                      <p:cBhvr>
                                        <p:cTn id="24" dur="10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Effect transition="in" filter="fade">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BBC2278-4B8F-9818-462E-E7E8827B7D79}"/>
              </a:ext>
            </a:extLst>
          </p:cNvPr>
          <p:cNvSpPr txBox="1"/>
          <p:nvPr/>
        </p:nvSpPr>
        <p:spPr>
          <a:xfrm>
            <a:off x="0" y="1997839"/>
            <a:ext cx="12192000" cy="2677656"/>
          </a:xfrm>
          <a:prstGeom prst="rect">
            <a:avLst/>
          </a:prstGeom>
          <a:noFill/>
        </p:spPr>
        <p:txBody>
          <a:bodyPr wrap="square">
            <a:spAutoFit/>
          </a:bodyPr>
          <a:lstStyle/>
          <a:p>
            <a:pPr algn="ctr"/>
            <a:r>
              <a:rPr lang="en-IN" sz="3600" b="1" dirty="0">
                <a:solidFill>
                  <a:srgbClr val="002060"/>
                </a:solidFill>
                <a:latin typeface="Arial" panose="020B0604020202020204" pitchFamily="34" charset="0"/>
                <a:ea typeface="Times New Roman" panose="02020603050405020304" pitchFamily="18" charset="0"/>
              </a:rPr>
              <a:t>Module 2: Semiconductor Devices and Applications</a:t>
            </a:r>
            <a:endParaRPr lang="en-IN" sz="3600" b="1" dirty="0">
              <a:solidFill>
                <a:srgbClr val="002060"/>
              </a:solidFill>
              <a:effectLst/>
              <a:latin typeface="Arial" panose="020B0604020202020204" pitchFamily="34" charset="0"/>
              <a:ea typeface="Times New Roman" panose="02020603050405020304" pitchFamily="18" charset="0"/>
            </a:endParaRPr>
          </a:p>
          <a:p>
            <a:pPr algn="ctr"/>
            <a:endParaRPr lang="en-IN" sz="3600" b="1" dirty="0">
              <a:solidFill>
                <a:srgbClr val="000000"/>
              </a:solidFill>
              <a:latin typeface="Arial" panose="020B0604020202020204" pitchFamily="34" charset="0"/>
            </a:endParaRPr>
          </a:p>
          <a:p>
            <a:pPr algn="ctr"/>
            <a:r>
              <a:rPr lang="en-IN" sz="3200" b="1" dirty="0">
                <a:solidFill>
                  <a:srgbClr val="C00000"/>
                </a:solidFill>
                <a:latin typeface="Arial" panose="020B0604020202020204" pitchFamily="34" charset="0"/>
              </a:rPr>
              <a:t>Lecture 5: </a:t>
            </a:r>
            <a:r>
              <a:rPr lang="en-GB" sz="3200" b="1" dirty="0">
                <a:solidFill>
                  <a:srgbClr val="C00000"/>
                </a:solidFill>
                <a:latin typeface="Arial" panose="020B0604020202020204" pitchFamily="34" charset="0"/>
              </a:rPr>
              <a:t>Zener Diode as a Voltage Regulator (No Load and Loaded Regulator)</a:t>
            </a:r>
          </a:p>
          <a:p>
            <a:pPr algn="ctr"/>
            <a:endParaRPr lang="en-GB" sz="3200" b="1" dirty="0">
              <a:solidFill>
                <a:srgbClr val="C00000"/>
              </a:solidFill>
              <a:latin typeface="Arial" panose="020B0604020202020204" pitchFamily="34" charset="0"/>
            </a:endParaRPr>
          </a:p>
        </p:txBody>
      </p:sp>
      <p:pic>
        <p:nvPicPr>
          <p:cNvPr id="9" name="Picture 8">
            <a:extLst>
              <a:ext uri="{FF2B5EF4-FFF2-40B4-BE49-F238E27FC236}">
                <a16:creationId xmlns:a16="http://schemas.microsoft.com/office/drawing/2014/main" id="{A8154C5E-51B5-4EEC-C27F-4B5FC2C29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2144" y="197614"/>
            <a:ext cx="1366275" cy="1366275"/>
          </a:xfrm>
          <a:prstGeom prst="rect">
            <a:avLst/>
          </a:prstGeom>
        </p:spPr>
      </p:pic>
    </p:spTree>
    <p:extLst>
      <p:ext uri="{BB962C8B-B14F-4D97-AF65-F5344CB8AC3E}">
        <p14:creationId xmlns:p14="http://schemas.microsoft.com/office/powerpoint/2010/main" val="363758062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38CFAD-D4BA-4644-BF80-8120B53823EC}"/>
              </a:ext>
            </a:extLst>
          </p:cNvPr>
          <p:cNvSpPr/>
          <p:nvPr/>
        </p:nvSpPr>
        <p:spPr>
          <a:xfrm>
            <a:off x="1885187" y="338574"/>
            <a:ext cx="8421625" cy="459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C00000"/>
                </a:solidFill>
                <a:latin typeface="Algerian" panose="04020705040A02060702" pitchFamily="82" charset="0"/>
              </a:rPr>
              <a:t>Zener Diode</a:t>
            </a:r>
          </a:p>
        </p:txBody>
      </p:sp>
      <p:pic>
        <p:nvPicPr>
          <p:cNvPr id="5" name="Picture 4">
            <a:extLst>
              <a:ext uri="{FF2B5EF4-FFF2-40B4-BE49-F238E27FC236}">
                <a16:creationId xmlns:a16="http://schemas.microsoft.com/office/drawing/2014/main" id="{1BDEDAA6-70D4-4A9A-BCCA-87DEE907326E}"/>
              </a:ext>
            </a:extLst>
          </p:cNvPr>
          <p:cNvPicPr>
            <a:picLocks noChangeAspect="1"/>
          </p:cNvPicPr>
          <p:nvPr/>
        </p:nvPicPr>
        <p:blipFill rotWithShape="1">
          <a:blip r:embed="rId2"/>
          <a:srcRect l="3051" t="18318" r="31756"/>
          <a:stretch/>
        </p:blipFill>
        <p:spPr>
          <a:xfrm>
            <a:off x="819798" y="2548456"/>
            <a:ext cx="6088213" cy="3970970"/>
          </a:xfrm>
          <a:prstGeom prst="rect">
            <a:avLst/>
          </a:prstGeom>
        </p:spPr>
      </p:pic>
      <p:sp>
        <p:nvSpPr>
          <p:cNvPr id="12" name="TextBox 11">
            <a:extLst>
              <a:ext uri="{FF2B5EF4-FFF2-40B4-BE49-F238E27FC236}">
                <a16:creationId xmlns:a16="http://schemas.microsoft.com/office/drawing/2014/main" id="{6ABCE0D9-7D7D-4ECE-AE60-B6F617145637}"/>
              </a:ext>
            </a:extLst>
          </p:cNvPr>
          <p:cNvSpPr txBox="1"/>
          <p:nvPr/>
        </p:nvSpPr>
        <p:spPr>
          <a:xfrm>
            <a:off x="7253047" y="3982509"/>
            <a:ext cx="4538444" cy="264418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GB" sz="1400" dirty="0">
                <a:latin typeface="Arial Black" panose="020B0A04020102020204" pitchFamily="34" charset="0"/>
              </a:rPr>
              <a:t>They are special semiconductor devices that allow the current to flow in both forward and backward directions</a:t>
            </a:r>
          </a:p>
          <a:p>
            <a:pPr marL="285750" indent="-285750">
              <a:lnSpc>
                <a:spcPct val="150000"/>
              </a:lnSpc>
              <a:buFont typeface="Wingdings" panose="05000000000000000000" pitchFamily="2" charset="2"/>
              <a:buChar char="§"/>
            </a:pPr>
            <a:r>
              <a:rPr lang="en-GB" sz="1400" dirty="0">
                <a:latin typeface="Arial Black" panose="020B0A04020102020204" pitchFamily="34" charset="0"/>
              </a:rPr>
              <a:t>For the Zener diode, the voltage drop across the diode is always constant irrespective of the applied voltage; thus, Zener diodes are used as a voltage regulator</a:t>
            </a:r>
            <a:endParaRPr lang="en-IN" sz="1400" dirty="0">
              <a:latin typeface="Arial Black" panose="020B0A04020102020204" pitchFamily="34" charset="0"/>
            </a:endParaRPr>
          </a:p>
        </p:txBody>
      </p:sp>
      <p:pic>
        <p:nvPicPr>
          <p:cNvPr id="14" name="Picture 13">
            <a:extLst>
              <a:ext uri="{FF2B5EF4-FFF2-40B4-BE49-F238E27FC236}">
                <a16:creationId xmlns:a16="http://schemas.microsoft.com/office/drawing/2014/main" id="{302526CD-6952-4D43-9E96-BF08429A46D4}"/>
              </a:ext>
            </a:extLst>
          </p:cNvPr>
          <p:cNvPicPr>
            <a:picLocks noChangeAspect="1"/>
          </p:cNvPicPr>
          <p:nvPr/>
        </p:nvPicPr>
        <p:blipFill>
          <a:blip r:embed="rId3"/>
          <a:stretch>
            <a:fillRect/>
          </a:stretch>
        </p:blipFill>
        <p:spPr>
          <a:xfrm>
            <a:off x="2138842" y="1242984"/>
            <a:ext cx="7914315" cy="934040"/>
          </a:xfrm>
          <a:prstGeom prst="rect">
            <a:avLst/>
          </a:prstGeom>
        </p:spPr>
      </p:pic>
      <p:pic>
        <p:nvPicPr>
          <p:cNvPr id="1026" name="Picture 2" descr="Zener Diode Circuit Diagram">
            <a:extLst>
              <a:ext uri="{FF2B5EF4-FFF2-40B4-BE49-F238E27FC236}">
                <a16:creationId xmlns:a16="http://schemas.microsoft.com/office/drawing/2014/main" id="{F70323A1-443E-4875-993B-7588CD81A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9458" y="2451648"/>
            <a:ext cx="3085622" cy="1542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475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60735-2B3D-46E0-BF92-16186A15EE12}"/>
              </a:ext>
            </a:extLst>
          </p:cNvPr>
          <p:cNvSpPr txBox="1"/>
          <p:nvPr/>
        </p:nvSpPr>
        <p:spPr>
          <a:xfrm>
            <a:off x="503336" y="4070403"/>
            <a:ext cx="11534866" cy="2644185"/>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dirty="0">
                <a:solidFill>
                  <a:srgbClr val="C00000"/>
                </a:solidFill>
                <a:latin typeface="Arial Black" panose="020B0A04020102020204" pitchFamily="34" charset="0"/>
              </a:rPr>
              <a:t>Diode doping: </a:t>
            </a:r>
            <a:r>
              <a:rPr lang="en-US" altLang="en-US" sz="1400" dirty="0">
                <a:latin typeface="Arial Black" panose="020B0A04020102020204" pitchFamily="34" charset="0"/>
              </a:rPr>
              <a:t>Zener breakdown occurs in heavily doped diodes, which results in a very thin depletion region.</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dirty="0">
                <a:solidFill>
                  <a:srgbClr val="C00000"/>
                </a:solidFill>
                <a:latin typeface="Arial Black" panose="020B0A04020102020204" pitchFamily="34" charset="0"/>
              </a:rPr>
              <a:t>Mechanism: </a:t>
            </a:r>
            <a:r>
              <a:rPr lang="en-US" altLang="en-US" sz="1400" dirty="0">
                <a:latin typeface="Arial Black" panose="020B0A04020102020204" pitchFamily="34" charset="0"/>
              </a:rPr>
              <a:t>The high electric field across the thin depletion region is strong enough to break covalent bonds and pull electrons through the barrier via quantum tunneling. This is different from avalanche breakdown.</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dirty="0">
                <a:solidFill>
                  <a:srgbClr val="C00000"/>
                </a:solidFill>
                <a:latin typeface="Arial Black" panose="020B0A04020102020204" pitchFamily="34" charset="0"/>
              </a:rPr>
              <a:t>Voltage: </a:t>
            </a:r>
            <a:r>
              <a:rPr lang="en-US" altLang="en-US" sz="1400" dirty="0">
                <a:latin typeface="Arial Black" panose="020B0A04020102020204" pitchFamily="34" charset="0"/>
              </a:rPr>
              <a:t>It occurs at a relatively low reverse voltage, typically below 5V.</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dirty="0">
                <a:solidFill>
                  <a:srgbClr val="C00000"/>
                </a:solidFill>
                <a:latin typeface="Arial Black" panose="020B0A04020102020204" pitchFamily="34" charset="0"/>
              </a:rPr>
              <a:t>Control: </a:t>
            </a:r>
            <a:r>
              <a:rPr lang="en-US" altLang="en-US" sz="1400" dirty="0">
                <a:latin typeface="Arial Black" panose="020B0A04020102020204" pitchFamily="34" charset="0"/>
              </a:rPr>
              <a:t>The breakdown is a controlled effect, allowing the diode to be used for specific purposes without being destroyed, as long as current is limited to prevent heat damage.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dirty="0">
                <a:solidFill>
                  <a:srgbClr val="C00000"/>
                </a:solidFill>
                <a:latin typeface="Arial Black" panose="020B0A04020102020204" pitchFamily="34" charset="0"/>
              </a:rPr>
              <a:t>Application: </a:t>
            </a:r>
            <a:r>
              <a:rPr lang="en-US" altLang="en-US" sz="1400" dirty="0">
                <a:latin typeface="Arial Black" panose="020B0A04020102020204" pitchFamily="34" charset="0"/>
              </a:rPr>
              <a:t>Zener diodes use this effect to maintain a stable voltage, effectively acting as a voltage regulator or a voltage clamp to protect other components</a:t>
            </a:r>
          </a:p>
        </p:txBody>
      </p:sp>
      <p:pic>
        <p:nvPicPr>
          <p:cNvPr id="6" name="Picture 5">
            <a:extLst>
              <a:ext uri="{FF2B5EF4-FFF2-40B4-BE49-F238E27FC236}">
                <a16:creationId xmlns:a16="http://schemas.microsoft.com/office/drawing/2014/main" id="{BF1F345E-7060-B9B5-CB71-50246003932E}"/>
              </a:ext>
            </a:extLst>
          </p:cNvPr>
          <p:cNvPicPr>
            <a:picLocks noChangeAspect="1"/>
          </p:cNvPicPr>
          <p:nvPr/>
        </p:nvPicPr>
        <p:blipFill rotWithShape="1">
          <a:blip r:embed="rId2"/>
          <a:srcRect l="7104" t="49277" r="9252" b="4028"/>
          <a:stretch/>
        </p:blipFill>
        <p:spPr>
          <a:xfrm>
            <a:off x="3592782" y="2061838"/>
            <a:ext cx="4846544" cy="2008565"/>
          </a:xfrm>
          <a:prstGeom prst="rect">
            <a:avLst/>
          </a:prstGeom>
        </p:spPr>
      </p:pic>
      <p:sp>
        <p:nvSpPr>
          <p:cNvPr id="8" name="TextBox 7">
            <a:extLst>
              <a:ext uri="{FF2B5EF4-FFF2-40B4-BE49-F238E27FC236}">
                <a16:creationId xmlns:a16="http://schemas.microsoft.com/office/drawing/2014/main" id="{104ECDF8-FBA6-4828-B030-B789BEB671A2}"/>
              </a:ext>
            </a:extLst>
          </p:cNvPr>
          <p:cNvSpPr txBox="1"/>
          <p:nvPr/>
        </p:nvSpPr>
        <p:spPr>
          <a:xfrm>
            <a:off x="643156" y="924588"/>
            <a:ext cx="11017541" cy="1028358"/>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GB" altLang="en-US" sz="1400" dirty="0">
                <a:solidFill>
                  <a:srgbClr val="C00000"/>
                </a:solidFill>
                <a:latin typeface="Arial Black" panose="020B0A04020102020204" pitchFamily="34" charset="0"/>
              </a:rPr>
              <a:t>The Zener effect is a type of electrical breakdown in a reverse biased p-n diode in which the electric field enables tunnelling of electrons from the valence to the conduction band of a semiconductor, leading to a large number of free minority carriers, which suddenly increase the reverse current</a:t>
            </a:r>
            <a:endParaRPr lang="en-US" altLang="en-US" sz="1400" dirty="0">
              <a:solidFill>
                <a:srgbClr val="C00000"/>
              </a:solidFill>
              <a:latin typeface="Arial Black" panose="020B0A04020102020204" pitchFamily="34" charset="0"/>
            </a:endParaRPr>
          </a:p>
        </p:txBody>
      </p:sp>
      <p:sp>
        <p:nvSpPr>
          <p:cNvPr id="10" name="Rectangle: Rounded Corners 9">
            <a:extLst>
              <a:ext uri="{FF2B5EF4-FFF2-40B4-BE49-F238E27FC236}">
                <a16:creationId xmlns:a16="http://schemas.microsoft.com/office/drawing/2014/main" id="{2F3FC1A0-3C6D-4AC6-9CB9-FC59BA38D018}"/>
              </a:ext>
            </a:extLst>
          </p:cNvPr>
          <p:cNvSpPr/>
          <p:nvPr/>
        </p:nvSpPr>
        <p:spPr>
          <a:xfrm>
            <a:off x="643156" y="1031846"/>
            <a:ext cx="11017541" cy="9211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23C6C85-FAC5-4649-A98E-D4FC83EAE2D5}"/>
              </a:ext>
            </a:extLst>
          </p:cNvPr>
          <p:cNvSpPr/>
          <p:nvPr/>
        </p:nvSpPr>
        <p:spPr>
          <a:xfrm>
            <a:off x="1885185" y="327039"/>
            <a:ext cx="8421625" cy="459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C00000"/>
                </a:solidFill>
                <a:latin typeface="Algerian" panose="04020705040A02060702" pitchFamily="82" charset="0"/>
              </a:rPr>
              <a:t>Zener breakdown</a:t>
            </a:r>
          </a:p>
        </p:txBody>
      </p:sp>
    </p:spTree>
    <p:extLst>
      <p:ext uri="{BB962C8B-B14F-4D97-AF65-F5344CB8AC3E}">
        <p14:creationId xmlns:p14="http://schemas.microsoft.com/office/powerpoint/2010/main" val="151680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432E84-D79A-4168-BB06-AD0E81C5AB72}"/>
              </a:ext>
            </a:extLst>
          </p:cNvPr>
          <p:cNvSpPr/>
          <p:nvPr/>
        </p:nvSpPr>
        <p:spPr>
          <a:xfrm>
            <a:off x="1885185" y="327039"/>
            <a:ext cx="8421625" cy="459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a:solidFill>
                  <a:srgbClr val="C00000"/>
                </a:solidFill>
                <a:latin typeface="Algerian" panose="04020705040A02060702" pitchFamily="82" charset="0"/>
              </a:rPr>
              <a:t>Zener Diode Characteristics</a:t>
            </a:r>
            <a:endParaRPr lang="en-IN" sz="3200" b="1" dirty="0">
              <a:solidFill>
                <a:srgbClr val="C00000"/>
              </a:solidFill>
              <a:latin typeface="Algerian" panose="04020705040A02060702" pitchFamily="82" charset="0"/>
            </a:endParaRPr>
          </a:p>
        </p:txBody>
      </p:sp>
      <p:pic>
        <p:nvPicPr>
          <p:cNvPr id="5" name="Picture 4">
            <a:extLst>
              <a:ext uri="{FF2B5EF4-FFF2-40B4-BE49-F238E27FC236}">
                <a16:creationId xmlns:a16="http://schemas.microsoft.com/office/drawing/2014/main" id="{88F337A1-1CB4-4A72-8CBE-BD8FFD3A4E9B}"/>
              </a:ext>
            </a:extLst>
          </p:cNvPr>
          <p:cNvPicPr>
            <a:picLocks noChangeAspect="1"/>
          </p:cNvPicPr>
          <p:nvPr/>
        </p:nvPicPr>
        <p:blipFill rotWithShape="1">
          <a:blip r:embed="rId2"/>
          <a:srcRect t="17160"/>
          <a:stretch/>
        </p:blipFill>
        <p:spPr>
          <a:xfrm>
            <a:off x="587937" y="2550252"/>
            <a:ext cx="8047885" cy="3288485"/>
          </a:xfrm>
          <a:prstGeom prst="rect">
            <a:avLst/>
          </a:prstGeom>
        </p:spPr>
      </p:pic>
      <p:sp>
        <p:nvSpPr>
          <p:cNvPr id="6" name="Rectangle 1">
            <a:extLst>
              <a:ext uri="{FF2B5EF4-FFF2-40B4-BE49-F238E27FC236}">
                <a16:creationId xmlns:a16="http://schemas.microsoft.com/office/drawing/2014/main" id="{89FE4821-B323-4EB5-B767-0C779823401F}"/>
              </a:ext>
            </a:extLst>
          </p:cNvPr>
          <p:cNvSpPr>
            <a:spLocks noChangeArrowheads="1"/>
          </p:cNvSpPr>
          <p:nvPr/>
        </p:nvSpPr>
        <p:spPr bwMode="auto">
          <a:xfrm>
            <a:off x="587937" y="1391922"/>
            <a:ext cx="11374764" cy="705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Black" panose="020B0A04020102020204" pitchFamily="34" charset="0"/>
              </a:rPr>
              <a:t>A </a:t>
            </a:r>
            <a:r>
              <a:rPr lang="en-US" altLang="en-US" sz="1400" dirty="0">
                <a:latin typeface="Arial Black" panose="020B0A04020102020204" pitchFamily="34" charset="0"/>
              </a:rPr>
              <a:t>Z</a:t>
            </a:r>
            <a:r>
              <a:rPr kumimoji="0" lang="en-US" altLang="en-US" sz="1400" b="0" i="0" u="none" strike="noStrike" cap="none" normalizeH="0" baseline="0" dirty="0">
                <a:ln>
                  <a:noFill/>
                </a:ln>
                <a:solidFill>
                  <a:schemeClr val="tx1"/>
                </a:solidFill>
                <a:effectLst/>
                <a:latin typeface="Arial Black" panose="020B0A04020102020204" pitchFamily="34" charset="0"/>
              </a:rPr>
              <a:t>ener diode's current range, from a minimum to a maximum value, is necessary to maintain a stable </a:t>
            </a:r>
            <a:r>
              <a:rPr lang="en-US" altLang="en-US" sz="1400" dirty="0">
                <a:latin typeface="Arial Black" panose="020B0A04020102020204" pitchFamily="34" charset="0"/>
              </a:rPr>
              <a:t>breakdown voltage for applications like voltage regulation</a:t>
            </a:r>
          </a:p>
        </p:txBody>
      </p:sp>
      <p:pic>
        <p:nvPicPr>
          <p:cNvPr id="2050" name="Picture 2">
            <a:extLst>
              <a:ext uri="{FF2B5EF4-FFF2-40B4-BE49-F238E27FC236}">
                <a16:creationId xmlns:a16="http://schemas.microsoft.com/office/drawing/2014/main" id="{97BB42A1-FC8C-4192-AABF-1E699C11D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960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522B88AF-9AD8-4940-824D-5C345F3B6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36525"/>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D33BFF7D-17A0-4730-8C28-A7304B95F38B}"/>
              </a:ext>
            </a:extLst>
          </p:cNvPr>
          <p:cNvSpPr>
            <a:spLocks noChangeArrowheads="1"/>
          </p:cNvSpPr>
          <p:nvPr/>
        </p:nvSpPr>
        <p:spPr bwMode="auto">
          <a:xfrm>
            <a:off x="8939705" y="2387653"/>
            <a:ext cx="2930717" cy="3613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1400" dirty="0">
                <a:latin typeface="Arial Black" panose="020B0A04020102020204" pitchFamily="34" charset="0"/>
              </a:rPr>
              <a:t>The </a:t>
            </a:r>
            <a:r>
              <a:rPr lang="en-US" altLang="en-US" sz="1400" dirty="0">
                <a:solidFill>
                  <a:srgbClr val="C00000"/>
                </a:solidFill>
                <a:latin typeface="Arial Black" panose="020B0A04020102020204" pitchFamily="34" charset="0"/>
              </a:rPr>
              <a:t>minimum current, also called as the knee current, (I</a:t>
            </a:r>
            <a:r>
              <a:rPr lang="en-US" altLang="en-US" sz="1100" i="1" dirty="0">
                <a:solidFill>
                  <a:srgbClr val="C00000"/>
                </a:solidFill>
                <a:latin typeface="Arial Black" panose="020B0A04020102020204" pitchFamily="34" charset="0"/>
              </a:rPr>
              <a:t>ZK</a:t>
            </a:r>
            <a:r>
              <a:rPr lang="en-US" altLang="en-US" sz="1400" dirty="0">
                <a:solidFill>
                  <a:srgbClr val="C00000"/>
                </a:solidFill>
                <a:latin typeface="Arial Black" panose="020B0A04020102020204" pitchFamily="34" charset="0"/>
              </a:rPr>
              <a:t>)</a:t>
            </a:r>
            <a:r>
              <a:rPr lang="en-US" altLang="en-US" sz="1400" dirty="0">
                <a:latin typeface="Arial Black" panose="020B0A04020102020204" pitchFamily="34" charset="0"/>
              </a:rPr>
              <a:t> is required to keep the diode in its operating breakdown region, while the </a:t>
            </a:r>
            <a:r>
              <a:rPr lang="en-US" altLang="en-US" sz="1400" dirty="0">
                <a:solidFill>
                  <a:srgbClr val="C00000"/>
                </a:solidFill>
                <a:latin typeface="Arial Black" panose="020B0A04020102020204" pitchFamily="34" charset="0"/>
              </a:rPr>
              <a:t>maximum current (I</a:t>
            </a:r>
            <a:r>
              <a:rPr lang="en-US" altLang="en-US" sz="1100" i="1" dirty="0">
                <a:solidFill>
                  <a:srgbClr val="C00000"/>
                </a:solidFill>
                <a:latin typeface="Arial Black" panose="020B0A04020102020204" pitchFamily="34" charset="0"/>
              </a:rPr>
              <a:t>ZM</a:t>
            </a:r>
            <a:r>
              <a:rPr lang="en-US" altLang="en-US" sz="1400" dirty="0">
                <a:solidFill>
                  <a:srgbClr val="C00000"/>
                </a:solidFill>
                <a:latin typeface="Arial Black" panose="020B0A04020102020204" pitchFamily="34" charset="0"/>
              </a:rPr>
              <a:t>) </a:t>
            </a:r>
            <a:r>
              <a:rPr lang="en-US" altLang="en-US" sz="1400" dirty="0">
                <a:latin typeface="Arial Black" panose="020B0A04020102020204" pitchFamily="34" charset="0"/>
              </a:rPr>
              <a:t>is the upper limit to prevent the diode from overheating and being </a:t>
            </a:r>
            <a:r>
              <a:rPr kumimoji="0" lang="en-US" altLang="en-US" sz="1400" b="0" i="0" u="none" strike="noStrike" cap="none" normalizeH="0" baseline="0" dirty="0">
                <a:ln>
                  <a:noFill/>
                </a:ln>
                <a:solidFill>
                  <a:schemeClr val="tx1"/>
                </a:solidFill>
                <a:effectLst/>
                <a:latin typeface="Arial Black" panose="020B0A04020102020204" pitchFamily="34" charset="0"/>
              </a:rPr>
              <a:t>destroyed by excessive power dissipation</a:t>
            </a:r>
          </a:p>
        </p:txBody>
      </p:sp>
    </p:spTree>
    <p:extLst>
      <p:ext uri="{BB962C8B-B14F-4D97-AF65-F5344CB8AC3E}">
        <p14:creationId xmlns:p14="http://schemas.microsoft.com/office/powerpoint/2010/main" val="20485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51313D-BB5E-465D-BA96-071E06253BDD}"/>
              </a:ext>
            </a:extLst>
          </p:cNvPr>
          <p:cNvSpPr>
            <a:spLocks noChangeArrowheads="1"/>
          </p:cNvSpPr>
          <p:nvPr/>
        </p:nvSpPr>
        <p:spPr bwMode="auto">
          <a:xfrm>
            <a:off x="453637" y="4353491"/>
            <a:ext cx="11453623" cy="232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Black" panose="020B0A04020102020204" pitchFamily="34" charset="0"/>
              </a:rPr>
              <a:t>A Zener diode acts as a voltage regulator </a:t>
            </a:r>
            <a:r>
              <a:rPr kumimoji="0" lang="en-US" altLang="en-US" sz="1400" b="0" i="0" u="none" strike="noStrike" cap="none" normalizeH="0" baseline="0" dirty="0">
                <a:ln>
                  <a:noFill/>
                </a:ln>
                <a:solidFill>
                  <a:srgbClr val="C00000"/>
                </a:solidFill>
                <a:effectLst/>
                <a:latin typeface="Arial Black" panose="020B0A04020102020204" pitchFamily="34" charset="0"/>
              </a:rPr>
              <a:t>(No Load Condition) </a:t>
            </a:r>
            <a:r>
              <a:rPr kumimoji="0" lang="en-US" altLang="en-US" sz="1400" b="0" i="0" u="none" strike="noStrike" cap="none" normalizeH="0" baseline="0" dirty="0">
                <a:ln>
                  <a:noFill/>
                </a:ln>
                <a:solidFill>
                  <a:schemeClr val="tx1"/>
                </a:solidFill>
                <a:effectLst/>
                <a:latin typeface="Arial Black" panose="020B0A04020102020204" pitchFamily="34" charset="0"/>
              </a:rPr>
              <a:t>by connecting it in reverse bias with a series resistor (Rs) to limit the current</a:t>
            </a:r>
          </a:p>
          <a:p>
            <a:pPr marL="285750" indent="-285750" eaLnBrk="0" fontAlgn="base" hangingPunct="0">
              <a:lnSpc>
                <a:spcPct val="150000"/>
              </a:lnSpc>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rgbClr val="C00000"/>
                </a:solidFill>
                <a:effectLst/>
                <a:latin typeface="Arial Black" panose="020B0A04020102020204" pitchFamily="34" charset="0"/>
              </a:rPr>
              <a:t>Stable output voltage:</a:t>
            </a:r>
            <a:r>
              <a:rPr kumimoji="0" lang="en-US" altLang="en-US" sz="1400" b="0" i="0" u="none" strike="noStrike" cap="none" normalizeH="0" baseline="0" dirty="0">
                <a:ln>
                  <a:noFill/>
                </a:ln>
                <a:solidFill>
                  <a:srgbClr val="C00000"/>
                </a:solidFill>
                <a:effectLst/>
                <a:latin typeface="Arial Black" panose="020B0A04020102020204" pitchFamily="34" charset="0"/>
              </a:rPr>
              <a:t> </a:t>
            </a:r>
            <a:r>
              <a:rPr kumimoji="0" lang="en-GB" altLang="en-US" sz="1400" b="0" i="0" u="none" strike="noStrike" cap="none" normalizeH="0" baseline="0" dirty="0">
                <a:ln>
                  <a:noFill/>
                </a:ln>
                <a:solidFill>
                  <a:schemeClr val="tx1"/>
                </a:solidFill>
                <a:effectLst/>
                <a:latin typeface="Arial Black" panose="020B0A04020102020204" pitchFamily="34" charset="0"/>
              </a:rPr>
              <a:t>When there is no load, the entire current from the input source flows through the Zener diode. After dropping the excess voltage across the series resistor (Varies to compensate for the changes in the applied input voltage), the voltage across the load remains stable at </a:t>
            </a:r>
            <a:r>
              <a:rPr kumimoji="0" lang="en-GB" altLang="en-US" sz="1400" b="0" i="0" u="none" strike="noStrike" cap="none" normalizeH="0" baseline="0" dirty="0" err="1">
                <a:ln>
                  <a:noFill/>
                </a:ln>
                <a:solidFill>
                  <a:schemeClr val="tx1"/>
                </a:solidFill>
                <a:effectLst/>
                <a:latin typeface="Arial Black" panose="020B0A04020102020204" pitchFamily="34" charset="0"/>
              </a:rPr>
              <a:t>Vz</a:t>
            </a:r>
            <a:r>
              <a:rPr kumimoji="0" lang="en-GB" altLang="en-US" sz="1400" b="0" i="0" u="none" strike="noStrike" cap="none" normalizeH="0" baseline="0" dirty="0">
                <a:ln>
                  <a:noFill/>
                </a:ln>
                <a:solidFill>
                  <a:schemeClr val="tx1"/>
                </a:solidFill>
                <a:effectLst/>
                <a:latin typeface="Arial Black" panose="020B0A04020102020204" pitchFamily="34" charset="0"/>
              </a:rPr>
              <a:t>.</a:t>
            </a:r>
            <a:endParaRPr kumimoji="0" lang="en-US" altLang="en-US" sz="1400" b="0" i="0" u="none" strike="noStrike" cap="none" normalizeH="0" baseline="0" dirty="0">
              <a:ln>
                <a:noFill/>
              </a:ln>
              <a:solidFill>
                <a:schemeClr val="tx1"/>
              </a:solidFill>
              <a:effectLst/>
              <a:latin typeface="Arial Black" panose="020B0A04020102020204" pitchFamily="34" charset="0"/>
            </a:endParaRPr>
          </a:p>
          <a:p>
            <a:pPr marL="285750" indent="-285750" eaLnBrk="0" fontAlgn="base" hangingPunct="0">
              <a:lnSpc>
                <a:spcPct val="150000"/>
              </a:lnSpc>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rgbClr val="C00000"/>
                </a:solidFill>
                <a:effectLst/>
                <a:latin typeface="Arial Black" panose="020B0A04020102020204" pitchFamily="34" charset="0"/>
              </a:rPr>
              <a:t>Operating limits:</a:t>
            </a:r>
            <a:r>
              <a:rPr kumimoji="0" lang="en-US" altLang="en-US" sz="1400" b="0" i="0" u="none" strike="noStrike" cap="none" normalizeH="0" baseline="0" dirty="0">
                <a:ln>
                  <a:noFill/>
                </a:ln>
                <a:solidFill>
                  <a:srgbClr val="C00000"/>
                </a:solidFill>
                <a:effectLst/>
                <a:latin typeface="Arial Black" panose="020B0A04020102020204" pitchFamily="34" charset="0"/>
              </a:rPr>
              <a:t> </a:t>
            </a:r>
            <a:r>
              <a:rPr kumimoji="0" lang="en-US" altLang="en-US" sz="1400" b="0" i="0" u="none" strike="noStrike" cap="none" normalizeH="0" baseline="0" dirty="0">
                <a:ln>
                  <a:noFill/>
                </a:ln>
                <a:solidFill>
                  <a:schemeClr val="tx1"/>
                </a:solidFill>
                <a:effectLst/>
                <a:latin typeface="Arial Black" panose="020B0A04020102020204" pitchFamily="34" charset="0"/>
              </a:rPr>
              <a:t>The regulation only works as long as the input voltage is greater than the Zener voltage (</a:t>
            </a:r>
            <a:r>
              <a:rPr kumimoji="0" lang="en-US" altLang="en-US" sz="1400" b="0" i="0" u="none" strike="noStrike" cap="none" normalizeH="0" baseline="0" dirty="0" err="1">
                <a:ln>
                  <a:noFill/>
                </a:ln>
                <a:solidFill>
                  <a:schemeClr val="tx1"/>
                </a:solidFill>
                <a:effectLst/>
                <a:latin typeface="Arial Black" panose="020B0A04020102020204" pitchFamily="34" charset="0"/>
              </a:rPr>
              <a:t>Vz</a:t>
            </a:r>
            <a:r>
              <a:rPr kumimoji="0" lang="en-US" altLang="en-US" sz="1400" b="0" i="0" u="none" strike="noStrike" cap="none" normalizeH="0" baseline="0" dirty="0">
                <a:ln>
                  <a:noFill/>
                </a:ln>
                <a:solidFill>
                  <a:schemeClr val="tx1"/>
                </a:solidFill>
                <a:effectLst/>
                <a:latin typeface="Arial Black" panose="020B0A04020102020204" pitchFamily="34" charset="0"/>
              </a:rPr>
              <a:t>) and the current through the diode stays within its operating range </a:t>
            </a:r>
            <a:r>
              <a:rPr lang="en-US" altLang="en-US" sz="1400" dirty="0">
                <a:latin typeface="Arial Black" panose="020B0A04020102020204" pitchFamily="34" charset="0"/>
              </a:rPr>
              <a:t>(</a:t>
            </a:r>
            <a:r>
              <a:rPr lang="en-US" altLang="en-US" sz="1400" dirty="0" err="1">
                <a:latin typeface="Arial Black" panose="020B0A04020102020204" pitchFamily="34" charset="0"/>
              </a:rPr>
              <a:t>IzK</a:t>
            </a:r>
            <a:r>
              <a:rPr lang="en-US" altLang="en-US" sz="1400" dirty="0">
                <a:latin typeface="Arial Black" panose="020B0A04020102020204" pitchFamily="34" charset="0"/>
              </a:rPr>
              <a:t> - </a:t>
            </a:r>
            <a:r>
              <a:rPr lang="en-US" altLang="en-US" sz="1400" dirty="0" err="1">
                <a:latin typeface="Arial Black" panose="020B0A04020102020204" pitchFamily="34" charset="0"/>
              </a:rPr>
              <a:t>IzM</a:t>
            </a:r>
            <a:r>
              <a:rPr lang="en-US" altLang="en-US" sz="1400" dirty="0">
                <a:latin typeface="Arial Black" panose="020B0A04020102020204" pitchFamily="34" charset="0"/>
              </a:rPr>
              <a:t>)</a:t>
            </a:r>
            <a:endParaRPr kumimoji="0" lang="en-US" altLang="en-US" sz="1400" b="0" i="0" u="none" strike="noStrike" cap="none" normalizeH="0" baseline="0" dirty="0">
              <a:ln>
                <a:noFill/>
              </a:ln>
              <a:solidFill>
                <a:schemeClr val="tx1"/>
              </a:solidFill>
              <a:effectLst/>
              <a:latin typeface="Arial Black" panose="020B0A04020102020204" pitchFamily="34" charset="0"/>
            </a:endParaRPr>
          </a:p>
        </p:txBody>
      </p:sp>
      <p:sp>
        <p:nvSpPr>
          <p:cNvPr id="4" name="Rectangle 3">
            <a:extLst>
              <a:ext uri="{FF2B5EF4-FFF2-40B4-BE49-F238E27FC236}">
                <a16:creationId xmlns:a16="http://schemas.microsoft.com/office/drawing/2014/main" id="{C330B826-F4B5-463A-AF32-A018D13F411C}"/>
              </a:ext>
            </a:extLst>
          </p:cNvPr>
          <p:cNvSpPr/>
          <p:nvPr/>
        </p:nvSpPr>
        <p:spPr>
          <a:xfrm>
            <a:off x="801466" y="328334"/>
            <a:ext cx="10757973" cy="548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C00000"/>
                </a:solidFill>
                <a:latin typeface="Algerian" panose="04020705040A02060702" pitchFamily="82" charset="0"/>
              </a:rPr>
              <a:t>Zener Diode as a regulator – No load condition</a:t>
            </a:r>
          </a:p>
        </p:txBody>
      </p:sp>
      <p:pic>
        <p:nvPicPr>
          <p:cNvPr id="5" name="Picture 4">
            <a:extLst>
              <a:ext uri="{FF2B5EF4-FFF2-40B4-BE49-F238E27FC236}">
                <a16:creationId xmlns:a16="http://schemas.microsoft.com/office/drawing/2014/main" id="{53ACAD4A-B560-4E90-BA83-71351255D626}"/>
              </a:ext>
            </a:extLst>
          </p:cNvPr>
          <p:cNvPicPr>
            <a:picLocks noChangeAspect="1"/>
          </p:cNvPicPr>
          <p:nvPr/>
        </p:nvPicPr>
        <p:blipFill rotWithShape="1">
          <a:blip r:embed="rId2"/>
          <a:srcRect l="7988" t="30237" r="55024" b="20629"/>
          <a:stretch/>
        </p:blipFill>
        <p:spPr>
          <a:xfrm>
            <a:off x="4713135" y="2124669"/>
            <a:ext cx="2765730" cy="2078124"/>
          </a:xfrm>
          <a:prstGeom prst="rect">
            <a:avLst/>
          </a:prstGeom>
        </p:spPr>
      </p:pic>
      <p:sp>
        <p:nvSpPr>
          <p:cNvPr id="7" name="TextBox 6">
            <a:extLst>
              <a:ext uri="{FF2B5EF4-FFF2-40B4-BE49-F238E27FC236}">
                <a16:creationId xmlns:a16="http://schemas.microsoft.com/office/drawing/2014/main" id="{773CE022-955D-4043-90E2-6223B17FFC5F}"/>
              </a:ext>
            </a:extLst>
          </p:cNvPr>
          <p:cNvSpPr txBox="1"/>
          <p:nvPr/>
        </p:nvSpPr>
        <p:spPr>
          <a:xfrm>
            <a:off x="453637" y="1119579"/>
            <a:ext cx="11453623" cy="1028358"/>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C00000"/>
                </a:solidFill>
                <a:effectLst/>
                <a:latin typeface="Arial Black" panose="020B0A04020102020204" pitchFamily="34" charset="0"/>
              </a:rPr>
              <a:t>In both no-load and full-load conditions, the Zener diode acts as a voltage regulator by maintaining a constant voltage (</a:t>
            </a:r>
            <a:r>
              <a:rPr kumimoji="0" lang="en-US" altLang="en-US" sz="1400" b="0" i="0" u="none" strike="noStrike" cap="none" normalizeH="0" baseline="0" dirty="0" err="1">
                <a:ln>
                  <a:noFill/>
                </a:ln>
                <a:solidFill>
                  <a:srgbClr val="C00000"/>
                </a:solidFill>
                <a:effectLst/>
                <a:latin typeface="Arial Black" panose="020B0A04020102020204" pitchFamily="34" charset="0"/>
              </a:rPr>
              <a:t>Vz</a:t>
            </a:r>
            <a:r>
              <a:rPr kumimoji="0" lang="en-US" altLang="en-US" sz="1400" b="0" i="0" u="none" strike="noStrike" cap="none" normalizeH="0" baseline="0" dirty="0">
                <a:ln>
                  <a:noFill/>
                </a:ln>
                <a:solidFill>
                  <a:srgbClr val="C00000"/>
                </a:solidFill>
                <a:effectLst/>
                <a:latin typeface="Arial Black" panose="020B0A04020102020204" pitchFamily="34" charset="0"/>
              </a:rPr>
              <a:t>) across itself and the load, as long as the input voltage is within limits and the diode is in its breakdown region</a:t>
            </a:r>
          </a:p>
        </p:txBody>
      </p:sp>
    </p:spTree>
    <p:extLst>
      <p:ext uri="{BB962C8B-B14F-4D97-AF65-F5344CB8AC3E}">
        <p14:creationId xmlns:p14="http://schemas.microsoft.com/office/powerpoint/2010/main" val="1202834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51313D-BB5E-465D-BA96-071E06253BDD}"/>
              </a:ext>
            </a:extLst>
          </p:cNvPr>
          <p:cNvSpPr>
            <a:spLocks noChangeArrowheads="1"/>
          </p:cNvSpPr>
          <p:nvPr/>
        </p:nvSpPr>
        <p:spPr bwMode="auto">
          <a:xfrm>
            <a:off x="385894" y="3448147"/>
            <a:ext cx="11593585" cy="2644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Black" panose="020B0A04020102020204" pitchFamily="34" charset="0"/>
              </a:rPr>
              <a:t>A Zener diode acts as a voltage regulator </a:t>
            </a:r>
            <a:r>
              <a:rPr kumimoji="0" lang="en-US" altLang="en-US" sz="1400" b="0" i="0" u="none" strike="noStrike" cap="none" normalizeH="0" baseline="0" dirty="0">
                <a:ln>
                  <a:noFill/>
                </a:ln>
                <a:solidFill>
                  <a:srgbClr val="C00000"/>
                </a:solidFill>
                <a:effectLst/>
                <a:latin typeface="Arial Black" panose="020B0A04020102020204" pitchFamily="34" charset="0"/>
              </a:rPr>
              <a:t>(Loaded Condition) </a:t>
            </a:r>
            <a:r>
              <a:rPr kumimoji="0" lang="en-US" altLang="en-US" sz="1400" b="0" i="0" u="none" strike="noStrike" cap="none" normalizeH="0" baseline="0" dirty="0">
                <a:ln>
                  <a:noFill/>
                </a:ln>
                <a:solidFill>
                  <a:schemeClr val="tx1"/>
                </a:solidFill>
                <a:effectLst/>
                <a:latin typeface="Arial Black" panose="020B0A04020102020204" pitchFamily="34" charset="0"/>
              </a:rPr>
              <a:t>by connecting it in reverse bias across a load (RL), with a series resistor (Rs) to limit current</a:t>
            </a:r>
          </a:p>
          <a:p>
            <a:pPr marL="285750" indent="-285750" eaLnBrk="0" fontAlgn="base" hangingPunct="0">
              <a:lnSpc>
                <a:spcPct val="150000"/>
              </a:lnSpc>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rgbClr val="C00000"/>
                </a:solidFill>
                <a:effectLst/>
                <a:latin typeface="Arial Black" panose="020B0A04020102020204" pitchFamily="34" charset="0"/>
              </a:rPr>
              <a:t>Stable output voltage:</a:t>
            </a:r>
            <a:r>
              <a:rPr kumimoji="0" lang="en-US" altLang="en-US" sz="1400" b="0" i="0" u="none" strike="noStrike" cap="none" normalizeH="0" baseline="0" dirty="0">
                <a:ln>
                  <a:noFill/>
                </a:ln>
                <a:solidFill>
                  <a:srgbClr val="C00000"/>
                </a:solidFill>
                <a:effectLst/>
                <a:latin typeface="Arial Black" panose="020B0A04020102020204" pitchFamily="34" charset="0"/>
              </a:rPr>
              <a:t> </a:t>
            </a:r>
            <a:r>
              <a:rPr kumimoji="0" lang="en-GB" altLang="en-US" sz="1400" b="0" i="0" u="none" strike="noStrike" cap="none" normalizeH="0" baseline="0" dirty="0">
                <a:ln>
                  <a:noFill/>
                </a:ln>
                <a:effectLst/>
                <a:latin typeface="Arial Black" panose="020B0A04020102020204" pitchFamily="34" charset="0"/>
              </a:rPr>
              <a:t>When a load is connected, the load draws a current, which causes the Zener diode to draw less current. </a:t>
            </a:r>
            <a:r>
              <a:rPr kumimoji="0" lang="en-US" altLang="en-US" sz="1400" b="0" i="0" u="none" strike="noStrike" cap="none" normalizeH="0" baseline="0" dirty="0">
                <a:ln>
                  <a:noFill/>
                </a:ln>
                <a:solidFill>
                  <a:schemeClr val="tx1"/>
                </a:solidFill>
                <a:effectLst/>
                <a:latin typeface="Arial Black" panose="020B0A04020102020204" pitchFamily="34" charset="0"/>
              </a:rPr>
              <a:t>The Zener diode compensates by allowing less current to flow through itself.</a:t>
            </a:r>
            <a:r>
              <a:rPr kumimoji="0" lang="en-GB" altLang="en-US" sz="1400" b="0" i="0" u="none" strike="noStrike" cap="none" normalizeH="0" baseline="0" dirty="0">
                <a:ln>
                  <a:noFill/>
                </a:ln>
                <a:effectLst/>
                <a:latin typeface="Arial Black" panose="020B0A04020102020204" pitchFamily="34" charset="0"/>
              </a:rPr>
              <a:t> </a:t>
            </a:r>
            <a:r>
              <a:rPr kumimoji="0" lang="en-US" altLang="en-US" sz="1400" b="0" i="0" u="none" strike="noStrike" cap="none" normalizeH="0" baseline="0" dirty="0">
                <a:ln>
                  <a:noFill/>
                </a:ln>
                <a:effectLst/>
                <a:latin typeface="Arial Black" panose="020B0A04020102020204" pitchFamily="34" charset="0"/>
              </a:rPr>
              <a:t>If the load </a:t>
            </a:r>
            <a:r>
              <a:rPr kumimoji="0" lang="en-US" altLang="en-US" sz="1400" b="0" i="0" u="none" strike="noStrike" cap="none" normalizeH="0" baseline="0" dirty="0">
                <a:ln>
                  <a:noFill/>
                </a:ln>
                <a:solidFill>
                  <a:schemeClr val="tx1"/>
                </a:solidFill>
                <a:effectLst/>
                <a:latin typeface="Arial Black" panose="020B0A04020102020204" pitchFamily="34" charset="0"/>
              </a:rPr>
              <a:t>resistance (RL) increases (or decreases), the load current decreases (increases). The Zener diode compensates by allowing more (or less) current to flow through itself, maintaining the constant voltage drop across the load. </a:t>
            </a:r>
          </a:p>
          <a:p>
            <a:pPr marL="285750" indent="-285750" eaLnBrk="0" fontAlgn="base" hangingPunct="0">
              <a:lnSpc>
                <a:spcPct val="150000"/>
              </a:lnSpc>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rgbClr val="C00000"/>
                </a:solidFill>
                <a:effectLst/>
                <a:latin typeface="Arial Black" panose="020B0A04020102020204" pitchFamily="34" charset="0"/>
              </a:rPr>
              <a:t>Operating limits:</a:t>
            </a:r>
            <a:r>
              <a:rPr kumimoji="0" lang="en-US" altLang="en-US" sz="1400" b="0" i="0" u="none" strike="noStrike" cap="none" normalizeH="0" baseline="0" dirty="0">
                <a:ln>
                  <a:noFill/>
                </a:ln>
                <a:solidFill>
                  <a:srgbClr val="C00000"/>
                </a:solidFill>
                <a:effectLst/>
                <a:latin typeface="Arial Black" panose="020B0A04020102020204" pitchFamily="34" charset="0"/>
              </a:rPr>
              <a:t> </a:t>
            </a:r>
            <a:r>
              <a:rPr kumimoji="0" lang="en-US" altLang="en-US" sz="1400" b="0" i="0" u="none" strike="noStrike" cap="none" normalizeH="0" baseline="0" dirty="0">
                <a:ln>
                  <a:noFill/>
                </a:ln>
                <a:solidFill>
                  <a:schemeClr val="tx1"/>
                </a:solidFill>
                <a:effectLst/>
                <a:latin typeface="Arial Black" panose="020B0A04020102020204" pitchFamily="34" charset="0"/>
              </a:rPr>
              <a:t>The regulation only works as long as the input voltage is greater than the Zener voltage (</a:t>
            </a:r>
            <a:r>
              <a:rPr kumimoji="0" lang="en-US" altLang="en-US" sz="1400" b="0" i="0" u="none" strike="noStrike" cap="none" normalizeH="0" baseline="0" dirty="0" err="1">
                <a:ln>
                  <a:noFill/>
                </a:ln>
                <a:solidFill>
                  <a:schemeClr val="tx1"/>
                </a:solidFill>
                <a:effectLst/>
                <a:latin typeface="Arial Black" panose="020B0A04020102020204" pitchFamily="34" charset="0"/>
              </a:rPr>
              <a:t>Vz</a:t>
            </a:r>
            <a:r>
              <a:rPr kumimoji="0" lang="en-US" altLang="en-US" sz="1400" b="0" i="0" u="none" strike="noStrike" cap="none" normalizeH="0" baseline="0" dirty="0">
                <a:ln>
                  <a:noFill/>
                </a:ln>
                <a:solidFill>
                  <a:schemeClr val="tx1"/>
                </a:solidFill>
                <a:effectLst/>
                <a:latin typeface="Arial Black" panose="020B0A04020102020204" pitchFamily="34" charset="0"/>
              </a:rPr>
              <a:t>) and the current through the diode stays within its operating range </a:t>
            </a:r>
            <a:r>
              <a:rPr lang="en-US" altLang="en-US" sz="1400" dirty="0">
                <a:latin typeface="Arial Black" panose="020B0A04020102020204" pitchFamily="34" charset="0"/>
              </a:rPr>
              <a:t>(</a:t>
            </a:r>
            <a:r>
              <a:rPr lang="en-US" altLang="en-US" sz="1400" dirty="0" err="1">
                <a:latin typeface="Arial Black" panose="020B0A04020102020204" pitchFamily="34" charset="0"/>
              </a:rPr>
              <a:t>IzK</a:t>
            </a:r>
            <a:r>
              <a:rPr lang="en-US" altLang="en-US" sz="1400" dirty="0">
                <a:latin typeface="Arial Black" panose="020B0A04020102020204" pitchFamily="34" charset="0"/>
              </a:rPr>
              <a:t> - </a:t>
            </a:r>
            <a:r>
              <a:rPr lang="en-US" altLang="en-US" sz="1400" dirty="0" err="1">
                <a:latin typeface="Arial Black" panose="020B0A04020102020204" pitchFamily="34" charset="0"/>
              </a:rPr>
              <a:t>IzM</a:t>
            </a:r>
            <a:r>
              <a:rPr lang="en-US" altLang="en-US" sz="1400" dirty="0">
                <a:latin typeface="Arial Black" panose="020B0A04020102020204" pitchFamily="34" charset="0"/>
              </a:rPr>
              <a:t>)</a:t>
            </a:r>
            <a:endParaRPr kumimoji="0" lang="en-US" altLang="en-US" sz="1400" b="0" i="0" u="none" strike="noStrike" cap="none" normalizeH="0" baseline="0" dirty="0">
              <a:ln>
                <a:noFill/>
              </a:ln>
              <a:solidFill>
                <a:schemeClr val="tx1"/>
              </a:solidFill>
              <a:effectLst/>
              <a:latin typeface="Arial Black" panose="020B0A04020102020204" pitchFamily="34" charset="0"/>
            </a:endParaRPr>
          </a:p>
        </p:txBody>
      </p:sp>
      <p:sp>
        <p:nvSpPr>
          <p:cNvPr id="4" name="Rectangle 3">
            <a:extLst>
              <a:ext uri="{FF2B5EF4-FFF2-40B4-BE49-F238E27FC236}">
                <a16:creationId xmlns:a16="http://schemas.microsoft.com/office/drawing/2014/main" id="{C330B826-F4B5-463A-AF32-A018D13F411C}"/>
              </a:ext>
            </a:extLst>
          </p:cNvPr>
          <p:cNvSpPr/>
          <p:nvPr/>
        </p:nvSpPr>
        <p:spPr>
          <a:xfrm>
            <a:off x="801466" y="328334"/>
            <a:ext cx="10757973" cy="548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C00000"/>
                </a:solidFill>
                <a:latin typeface="Algerian" panose="04020705040A02060702" pitchFamily="82" charset="0"/>
              </a:rPr>
              <a:t>Zener Diode as a regulator – Loaded condition</a:t>
            </a:r>
          </a:p>
        </p:txBody>
      </p:sp>
      <p:pic>
        <p:nvPicPr>
          <p:cNvPr id="6" name="Picture 5">
            <a:extLst>
              <a:ext uri="{FF2B5EF4-FFF2-40B4-BE49-F238E27FC236}">
                <a16:creationId xmlns:a16="http://schemas.microsoft.com/office/drawing/2014/main" id="{46321B86-CB86-4ABC-B79E-314E1832638C}"/>
              </a:ext>
            </a:extLst>
          </p:cNvPr>
          <p:cNvPicPr>
            <a:picLocks noChangeAspect="1"/>
          </p:cNvPicPr>
          <p:nvPr/>
        </p:nvPicPr>
        <p:blipFill rotWithShape="1">
          <a:blip r:embed="rId2"/>
          <a:srcRect l="20776" t="65034" r="20708" b="-500"/>
          <a:stretch/>
        </p:blipFill>
        <p:spPr>
          <a:xfrm>
            <a:off x="4006078" y="977251"/>
            <a:ext cx="4179843" cy="1923017"/>
          </a:xfrm>
          <a:prstGeom prst="rect">
            <a:avLst/>
          </a:prstGeom>
        </p:spPr>
      </p:pic>
    </p:spTree>
    <p:extLst>
      <p:ext uri="{BB962C8B-B14F-4D97-AF65-F5344CB8AC3E}">
        <p14:creationId xmlns:p14="http://schemas.microsoft.com/office/powerpoint/2010/main" val="1602153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2425A8-BFF0-2824-D9B4-A93EDCB55BB2}"/>
              </a:ext>
            </a:extLst>
          </p:cNvPr>
          <p:cNvSpPr txBox="1"/>
          <p:nvPr/>
        </p:nvSpPr>
        <p:spPr>
          <a:xfrm>
            <a:off x="3048000" y="1582341"/>
            <a:ext cx="6096000" cy="369332"/>
          </a:xfrm>
          <a:prstGeom prst="rect">
            <a:avLst/>
          </a:prstGeom>
          <a:noFill/>
        </p:spPr>
        <p:txBody>
          <a:bodyPr wrap="square">
            <a:spAutoFit/>
          </a:bodyPr>
          <a:lstStyle/>
          <a:p>
            <a:pPr algn="l"/>
            <a:endParaRPr lang="en-US" b="0" i="0" dirty="0">
              <a:solidFill>
                <a:srgbClr val="4A4A4A"/>
              </a:solidFill>
              <a:effectLst/>
              <a:latin typeface="Source Sans Pro" panose="020B0503030403020204" pitchFamily="34" charset="0"/>
            </a:endParaRPr>
          </a:p>
        </p:txBody>
      </p:sp>
      <p:sp>
        <p:nvSpPr>
          <p:cNvPr id="2" name="Rectangle 1">
            <a:extLst>
              <a:ext uri="{FF2B5EF4-FFF2-40B4-BE49-F238E27FC236}">
                <a16:creationId xmlns:a16="http://schemas.microsoft.com/office/drawing/2014/main" id="{056EA8FD-5544-4FE3-A4E7-E631E6AF9896}"/>
              </a:ext>
            </a:extLst>
          </p:cNvPr>
          <p:cNvSpPr/>
          <p:nvPr/>
        </p:nvSpPr>
        <p:spPr>
          <a:xfrm>
            <a:off x="2137410" y="2642616"/>
            <a:ext cx="7917180" cy="2889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600" b="1" dirty="0"/>
              <a:t>Thank You !!!</a:t>
            </a:r>
          </a:p>
        </p:txBody>
      </p:sp>
    </p:spTree>
    <p:extLst>
      <p:ext uri="{BB962C8B-B14F-4D97-AF65-F5344CB8AC3E}">
        <p14:creationId xmlns:p14="http://schemas.microsoft.com/office/powerpoint/2010/main" val="702146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2796</TotalTime>
  <Words>704</Words>
  <Application>Microsoft Office PowerPoint</Application>
  <PresentationFormat>Widescreen</PresentationFormat>
  <Paragraphs>32</Paragraphs>
  <Slides>8</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vt:i4>
      </vt:variant>
    </vt:vector>
  </HeadingPairs>
  <TitlesOfParts>
    <vt:vector size="18" baseType="lpstr">
      <vt:lpstr>Algerian</vt:lpstr>
      <vt:lpstr>Arial</vt:lpstr>
      <vt:lpstr>Arial Black</vt:lpstr>
      <vt:lpstr>Calibri</vt:lpstr>
      <vt:lpstr>Calibri Light</vt:lpstr>
      <vt:lpstr>Source Sans Pro</vt:lpstr>
      <vt:lpstr>Times New Roman</vt:lpstr>
      <vt:lpstr>Wingdings</vt:lpstr>
      <vt:lpstr>Office Theme</vt:lpstr>
      <vt:lpstr>Metropolitan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gaurav singh</dc:creator>
  <cp:lastModifiedBy>DYPIU</cp:lastModifiedBy>
  <cp:revision>119</cp:revision>
  <dcterms:created xsi:type="dcterms:W3CDTF">2022-10-19T11:50:05Z</dcterms:created>
  <dcterms:modified xsi:type="dcterms:W3CDTF">2025-11-06T16:54:11Z</dcterms:modified>
</cp:coreProperties>
</file>