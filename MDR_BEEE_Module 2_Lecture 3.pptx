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88" r:id="rId3"/>
    <p:sldId id="289" r:id="rId4"/>
    <p:sldId id="291" r:id="rId5"/>
    <p:sldId id="282" r:id="rId6"/>
    <p:sldId id="259" r:id="rId7"/>
    <p:sldId id="261" r:id="rId8"/>
    <p:sldId id="292" r:id="rId9"/>
    <p:sldId id="264" r:id="rId10"/>
    <p:sldId id="260" r:id="rId11"/>
    <p:sldId id="267" r:id="rId12"/>
    <p:sldId id="268" r:id="rId13"/>
    <p:sldId id="415" r:id="rId14"/>
    <p:sldId id="270" r:id="rId15"/>
    <p:sldId id="272" r:id="rId16"/>
    <p:sldId id="269" r:id="rId17"/>
    <p:sldId id="276" r:id="rId18"/>
    <p:sldId id="416" r:id="rId19"/>
    <p:sldId id="473" r:id="rId20"/>
    <p:sldId id="474" r:id="rId21"/>
    <p:sldId id="277" r:id="rId22"/>
    <p:sldId id="281" r:id="rId23"/>
    <p:sldId id="470" r:id="rId24"/>
    <p:sldId id="472" r:id="rId25"/>
    <p:sldId id="475" r:id="rId26"/>
    <p:sldId id="29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5:38:54.395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05:44:34.95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62AF2-977A-4B8B-8242-A31F9EF5235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6A08D7-9858-4957-B52C-2B01D2EA4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42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2D5F0-A5CB-9DB7-CE9F-BBD7573D5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CC905-987E-E197-6BC0-C9E13CDDD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2C492-20CD-6A62-6AF2-D5E73D37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0823C-61E4-6525-304E-67433408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959B6-758E-6F57-BAE9-6C4D6E246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0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09F95-20F7-00BA-30B4-1D851BEBF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661C5-AE2F-CCAD-B37C-3376547A0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470E-0EE7-BA51-76D3-E8637A21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7B5C5-A047-0CF8-2D68-926758D13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3E271-8A04-79DD-D51C-B16FE2754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39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543C-AB75-4510-DFF5-3CC29134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43965C-A19A-8062-8C1C-31492B5C5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DFF4E-E9EE-59DF-E22F-2229B181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F7AFA-0D77-2019-A0C9-396DE2F4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C3EEE-56CA-EBCB-5675-B680167A4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27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3E52-C3BF-6ABC-69D3-E58BF93D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F02C0-E0C9-15E3-F7CF-A9972804AD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0CD76-162F-B210-9107-0963FD418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3D69B-53C7-3C4A-44F3-C325070E7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65150-C823-1D81-B697-91580A83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30D26-E895-8A43-FB5D-6A915B21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09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A69C4-47D6-1E14-5F96-DC85EA729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941C85-22A5-F067-B5B2-0905FD51D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A7BDE-060B-C005-0C71-CF58425CF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77531-031E-76E7-2C40-8AB97BD37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212FCE-0555-5C24-3322-DA0A7B8C7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C6F8AE-07AD-E0D5-924E-77C856598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91BD07-F997-57D1-CC1A-D3539578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B819B-4865-A06C-2293-31821CB2F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5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E6621-9C67-7877-2D23-4602C54F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8A0EF6-A82D-D43C-DDB8-830480073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463AA-77E6-FBD6-C3B4-4F557A27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C19DC7-5F78-E1AF-4391-CDF9BCBB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60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3E9D8A-CB20-0538-4BCD-5C7B608C6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93E9A-6A06-AC41-F904-957F4571A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6AA1B-BE53-021F-C7B2-8040C519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03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9FC3-30F2-7084-D4EB-836BFA8C3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8432A-03F8-EF0D-7484-35B90A8DB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A9B5F-8FFF-92F9-431E-170FD0892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0E4A5-7C35-50DC-EA00-24AC50428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A918C-251F-B13C-5166-E8FB224A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3909E-56F0-796D-4CD7-350D41BF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2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9684-27BB-2D52-D45C-81A3DCE59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17859-3B30-0483-1DB8-FC1FCE6CA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F0E6B-E36F-FFBF-C6AB-EFCBF5846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7BE7BB-2245-7DD2-9CA0-1C39D734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B7322-7BAE-7D0F-0B5F-4506BA985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6D844-8FF3-C9D6-DC71-923B75E0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63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7C5F-6024-407C-DEEA-2D3D3059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89405-9FD9-31FB-DFA8-32F32FD93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64138-6F0A-99F5-9FDE-49966362D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F5873-BF24-257E-8D4C-F535C779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6B1C8-9EFF-A80E-9B33-648EEF1E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34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D1E822-127B-62D8-010B-D233C05A8E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E462B2-7BDD-1296-22CC-CDBF501A2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A9C7D-A81D-098A-B99E-A105F5F7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6AE86-F275-7B4B-5E2C-01F2AFB4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36203-A1A3-EDB3-1AD3-041D92CAF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831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03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0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16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36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03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39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975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375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88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58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15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8616CE-C236-D942-5BA2-2816E92E0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8B90B-25C3-6E26-801E-3E8BD1009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77AF-25CE-5104-BBC8-7FE3DD42E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40917-408D-4346-BC92-46DB2D0CD43A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8F01A-06CB-6303-73DD-1BBDBD23B3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C2411-47A7-E51D-F000-8B0A86A59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7AC87-F6B6-4ED0-85F8-65AAD75B64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0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7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2460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708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2: Semiconductor Devices and Applications</a:t>
            </a:r>
            <a:endParaRPr lang="en-IN" sz="3600" b="1" dirty="0">
              <a:solidFill>
                <a:srgbClr val="00206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algn="ctr"/>
            <a:endParaRPr lang="en-I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Lecture 3: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</a:rPr>
              <a:t>Rectifiers: Half-wave, Full-wave (Center-Tap and Bridge)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0628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91922BB-1F74-450D-8E55-D7486C40CE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19" t="33940" r="27535" b="10369"/>
          <a:stretch/>
        </p:blipFill>
        <p:spPr bwMode="auto">
          <a:xfrm>
            <a:off x="2911134" y="2158304"/>
            <a:ext cx="6369732" cy="4548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22D44F-01DA-4C12-81D9-8C111DC1C173}"/>
              </a:ext>
            </a:extLst>
          </p:cNvPr>
          <p:cNvSpPr/>
          <p:nvPr/>
        </p:nvSpPr>
        <p:spPr>
          <a:xfrm>
            <a:off x="3171039" y="151002"/>
            <a:ext cx="5402510" cy="105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Diode as a Rectifier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4EAE9D-552B-4824-B1FB-5EC509B29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943" y="1121674"/>
            <a:ext cx="10990113" cy="880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 Black" panose="020B0A04020102020204" pitchFamily="34" charset="0"/>
              </a:rPr>
              <a:t>A rectifier is an electronic device that converts alternating current (AC) into pulsating direct current (DC) by allowing current to flow in only one direction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0D22A3A-4C14-43CA-AEDD-9D3BA37B1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9604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E09FE63F-5596-4C3A-BCE9-DE484D869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136525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54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5C7C47-3960-63B5-FA68-1126AB94C7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75" t="17445" r="4300" b="4954"/>
          <a:stretch/>
        </p:blipFill>
        <p:spPr>
          <a:xfrm>
            <a:off x="2258567" y="1503402"/>
            <a:ext cx="8842249" cy="44401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AFB145-3FF2-42EB-AC16-448ACF9CB947}"/>
              </a:ext>
            </a:extLst>
          </p:cNvPr>
          <p:cNvSpPr/>
          <p:nvPr/>
        </p:nvSpPr>
        <p:spPr>
          <a:xfrm>
            <a:off x="2839771" y="169290"/>
            <a:ext cx="6512457" cy="937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Rectification application</a:t>
            </a:r>
          </a:p>
        </p:txBody>
      </p:sp>
    </p:spTree>
    <p:extLst>
      <p:ext uri="{BB962C8B-B14F-4D97-AF65-F5344CB8AC3E}">
        <p14:creationId xmlns:p14="http://schemas.microsoft.com/office/powerpoint/2010/main" val="348095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4D1D76-6EAB-4864-61E0-C5E1C5225B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73" t="22840" r="13194" b="13580"/>
          <a:stretch/>
        </p:blipFill>
        <p:spPr>
          <a:xfrm>
            <a:off x="651932" y="1333403"/>
            <a:ext cx="10888133" cy="531002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CB7262-C5C1-4589-912A-31E4637079FA}"/>
              </a:ext>
            </a:extLst>
          </p:cNvPr>
          <p:cNvSpPr/>
          <p:nvPr/>
        </p:nvSpPr>
        <p:spPr>
          <a:xfrm>
            <a:off x="2325148" y="125389"/>
            <a:ext cx="7541702" cy="1266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Regulated power supply</a:t>
            </a:r>
          </a:p>
        </p:txBody>
      </p:sp>
    </p:spTree>
    <p:extLst>
      <p:ext uri="{BB962C8B-B14F-4D97-AF65-F5344CB8AC3E}">
        <p14:creationId xmlns:p14="http://schemas.microsoft.com/office/powerpoint/2010/main" val="2842874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4973E6-4E98-022B-C60C-8930DD1B97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03" t="16111" r="13333" b="8852"/>
          <a:stretch/>
        </p:blipFill>
        <p:spPr>
          <a:xfrm>
            <a:off x="1695448" y="1392126"/>
            <a:ext cx="8932115" cy="51458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EE13FE-85E1-497D-AFF5-F8F27AE70531}"/>
              </a:ext>
            </a:extLst>
          </p:cNvPr>
          <p:cNvSpPr/>
          <p:nvPr/>
        </p:nvSpPr>
        <p:spPr>
          <a:xfrm>
            <a:off x="2325148" y="125389"/>
            <a:ext cx="7541702" cy="1266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Regulated power supply</a:t>
            </a:r>
          </a:p>
        </p:txBody>
      </p:sp>
    </p:spTree>
    <p:extLst>
      <p:ext uri="{BB962C8B-B14F-4D97-AF65-F5344CB8AC3E}">
        <p14:creationId xmlns:p14="http://schemas.microsoft.com/office/powerpoint/2010/main" val="2122302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D210F7-4614-410E-8259-AD68EC849645}"/>
              </a:ext>
            </a:extLst>
          </p:cNvPr>
          <p:cNvSpPr/>
          <p:nvPr/>
        </p:nvSpPr>
        <p:spPr>
          <a:xfrm>
            <a:off x="3171039" y="151002"/>
            <a:ext cx="5402510" cy="105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Half wave Rectifier</a:t>
            </a:r>
          </a:p>
        </p:txBody>
      </p:sp>
      <p:pic>
        <p:nvPicPr>
          <p:cNvPr id="10" name="Picture 4" descr="Half Wave Rectifier">
            <a:extLst>
              <a:ext uri="{FF2B5EF4-FFF2-40B4-BE49-F238E27FC236}">
                <a16:creationId xmlns:a16="http://schemas.microsoft.com/office/drawing/2014/main" id="{6D693065-2C1B-4D88-AD11-3E4B47DBBB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14" r="67755" b="19622"/>
          <a:stretch/>
        </p:blipFill>
        <p:spPr bwMode="auto">
          <a:xfrm>
            <a:off x="7443549" y="2241301"/>
            <a:ext cx="2555997" cy="168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Half Wave Rectifier">
            <a:extLst>
              <a:ext uri="{FF2B5EF4-FFF2-40B4-BE49-F238E27FC236}">
                <a16:creationId xmlns:a16="http://schemas.microsoft.com/office/drawing/2014/main" id="{9F94E401-CCB1-459D-876D-92D9D0220A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14" t="15306" r="287" b="23160"/>
          <a:stretch/>
        </p:blipFill>
        <p:spPr bwMode="auto">
          <a:xfrm>
            <a:off x="7436567" y="4258677"/>
            <a:ext cx="2562979" cy="168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98BF7F0-993D-4CE2-A771-DF982998E19A}"/>
              </a:ext>
            </a:extLst>
          </p:cNvPr>
          <p:cNvSpPr/>
          <p:nvPr/>
        </p:nvSpPr>
        <p:spPr>
          <a:xfrm>
            <a:off x="3067636" y="5961995"/>
            <a:ext cx="1907005" cy="5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Algerian" panose="04020705040A02060702" pitchFamily="82" charset="0"/>
              </a:rPr>
              <a:t>Circuit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D4211C-E4E7-4EB0-BD6F-C3EEE4D8E202}"/>
              </a:ext>
            </a:extLst>
          </p:cNvPr>
          <p:cNvSpPr/>
          <p:nvPr/>
        </p:nvSpPr>
        <p:spPr>
          <a:xfrm>
            <a:off x="7974867" y="5946342"/>
            <a:ext cx="1907005" cy="5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C00000"/>
                </a:solidFill>
                <a:latin typeface="Algerian" panose="04020705040A02060702" pitchFamily="82" charset="0"/>
              </a:rPr>
              <a:t>Waveforms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DB4033-A5F7-4112-8F3A-D83229407766}"/>
              </a:ext>
            </a:extLst>
          </p:cNvPr>
          <p:cNvSpPr txBox="1"/>
          <p:nvPr/>
        </p:nvSpPr>
        <p:spPr>
          <a:xfrm>
            <a:off x="859536" y="1085818"/>
            <a:ext cx="10707624" cy="129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0" i="0" dirty="0">
                <a:effectLst/>
                <a:latin typeface="Arial Black" panose="020B0A04020102020204" pitchFamily="34" charset="0"/>
              </a:rPr>
              <a:t>A half-wave rectifier works by </a:t>
            </a:r>
            <a:r>
              <a:rPr lang="en-GB" dirty="0">
                <a:latin typeface="Arial Black" panose="020B0A04020102020204" pitchFamily="34" charset="0"/>
              </a:rPr>
              <a:t>using a single diode to convert AC to pulsating DC by allowing only the positive half-cycle of the AC waveform to pass through and blocking the negative half-cycle</a:t>
            </a:r>
            <a:r>
              <a:rPr lang="en-GB" b="0" i="0" dirty="0">
                <a:effectLst/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6146" name="Picture 2" descr="Lightbox">
            <a:extLst>
              <a:ext uri="{FF2B5EF4-FFF2-40B4-BE49-F238E27FC236}">
                <a16:creationId xmlns:a16="http://schemas.microsoft.com/office/drawing/2014/main" id="{AC24629F-BD45-4F47-9017-6CCC921A85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4" b="10591"/>
          <a:stretch/>
        </p:blipFill>
        <p:spPr bwMode="auto">
          <a:xfrm>
            <a:off x="1476888" y="2436829"/>
            <a:ext cx="5088503" cy="3469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262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EDFCF5-2EF5-F6D7-A90C-C068B364D5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03" t="3432" r="16592" b="3762"/>
          <a:stretch/>
        </p:blipFill>
        <p:spPr>
          <a:xfrm>
            <a:off x="493798" y="1193848"/>
            <a:ext cx="7210436" cy="48502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31CC98-A658-47CB-94A7-867170D7AA72}"/>
              </a:ext>
            </a:extLst>
          </p:cNvPr>
          <p:cNvSpPr/>
          <p:nvPr/>
        </p:nvSpPr>
        <p:spPr>
          <a:xfrm>
            <a:off x="2557271" y="514851"/>
            <a:ext cx="7077457" cy="455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Half wave Rectifier - working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E82A14-C22D-4FF2-B4EA-EA06644F42E2}"/>
              </a:ext>
            </a:extLst>
          </p:cNvPr>
          <p:cNvSpPr txBox="1"/>
          <p:nvPr/>
        </p:nvSpPr>
        <p:spPr>
          <a:xfrm>
            <a:off x="7861347" y="1397675"/>
            <a:ext cx="417652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Positive half-cycle of the input: </a:t>
            </a:r>
            <a:r>
              <a:rPr lang="en-GB" dirty="0"/>
              <a:t>When the input voltage is positive, the diode is forward biased and act as a short circuit. This allows current to flow through the circuit and through the load resistor. The output voltage at this time is a positive half-sine wave.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D376AD-3683-492D-A336-E55E7D49F5F8}"/>
              </a:ext>
            </a:extLst>
          </p:cNvPr>
          <p:cNvSpPr txBox="1"/>
          <p:nvPr/>
        </p:nvSpPr>
        <p:spPr>
          <a:xfrm>
            <a:off x="7861347" y="3880404"/>
            <a:ext cx="40717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Negative half-cycle of the input: </a:t>
            </a:r>
            <a:r>
              <a:rPr lang="en-GB" dirty="0"/>
              <a:t>When the input voltage is negative, the diode is reverse biased and act as an open circuit. Consequently, there is no current and no output voltage during this half-cycle.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95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D210F7-4614-410E-8259-AD68EC849645}"/>
              </a:ext>
            </a:extLst>
          </p:cNvPr>
          <p:cNvSpPr/>
          <p:nvPr/>
        </p:nvSpPr>
        <p:spPr>
          <a:xfrm>
            <a:off x="3171039" y="167537"/>
            <a:ext cx="5402510" cy="1057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Half wave Rectifier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08EED-2A80-4FC7-B9EF-B35F15649E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33" t="38465" r="16656" b="22438"/>
          <a:stretch/>
        </p:blipFill>
        <p:spPr>
          <a:xfrm>
            <a:off x="1165070" y="1445172"/>
            <a:ext cx="10108888" cy="33275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272ABF-7436-4FE4-899C-4A4972809A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38" t="17392" r="2202" b="65717"/>
          <a:stretch/>
        </p:blipFill>
        <p:spPr>
          <a:xfrm>
            <a:off x="1863493" y="5293957"/>
            <a:ext cx="8465013" cy="8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86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55DF83-5ADB-C736-1862-72FBBA3C66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99" t="16912" r="5650" b="18155"/>
          <a:stretch/>
        </p:blipFill>
        <p:spPr>
          <a:xfrm>
            <a:off x="1281684" y="1465372"/>
            <a:ext cx="9628632" cy="392725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209B2E-56A9-4EC0-BF62-21540E2B68FE}"/>
              </a:ext>
            </a:extLst>
          </p:cNvPr>
          <p:cNvSpPr/>
          <p:nvPr/>
        </p:nvSpPr>
        <p:spPr>
          <a:xfrm>
            <a:off x="338328" y="277265"/>
            <a:ext cx="11713463" cy="8108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Half wave Rectifier – Advantage and drawback</a:t>
            </a:r>
          </a:p>
        </p:txBody>
      </p:sp>
    </p:spTree>
    <p:extLst>
      <p:ext uri="{BB962C8B-B14F-4D97-AF65-F5344CB8AC3E}">
        <p14:creationId xmlns:p14="http://schemas.microsoft.com/office/powerpoint/2010/main" val="3059822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3D5A23-B6CE-F9FC-6908-E953494D88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2" t="11846" r="2500" b="6799"/>
          <a:stretch/>
        </p:blipFill>
        <p:spPr>
          <a:xfrm>
            <a:off x="949807" y="1224549"/>
            <a:ext cx="10292386" cy="49476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0CFB0C0-D8DD-4A09-A190-891B956C08DD}"/>
              </a:ext>
            </a:extLst>
          </p:cNvPr>
          <p:cNvSpPr/>
          <p:nvPr/>
        </p:nvSpPr>
        <p:spPr>
          <a:xfrm>
            <a:off x="2060423" y="275792"/>
            <a:ext cx="8071154" cy="82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Half wave Rectifier - Application</a:t>
            </a:r>
          </a:p>
        </p:txBody>
      </p:sp>
    </p:spTree>
    <p:extLst>
      <p:ext uri="{BB962C8B-B14F-4D97-AF65-F5344CB8AC3E}">
        <p14:creationId xmlns:p14="http://schemas.microsoft.com/office/powerpoint/2010/main" val="790823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Full Wave Rectifier - Definition, Circuit Construction, Working ...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6" t="11940" r="4066" b="2387"/>
          <a:stretch/>
        </p:blipFill>
        <p:spPr bwMode="auto">
          <a:xfrm>
            <a:off x="2016796" y="1983162"/>
            <a:ext cx="8158408" cy="476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65D3C8-CB51-4F7F-B2CB-DDCD95BB3C51}"/>
              </a:ext>
            </a:extLst>
          </p:cNvPr>
          <p:cNvSpPr/>
          <p:nvPr/>
        </p:nvSpPr>
        <p:spPr>
          <a:xfrm>
            <a:off x="1885187" y="472798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FULL wave Rectifier (Centre - tap)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56FB69-D226-4E80-88F0-9A441A9F69AA}"/>
              </a:ext>
            </a:extLst>
          </p:cNvPr>
          <p:cNvSpPr txBox="1"/>
          <p:nvPr/>
        </p:nvSpPr>
        <p:spPr>
          <a:xfrm>
            <a:off x="1051560" y="1156823"/>
            <a:ext cx="105064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 Black" panose="020B0A04020102020204" pitchFamily="34" charset="0"/>
              </a:rPr>
              <a:t>A full-wave rectifier is an electronic circuit that converts both the positive and negative half-cycles of an alternating current (AC) into a pulsating direct current (DC). 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383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57CE5F-D929-7153-CDF0-CE09DE8278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12" t="18646" r="5638" b="75092"/>
          <a:stretch/>
        </p:blipFill>
        <p:spPr>
          <a:xfrm>
            <a:off x="1322831" y="1261951"/>
            <a:ext cx="6696457" cy="2651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99CEBFB-04B3-4FB9-B655-83D7913334E7}"/>
              </a:ext>
            </a:extLst>
          </p:cNvPr>
          <p:cNvSpPr/>
          <p:nvPr/>
        </p:nvSpPr>
        <p:spPr>
          <a:xfrm>
            <a:off x="1126235" y="497002"/>
            <a:ext cx="9764269" cy="3775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FULL wave Rectifier (Centre - tap) - working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54D41-7EF3-4712-86DE-16F206E742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76" t="16401" r="5800" b="10534"/>
          <a:stretch/>
        </p:blipFill>
        <p:spPr>
          <a:xfrm>
            <a:off x="4281675" y="3349387"/>
            <a:ext cx="7296913" cy="33801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D1F9F5-D611-4592-8FA1-B2EC1B1C50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51" t="30306" r="6030" b="56089"/>
          <a:stretch/>
        </p:blipFill>
        <p:spPr>
          <a:xfrm>
            <a:off x="1374647" y="1593899"/>
            <a:ext cx="6626353" cy="576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2533E5-1BCA-41F1-8A83-00F441EE6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12" t="49236" r="5638" b="37159"/>
          <a:stretch/>
        </p:blipFill>
        <p:spPr>
          <a:xfrm>
            <a:off x="1339594" y="2150181"/>
            <a:ext cx="6696457" cy="5761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5E38B34-9B9E-4CAB-9DEF-429D71E2C619}"/>
              </a:ext>
            </a:extLst>
          </p:cNvPr>
          <p:cNvSpPr/>
          <p:nvPr/>
        </p:nvSpPr>
        <p:spPr>
          <a:xfrm>
            <a:off x="3950207" y="3387543"/>
            <a:ext cx="7699249" cy="33888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EFE0A-308C-437C-A30B-EF3C4E6215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12" t="69173" r="5638" b="17221"/>
          <a:stretch/>
        </p:blipFill>
        <p:spPr>
          <a:xfrm>
            <a:off x="1339594" y="2726333"/>
            <a:ext cx="6696457" cy="57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83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ABC324-FE0C-9350-8749-365E714368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5" t="23029" r="6610" b="70094"/>
          <a:stretch/>
        </p:blipFill>
        <p:spPr>
          <a:xfrm>
            <a:off x="1344169" y="1271243"/>
            <a:ext cx="6684263" cy="291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4B316-B17E-4F8D-93E9-52CDE9C283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5" t="34556" r="6610" b="44240"/>
          <a:stretch/>
        </p:blipFill>
        <p:spPr>
          <a:xfrm>
            <a:off x="1344169" y="1562683"/>
            <a:ext cx="6574536" cy="8838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294A69-EC98-486B-B89E-4261D27742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5" t="62127" r="6610" b="31505"/>
          <a:stretch/>
        </p:blipFill>
        <p:spPr>
          <a:xfrm>
            <a:off x="1371601" y="2446537"/>
            <a:ext cx="6684263" cy="2698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8A863E-500B-4EA9-8078-152CBD8FEF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50" t="13732" r="5350" b="9468"/>
          <a:stretch/>
        </p:blipFill>
        <p:spPr>
          <a:xfrm>
            <a:off x="4160520" y="3167353"/>
            <a:ext cx="6973087" cy="335827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9CA9A2A-B92E-4A1E-B2BF-4CC0CFF20D55}"/>
              </a:ext>
            </a:extLst>
          </p:cNvPr>
          <p:cNvSpPr/>
          <p:nvPr/>
        </p:nvSpPr>
        <p:spPr>
          <a:xfrm>
            <a:off x="3959352" y="3167353"/>
            <a:ext cx="7388352" cy="3425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0A2976-34E1-4F81-99C4-194A3279D967}"/>
              </a:ext>
            </a:extLst>
          </p:cNvPr>
          <p:cNvSpPr/>
          <p:nvPr/>
        </p:nvSpPr>
        <p:spPr>
          <a:xfrm>
            <a:off x="1126235" y="497002"/>
            <a:ext cx="9764269" cy="3775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FULL wave Rectifier (Centre - tap) - working</a:t>
            </a:r>
          </a:p>
        </p:txBody>
      </p:sp>
    </p:spTree>
    <p:extLst>
      <p:ext uri="{BB962C8B-B14F-4D97-AF65-F5344CB8AC3E}">
        <p14:creationId xmlns:p14="http://schemas.microsoft.com/office/powerpoint/2010/main" val="1975755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70C269-5188-AC1C-9FA3-3829470FA5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40" t="23431" r="5711" b="24702"/>
          <a:stretch/>
        </p:blipFill>
        <p:spPr>
          <a:xfrm>
            <a:off x="673607" y="1856231"/>
            <a:ext cx="10844784" cy="35570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D4AEAE-2505-4D3E-82DF-9C67D599DA4B}"/>
              </a:ext>
            </a:extLst>
          </p:cNvPr>
          <p:cNvSpPr/>
          <p:nvPr/>
        </p:nvSpPr>
        <p:spPr>
          <a:xfrm>
            <a:off x="1885187" y="472798"/>
            <a:ext cx="8421625" cy="4598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FULL wave Rectifier (Centre - tap)</a:t>
            </a:r>
          </a:p>
        </p:txBody>
      </p:sp>
    </p:spTree>
    <p:extLst>
      <p:ext uri="{BB962C8B-B14F-4D97-AF65-F5344CB8AC3E}">
        <p14:creationId xmlns:p14="http://schemas.microsoft.com/office/powerpoint/2010/main" val="1298028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2AC989-851F-1ABE-ECC3-0E3B19D6BB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75" t="17979" r="4000" b="27088"/>
          <a:stretch/>
        </p:blipFill>
        <p:spPr>
          <a:xfrm>
            <a:off x="1194814" y="1664207"/>
            <a:ext cx="9802369" cy="33021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00E05F6-3EB1-4B2D-99D8-8B2EFF6EA309}"/>
              </a:ext>
            </a:extLst>
          </p:cNvPr>
          <p:cNvSpPr/>
          <p:nvPr/>
        </p:nvSpPr>
        <p:spPr>
          <a:xfrm>
            <a:off x="1194814" y="491086"/>
            <a:ext cx="10120885" cy="395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FULL wave Rectifier (Centre - tap) - Drawback</a:t>
            </a:r>
          </a:p>
        </p:txBody>
      </p:sp>
    </p:spTree>
    <p:extLst>
      <p:ext uri="{BB962C8B-B14F-4D97-AF65-F5344CB8AC3E}">
        <p14:creationId xmlns:p14="http://schemas.microsoft.com/office/powerpoint/2010/main" val="3604964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ridge Rectifier Construction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6" t="6456" r="16445"/>
          <a:stretch/>
        </p:blipFill>
        <p:spPr bwMode="auto">
          <a:xfrm>
            <a:off x="711735" y="3149430"/>
            <a:ext cx="3237294" cy="2551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working-of-bridge-rectifier-1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1" t="5815" r="16290" b="3705"/>
          <a:stretch/>
        </p:blipFill>
        <p:spPr bwMode="auto">
          <a:xfrm>
            <a:off x="4387833" y="1929384"/>
            <a:ext cx="2992952" cy="221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working-of-bridge-rectifier-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0" t="10249" r="12036" b="2052"/>
          <a:stretch/>
        </p:blipFill>
        <p:spPr bwMode="auto">
          <a:xfrm>
            <a:off x="4350810" y="4593644"/>
            <a:ext cx="3312097" cy="221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Full Wave Bridge Rectifier - its Operation, Advantages &amp; Disadvantages -  Circuit Glob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" r="7276" b="6902"/>
          <a:stretch/>
        </p:blipFill>
        <p:spPr bwMode="auto">
          <a:xfrm>
            <a:off x="8064688" y="1900520"/>
            <a:ext cx="3312097" cy="492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5A18FD9-1671-4E18-A591-983AF6E35811}"/>
              </a:ext>
            </a:extLst>
          </p:cNvPr>
          <p:cNvSpPr/>
          <p:nvPr/>
        </p:nvSpPr>
        <p:spPr>
          <a:xfrm>
            <a:off x="2808731" y="482494"/>
            <a:ext cx="6574537" cy="359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FULL wave Rectifier (Bridge)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1409B4-8AC2-4757-8164-2154BABC0FB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550" t="18823" r="7424" b="67977"/>
          <a:stretch/>
        </p:blipFill>
        <p:spPr>
          <a:xfrm>
            <a:off x="2238942" y="1078973"/>
            <a:ext cx="7964423" cy="61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15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49F0C0-28A0-4F4E-B591-09D760EA785A}"/>
                  </a:ext>
                </a:extLst>
              </p14:cNvPr>
              <p14:cNvContentPartPr/>
              <p14:nvPr/>
            </p14:nvContentPartPr>
            <p14:xfrm>
              <a:off x="4928544" y="396828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49F0C0-28A0-4F4E-B591-09D760EA78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19544" y="395928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17CEB8D-1C15-4784-B035-99900D8B8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178" y="301752"/>
            <a:ext cx="10340762" cy="639615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50BA1E5-173A-48B2-B9AE-55815103B662}"/>
              </a:ext>
            </a:extLst>
          </p:cNvPr>
          <p:cNvSpPr/>
          <p:nvPr/>
        </p:nvSpPr>
        <p:spPr>
          <a:xfrm>
            <a:off x="4655820" y="1152144"/>
            <a:ext cx="2880360" cy="5394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lgerian" panose="04020705040A02060702" pitchFamily="82" charset="0"/>
              </a:rPr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1648623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9C7C9E-39CC-497F-9BFE-DF33F538CEDE}"/>
                  </a:ext>
                </a:extLst>
              </p14:cNvPr>
              <p14:cNvContentPartPr/>
              <p14:nvPr/>
            </p14:nvContentPartPr>
            <p14:xfrm>
              <a:off x="859464" y="156348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9C7C9E-39CC-497F-9BFE-DF33F538CE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824" y="155448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BB71BA4-5CAF-4350-8F13-664D0C220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464" y="358985"/>
            <a:ext cx="10724704" cy="614003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573757C6-9ECC-4859-9748-812B86919CB5}"/>
              </a:ext>
            </a:extLst>
          </p:cNvPr>
          <p:cNvSpPr/>
          <p:nvPr/>
        </p:nvSpPr>
        <p:spPr>
          <a:xfrm>
            <a:off x="4655820" y="1152144"/>
            <a:ext cx="2880360" cy="5394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Algerian" panose="04020705040A02060702" pitchFamily="82" charset="0"/>
              </a:rPr>
              <a:t>Working</a:t>
            </a:r>
          </a:p>
        </p:txBody>
      </p:sp>
    </p:spTree>
    <p:extLst>
      <p:ext uri="{BB962C8B-B14F-4D97-AF65-F5344CB8AC3E}">
        <p14:creationId xmlns:p14="http://schemas.microsoft.com/office/powerpoint/2010/main" val="1703805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2B4B2BB-29B4-A2F2-47AC-C0FE81C0BA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75" t="32912" r="5950" b="17221"/>
          <a:stretch/>
        </p:blipFill>
        <p:spPr>
          <a:xfrm>
            <a:off x="696467" y="2258568"/>
            <a:ext cx="10799064" cy="341985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5D2C4A-B024-4D94-A6F0-C6F095B4303C}"/>
              </a:ext>
            </a:extLst>
          </p:cNvPr>
          <p:cNvSpPr/>
          <p:nvPr/>
        </p:nvSpPr>
        <p:spPr>
          <a:xfrm>
            <a:off x="2808731" y="482494"/>
            <a:ext cx="6574537" cy="359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FULL wave Rectifier (Bridge)</a:t>
            </a:r>
          </a:p>
        </p:txBody>
      </p:sp>
    </p:spTree>
    <p:extLst>
      <p:ext uri="{BB962C8B-B14F-4D97-AF65-F5344CB8AC3E}">
        <p14:creationId xmlns:p14="http://schemas.microsoft.com/office/powerpoint/2010/main" val="1208322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BA1362-C3DB-7A46-739E-C838F984A1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75" t="20933" r="19376" b="18133"/>
          <a:stretch/>
        </p:blipFill>
        <p:spPr>
          <a:xfrm>
            <a:off x="1862327" y="1339596"/>
            <a:ext cx="8467344" cy="417880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1A2B6A0-CC76-488E-8E36-B47ED9D18B57}"/>
              </a:ext>
            </a:extLst>
          </p:cNvPr>
          <p:cNvSpPr/>
          <p:nvPr/>
        </p:nvSpPr>
        <p:spPr>
          <a:xfrm>
            <a:off x="1729739" y="473350"/>
            <a:ext cx="9078469" cy="3130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FULL wave Rectifier (Bridge) - Drawback</a:t>
            </a:r>
          </a:p>
        </p:txBody>
      </p:sp>
    </p:spTree>
    <p:extLst>
      <p:ext uri="{BB962C8B-B14F-4D97-AF65-F5344CB8AC3E}">
        <p14:creationId xmlns:p14="http://schemas.microsoft.com/office/powerpoint/2010/main" val="3004216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https://blogger.googleusercontent.com/img/b/R29vZ2xl/AVvXsEh5J_lc8nYvJLzp7C1UFTTYnVyzj-qJN3yr5v1vhfwKI9KLyqP9OTAnuK7lTA9qWO_53ztqvpla1ElvraLWm6OXNuB3UguKnoRMiAtP4euf9yI-JsiaOOARP5noZZJWTb732vTKCjdbi3s6/s1600/ccc110.jpe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/>
          <a:srcRect b="33535"/>
          <a:stretch/>
        </p:blipFill>
        <p:spPr bwMode="auto">
          <a:xfrm>
            <a:off x="1763499" y="1033824"/>
            <a:ext cx="8664999" cy="5533706"/>
          </a:xfrm>
          <a:prstGeom prst="rect">
            <a:avLst/>
          </a:pr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D435AC-79F2-45B9-8205-84CD56C94FC6}"/>
              </a:ext>
            </a:extLst>
          </p:cNvPr>
          <p:cNvSpPr/>
          <p:nvPr/>
        </p:nvSpPr>
        <p:spPr>
          <a:xfrm>
            <a:off x="2717291" y="500782"/>
            <a:ext cx="6574537" cy="359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Rectifier: comparison</a:t>
            </a:r>
          </a:p>
        </p:txBody>
      </p:sp>
    </p:spTree>
    <p:extLst>
      <p:ext uri="{BB962C8B-B14F-4D97-AF65-F5344CB8AC3E}">
        <p14:creationId xmlns:p14="http://schemas.microsoft.com/office/powerpoint/2010/main" val="3706358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C7BCA8-7F08-42D5-8749-5E9C89F49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71" y="195522"/>
            <a:ext cx="9595517" cy="652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03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14BCF8-B744-4114-86B2-F8C8A0AB3683}"/>
              </a:ext>
            </a:extLst>
          </p:cNvPr>
          <p:cNvSpPr txBox="1"/>
          <p:nvPr/>
        </p:nvSpPr>
        <p:spPr>
          <a:xfrm>
            <a:off x="548640" y="302359"/>
            <a:ext cx="11448288" cy="6771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The </a:t>
            </a:r>
            <a:r>
              <a:rPr lang="en-GB" sz="1400" dirty="0">
                <a:solidFill>
                  <a:srgbClr val="FF0000"/>
                </a:solidFill>
                <a:latin typeface="Arial Black" panose="020B0A04020102020204" pitchFamily="34" charset="0"/>
              </a:rPr>
              <a:t>maximum load current 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of a rectifier is the maximum average DC current it can safely deliver to a load, which is limited by the current rating of its individual diode(s)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400" b="0" i="0" dirty="0">
              <a:solidFill>
                <a:srgbClr val="0070C0"/>
              </a:solidFill>
              <a:effectLst/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b="0" i="0" dirty="0">
                <a:solidFill>
                  <a:srgbClr val="0070C0"/>
                </a:solidFill>
                <a:effectLst/>
                <a:latin typeface="Arial Black" panose="020B0A04020102020204" pitchFamily="34" charset="0"/>
              </a:rPr>
              <a:t>The </a:t>
            </a:r>
            <a:r>
              <a:rPr lang="en-GB" sz="1400" b="0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average DC current </a:t>
            </a:r>
            <a:r>
              <a:rPr lang="en-GB" sz="1400" b="0" i="0" dirty="0">
                <a:solidFill>
                  <a:srgbClr val="0070C0"/>
                </a:solidFill>
                <a:effectLst/>
                <a:latin typeface="Arial Black" panose="020B0A04020102020204" pitchFamily="34" charset="0"/>
              </a:rPr>
              <a:t>of a rectifier is 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the average value of the pulsating DC output current over one complete cycle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400" b="0" i="0" dirty="0">
              <a:solidFill>
                <a:srgbClr val="0070C0"/>
              </a:solidFill>
              <a:effectLst/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The </a:t>
            </a:r>
            <a:r>
              <a:rPr lang="en-GB" sz="1400" dirty="0">
                <a:solidFill>
                  <a:srgbClr val="FF0000"/>
                </a:solidFill>
                <a:latin typeface="Arial Black" panose="020B0A04020102020204" pitchFamily="34" charset="0"/>
              </a:rPr>
              <a:t>RMS (Root Mean Square) current 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in a rectifier is the effective value of the current, defined as the square root of the mean of the squared instantaneous current values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4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The </a:t>
            </a:r>
            <a:r>
              <a:rPr lang="en-GB" sz="1400" dirty="0">
                <a:solidFill>
                  <a:srgbClr val="FF0000"/>
                </a:solidFill>
                <a:latin typeface="Arial Black" panose="020B0A04020102020204" pitchFamily="34" charset="0"/>
              </a:rPr>
              <a:t>average DC voltage 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of a rectifier is the average value of the pulsating DC output voltage over one complete cycle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4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The </a:t>
            </a:r>
            <a:r>
              <a:rPr lang="en-GB" sz="1400" dirty="0">
                <a:solidFill>
                  <a:srgbClr val="FF0000"/>
                </a:solidFill>
                <a:latin typeface="Arial Black" panose="020B0A04020102020204" pitchFamily="34" charset="0"/>
              </a:rPr>
              <a:t>AC power input 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of a rectifier is the alternating current (AC) electricity that is fed into the device to be converted into direct current (DC)</a:t>
            </a:r>
          </a:p>
          <a:p>
            <a:endParaRPr lang="en-GB" sz="14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A rectifier's </a:t>
            </a:r>
            <a:r>
              <a:rPr lang="en-GB" sz="1400" dirty="0">
                <a:solidFill>
                  <a:srgbClr val="FF0000"/>
                </a:solidFill>
                <a:latin typeface="Arial Black" panose="020B0A04020102020204" pitchFamily="34" charset="0"/>
              </a:rPr>
              <a:t>DC power output 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is the direct current (DC) electricity produced after converting alternating current (AC) into a steady, one-directional flow</a:t>
            </a:r>
          </a:p>
          <a:p>
            <a:endParaRPr lang="en-GB" sz="14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The </a:t>
            </a:r>
            <a:r>
              <a:rPr lang="en-GB" sz="1400" dirty="0">
                <a:solidFill>
                  <a:srgbClr val="FF0000"/>
                </a:solidFill>
                <a:latin typeface="Arial Black" panose="020B0A04020102020204" pitchFamily="34" charset="0"/>
              </a:rPr>
              <a:t>rectifier efficiency 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is defined as the ratio of the DC output power to the AC input power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4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The </a:t>
            </a:r>
            <a:r>
              <a:rPr lang="en-GB" sz="1400" dirty="0">
                <a:solidFill>
                  <a:srgbClr val="FF0000"/>
                </a:solidFill>
                <a:latin typeface="Arial Black" panose="020B0A04020102020204" pitchFamily="34" charset="0"/>
              </a:rPr>
              <a:t>ripple factor 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of a rectifier is a measure of the AC component remaining in the DC output, representing how "pure" the DC 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4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FF0000"/>
                </a:solidFill>
                <a:latin typeface="Arial Black" panose="020B0A04020102020204" pitchFamily="34" charset="0"/>
              </a:rPr>
              <a:t>Ripple frequency 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is the frequency of the residual AC voltage that remains in a DC power supply after rectification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400" dirty="0">
              <a:solidFill>
                <a:srgbClr val="FF000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>
                <a:solidFill>
                  <a:srgbClr val="FF0000"/>
                </a:solidFill>
                <a:latin typeface="Arial Black" panose="020B0A04020102020204" pitchFamily="34" charset="0"/>
              </a:rPr>
              <a:t>PIV</a:t>
            </a:r>
            <a:r>
              <a:rPr lang="en-GB" sz="1400" dirty="0">
                <a:solidFill>
                  <a:srgbClr val="FF0000"/>
                </a:solidFill>
                <a:latin typeface="Arial Black" panose="020B0A04020102020204" pitchFamily="34" charset="0"/>
              </a:rPr>
              <a:t>, or Peak Inverse Voltage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, is the maximum reverse voltage a diode can withstand without </a:t>
            </a:r>
            <a:r>
              <a:rPr lang="en-GB" sz="1400">
                <a:solidFill>
                  <a:srgbClr val="0070C0"/>
                </a:solidFill>
                <a:latin typeface="Arial Black" panose="020B0A04020102020204" pitchFamily="34" charset="0"/>
              </a:rPr>
              <a:t>being damaged</a:t>
            </a:r>
            <a:endParaRPr lang="en-GB" sz="14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sz="14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FF0000"/>
                </a:solidFill>
                <a:latin typeface="Arial Black" panose="020B0A04020102020204" pitchFamily="34" charset="0"/>
              </a:rPr>
              <a:t>The transformer utilization factor (TUF) </a:t>
            </a:r>
            <a:r>
              <a:rPr lang="en-GB" sz="1400" dirty="0">
                <a:solidFill>
                  <a:srgbClr val="0070C0"/>
                </a:solidFill>
                <a:latin typeface="Arial Black" panose="020B0A04020102020204" pitchFamily="34" charset="0"/>
              </a:rPr>
              <a:t>for a rectifier is the ratio of the DC power delivered to the load to the AC power rating of the transformer's secondary winding</a:t>
            </a:r>
            <a:endParaRPr lang="en-IN" sz="1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19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137410" y="2642616"/>
            <a:ext cx="7917180" cy="288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0214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4973</TotalTime>
  <Words>618</Words>
  <Application>Microsoft Office PowerPoint</Application>
  <PresentationFormat>Widescreen</PresentationFormat>
  <Paragraphs>58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Algerian</vt:lpstr>
      <vt:lpstr>Arial</vt:lpstr>
      <vt:lpstr>Arial Black</vt:lpstr>
      <vt:lpstr>Calibri</vt:lpstr>
      <vt:lpstr>Calibri Light</vt:lpstr>
      <vt:lpstr>Source Sans Pro</vt:lpstr>
      <vt:lpstr>Times New Roman</vt:lpstr>
      <vt:lpstr>Wingdings</vt:lpstr>
      <vt:lpstr>Office Theme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131</cp:revision>
  <dcterms:created xsi:type="dcterms:W3CDTF">2022-10-18T16:13:01Z</dcterms:created>
  <dcterms:modified xsi:type="dcterms:W3CDTF">2025-11-06T04:40:39Z</dcterms:modified>
</cp:coreProperties>
</file>