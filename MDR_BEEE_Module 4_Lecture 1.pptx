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368" r:id="rId2"/>
    <p:sldId id="369" r:id="rId3"/>
    <p:sldId id="371" r:id="rId4"/>
    <p:sldId id="372" r:id="rId5"/>
    <p:sldId id="373" r:id="rId6"/>
    <p:sldId id="304" r:id="rId7"/>
    <p:sldId id="374" r:id="rId8"/>
    <p:sldId id="375" r:id="rId9"/>
    <p:sldId id="376" r:id="rId10"/>
    <p:sldId id="377" r:id="rId11"/>
    <p:sldId id="378" r:id="rId12"/>
    <p:sldId id="379" r:id="rId13"/>
    <p:sldId id="380" r:id="rId14"/>
    <p:sldId id="381" r:id="rId15"/>
    <p:sldId id="299" r:id="rId16"/>
    <p:sldId id="301" r:id="rId17"/>
    <p:sldId id="382" r:id="rId18"/>
    <p:sldId id="303" r:id="rId19"/>
    <p:sldId id="383" r:id="rId20"/>
    <p:sldId id="384" r:id="rId21"/>
    <p:sldId id="385" r:id="rId22"/>
    <p:sldId id="386" r:id="rId23"/>
    <p:sldId id="390" r:id="rId24"/>
    <p:sldId id="387" r:id="rId25"/>
    <p:sldId id="310" r:id="rId26"/>
    <p:sldId id="395" r:id="rId27"/>
    <p:sldId id="391" r:id="rId28"/>
    <p:sldId id="393" r:id="rId29"/>
    <p:sldId id="396" r:id="rId30"/>
    <p:sldId id="302" r:id="rId31"/>
    <p:sldId id="37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82" autoAdjust="0"/>
  </p:normalViewPr>
  <p:slideViewPr>
    <p:cSldViewPr snapToGrid="0">
      <p:cViewPr varScale="1">
        <p:scale>
          <a:sx n="76" d="100"/>
          <a:sy n="76" d="100"/>
        </p:scale>
        <p:origin x="2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E1399-5D02-490B-835E-E1B12F98CAE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05B43C-2C9E-48BA-8AB6-B1F8C338D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26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CCC6F-D71C-43FE-B589-BB073785CC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21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E6E8F0"/>
                </a:solidFill>
                <a:effectLst/>
                <a:latin typeface="Google Sans"/>
              </a:rPr>
              <a:t>The offset null pins (1 and 5) on the IC 741 are </a:t>
            </a:r>
            <a:r>
              <a:rPr lang="en-GB" dirty="0"/>
              <a:t>used to eliminate the output offset voltage</a:t>
            </a:r>
            <a:r>
              <a:rPr lang="en-GB" b="0" i="0" dirty="0">
                <a:solidFill>
                  <a:srgbClr val="E6E8F0"/>
                </a:solidFill>
                <a:effectLst/>
                <a:latin typeface="Google Sans"/>
              </a:rPr>
              <a:t>, which is a small voltage that appears at the output even when there is no input signal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5B43C-2C9E-48BA-8AB6-B1F8C338D7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2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10AB7-0B7F-8D04-DF8F-94D4452297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94E486-B61D-76EE-2633-4C228B5649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45FEA-D725-20E1-29C4-7D8CA9BB7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BCCFE-180C-4958-A81B-2CD30B260F6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1438D-1DFA-BC5A-D760-1584E3CD0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B4D06-673C-407E-7BD9-0D2B8C8DC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08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31C9B-0069-E2C7-7DBE-A3B289810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6BFD7-5A88-CF85-C4D9-6224382ED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D105E-3B08-0C75-CA40-8DF834399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BCCFE-180C-4958-A81B-2CD30B260F6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6D25B-23C8-A391-0ABA-915B7951D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C6B5E-1A3F-2130-D186-8251705B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28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08805-3640-6B5E-EC12-D88783BE2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97504-52CB-85E0-D4B7-57A400D61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C798D-1C95-3658-C0FA-D80D01FF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BCCFE-180C-4958-A81B-2CD30B260F6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6ED82-E50B-AB18-7D59-DB440D845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2CDAE-AFB8-79B1-05CA-06ECE977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258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03612-4BFF-0477-BF1F-EB318570D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423D6-A1AE-3BDA-0295-166E0F7D21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64EE1-EAFD-E367-10BB-E1B5643E6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79F5E-0388-0E18-C92D-E3078290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BCCFE-180C-4958-A81B-2CD30B260F6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5A107-1E42-AEFC-00D3-4BA7FAA8D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76C25-AC01-3647-755D-9AD4D721A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71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3D98E-60E6-1D2D-6152-3EAD04C26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7B2F4-ADE0-0BC2-C079-49216B683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866CD2-B112-9CD4-CD54-AAA53F94D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6189DB-D1A5-057A-658A-1B7CF02852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0D9880-516D-2AE7-5269-5D4F48E147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2F9A40-609E-D381-945D-460481DBB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BCCFE-180C-4958-A81B-2CD30B260F6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202779-5308-B00A-37F9-56B41154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2DD56C-E36A-4D2C-58FA-08D2AEDF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EAF65-0660-BA75-BDF5-D5F6A717B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06A33-D6D0-D10E-C263-FFD039BA6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BCCFE-180C-4958-A81B-2CD30B260F6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9ADA10-4176-0DE3-CAB8-EE6FCBAD9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AB8B3-4041-AE16-8CBC-753FD044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395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E56846-0E68-48CB-49ED-485234942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BCCFE-180C-4958-A81B-2CD30B260F6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8307C6-EFF2-00AC-4C64-539F56788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50272-F034-60E5-B1A7-C7DB6B676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9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88DE6-6E41-5909-2097-77FF26F40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3B59B-EFEC-E535-95FD-F2338085B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34C1F-FDC2-0CA7-15AB-F746C99B7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605E3-F6C9-269F-C44D-C3B177EE1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BCCFE-180C-4958-A81B-2CD30B260F6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FCEE8-A08C-75C0-14EC-B5F86AC40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2D8B2-DD1C-9CCE-F8B1-50510AD75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28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743B7-7BFA-90DB-8628-11F59283A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B308EA-DCEE-651A-5C2C-96B31541C5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40A3B-1145-A785-0374-CF0AB7CF2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0F1F6-A528-E6FF-5732-F804CD013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BCCFE-180C-4958-A81B-2CD30B260F6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233D8-FCBB-B1E4-47DB-DED76B7C7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9855D-4B4C-D411-C9DD-79C586163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858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2871A-59E6-44C2-17AE-C23713405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F618C5-8C73-E195-FCBE-A7673C274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7BFD5-0CB3-A8F6-AEAF-58AE76947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BCCFE-180C-4958-A81B-2CD30B260F6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FD36B-0D9E-37CA-FC9D-205BFC7E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535CF-A264-8AF3-2B48-E4EE67A05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64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64A7D7-96D5-11C0-4511-719FE4AE0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818564-92D3-64EC-B89A-F5C2C2404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B0D19-936E-AB48-3B79-262093BD5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BCCFE-180C-4958-A81B-2CD30B260F6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D4742-8F48-15E2-DB64-9D64E4AB9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5F124-BDDB-4779-88C6-168372F4F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87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795CB8-2A0D-8B61-6D28-7E78A7A9A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F121C-C411-55CF-30DA-52AE8C8EF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7EFB8-C55F-7E2C-B55B-0B470822E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BCCFE-180C-4958-A81B-2CD30B260F6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FC996-C5A9-B80D-3F2C-8899FC9D96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AED9F-1290-21D6-FCF2-298463C63E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5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D925B0-AE19-E2B9-658A-C8272B84BF68}"/>
              </a:ext>
            </a:extLst>
          </p:cNvPr>
          <p:cNvSpPr txBox="1"/>
          <p:nvPr/>
        </p:nvSpPr>
        <p:spPr>
          <a:xfrm>
            <a:off x="0" y="321839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AND ELECTRONICS ENGINEERING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62FAA-F529-C553-DAA9-DE1301ED3032}"/>
              </a:ext>
            </a:extLst>
          </p:cNvPr>
          <p:cNvSpPr txBox="1"/>
          <p:nvPr/>
        </p:nvSpPr>
        <p:spPr>
          <a:xfrm>
            <a:off x="0" y="922475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CSE1002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19A555-6C9B-8A0A-5EF3-8850BD6F8A4C}"/>
              </a:ext>
            </a:extLst>
          </p:cNvPr>
          <p:cNvSpPr txBox="1"/>
          <p:nvPr/>
        </p:nvSpPr>
        <p:spPr>
          <a:xfrm>
            <a:off x="0" y="4624604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Mrunmayee Rahate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Professor, DYPIU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C1866A-9491-240C-FA66-458DACD07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886" y="2312437"/>
            <a:ext cx="1800225" cy="1800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642395-5764-B4A9-7211-391B05C4E175}"/>
              </a:ext>
            </a:extLst>
          </p:cNvPr>
          <p:cNvSpPr txBox="1"/>
          <p:nvPr/>
        </p:nvSpPr>
        <p:spPr>
          <a:xfrm>
            <a:off x="2" y="1573301"/>
            <a:ext cx="12191998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ENGINEERING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2708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BBC2278-4B8F-9818-462E-E7E8827B7D79}"/>
              </a:ext>
            </a:extLst>
          </p:cNvPr>
          <p:cNvSpPr txBox="1"/>
          <p:nvPr/>
        </p:nvSpPr>
        <p:spPr>
          <a:xfrm>
            <a:off x="0" y="1997839"/>
            <a:ext cx="121920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Module 4: Operational Amplifiers (OP-AMPS)</a:t>
            </a:r>
          </a:p>
          <a:p>
            <a:pPr algn="ctr"/>
            <a:endParaRPr lang="en-IN" sz="3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</a:rPr>
              <a:t>Lecture 1: </a:t>
            </a:r>
            <a:r>
              <a:rPr lang="en-GB" sz="3200" b="1" dirty="0">
                <a:solidFill>
                  <a:srgbClr val="C00000"/>
                </a:solidFill>
                <a:latin typeface="Arial" panose="020B0604020202020204" pitchFamily="34" charset="0"/>
              </a:rPr>
              <a:t>Introduction to Differential Amplifier, Ideal OP-AMP Characteristics, Inverting and Non Inverting Configurations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154C5E-51B5-4EEC-C27F-4B5FC2C29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144" y="197614"/>
            <a:ext cx="1366275" cy="136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80628"/>
      </p:ext>
    </p:extLst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9907F2-AA96-4E22-AB71-0E68E7DFB079}"/>
              </a:ext>
            </a:extLst>
          </p:cNvPr>
          <p:cNvSpPr/>
          <p:nvPr/>
        </p:nvSpPr>
        <p:spPr>
          <a:xfrm>
            <a:off x="328580" y="366993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4169AA-C0BD-4A42-93B5-1D4C9BF2F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91" y="1086966"/>
            <a:ext cx="10907817" cy="57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21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0F9844-87A5-4322-9EDA-60DAFD951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01" y="1332097"/>
            <a:ext cx="10794397" cy="419380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51C1016-A10F-4DB2-9171-E8DFA883E1FE}"/>
              </a:ext>
            </a:extLst>
          </p:cNvPr>
          <p:cNvSpPr/>
          <p:nvPr/>
        </p:nvSpPr>
        <p:spPr>
          <a:xfrm>
            <a:off x="328580" y="366993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Functional Block Diagram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89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46C4A3-3C56-4382-84F3-1D59D67DE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31" y="1101758"/>
            <a:ext cx="10658738" cy="538924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4243E56-146A-4191-9285-002AC7536830}"/>
              </a:ext>
            </a:extLst>
          </p:cNvPr>
          <p:cNvSpPr/>
          <p:nvPr/>
        </p:nvSpPr>
        <p:spPr>
          <a:xfrm>
            <a:off x="328580" y="366993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Functional Block Diagram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82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C5922E-42C2-BFA3-3118-778262EA8A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985" t="33531" r="22604" b="17779"/>
          <a:stretch/>
        </p:blipFill>
        <p:spPr>
          <a:xfrm>
            <a:off x="1035530" y="1778466"/>
            <a:ext cx="10120940" cy="430355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B698206-E82B-4699-942C-85AA1D4A3DAC}"/>
              </a:ext>
            </a:extLst>
          </p:cNvPr>
          <p:cNvSpPr/>
          <p:nvPr/>
        </p:nvSpPr>
        <p:spPr>
          <a:xfrm>
            <a:off x="328580" y="366993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general purpose Ic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727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9D25A8-7F92-46BD-A462-CBBDAEB05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123" y="1131692"/>
            <a:ext cx="9411754" cy="50782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6B57FA-6FAE-4E90-890E-BD939F53CF47}"/>
              </a:ext>
            </a:extLst>
          </p:cNvPr>
          <p:cNvSpPr/>
          <p:nvPr/>
        </p:nvSpPr>
        <p:spPr>
          <a:xfrm>
            <a:off x="328580" y="316660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Symbol and Terminal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116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37AEA4-6A8B-44FA-802E-F95DC76EE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976" y="1347101"/>
            <a:ext cx="6960047" cy="493938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CADA8-BB8F-46AD-A226-8C37E1B8A389}"/>
              </a:ext>
            </a:extLst>
          </p:cNvPr>
          <p:cNvSpPr/>
          <p:nvPr/>
        </p:nvSpPr>
        <p:spPr>
          <a:xfrm>
            <a:off x="328580" y="366993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Equivalent Circuit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63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39449E-5150-421E-A87B-527841C0D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330" y="877748"/>
            <a:ext cx="8669339" cy="574748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306DE05-4729-4BFC-B8C1-0AEFF4EDD1E7}"/>
              </a:ext>
            </a:extLst>
          </p:cNvPr>
          <p:cNvSpPr/>
          <p:nvPr/>
        </p:nvSpPr>
        <p:spPr>
          <a:xfrm>
            <a:off x="328580" y="366993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Ideal Case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988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2357CF-27B9-4D71-B8D6-946D52584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490" y="876976"/>
            <a:ext cx="8887019" cy="58749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EFA9E6F-5069-47FE-AB42-F914CDE35899}"/>
              </a:ext>
            </a:extLst>
          </p:cNvPr>
          <p:cNvSpPr/>
          <p:nvPr/>
        </p:nvSpPr>
        <p:spPr>
          <a:xfrm>
            <a:off x="328580" y="366993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Ideal Case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383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96F106-1F45-4C53-A85A-E3C81AD30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747" y="1033228"/>
            <a:ext cx="8554506" cy="535079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4730F64-E0D0-40C2-9878-3D5EDAB8B963}"/>
              </a:ext>
            </a:extLst>
          </p:cNvPr>
          <p:cNvSpPr/>
          <p:nvPr/>
        </p:nvSpPr>
        <p:spPr>
          <a:xfrm>
            <a:off x="328580" y="366993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Ideal Case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565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0E78E7-4D2A-45A2-9C34-24CEB3A59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564" y="1013005"/>
            <a:ext cx="8419062" cy="563206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F99D6B6-5A2D-4B30-8A52-8C3C0EA36DC3}"/>
              </a:ext>
            </a:extLst>
          </p:cNvPr>
          <p:cNvSpPr/>
          <p:nvPr/>
        </p:nvSpPr>
        <p:spPr>
          <a:xfrm>
            <a:off x="328580" y="366993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Ideal Case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313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01AC38-CC39-4840-9745-1F5CE7AB8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312" y="1229982"/>
            <a:ext cx="8021375" cy="540571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16FF145-BC55-4F10-BB99-D8CDEB92270D}"/>
              </a:ext>
            </a:extLst>
          </p:cNvPr>
          <p:cNvSpPr/>
          <p:nvPr/>
        </p:nvSpPr>
        <p:spPr>
          <a:xfrm>
            <a:off x="328580" y="366993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Ideal Case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757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AD9340-8A38-4D62-8071-34F9E1A2B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177" y="1312302"/>
            <a:ext cx="8119646" cy="5239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3BABE49-B316-45EC-BB29-14BC8029CADD}"/>
              </a:ext>
            </a:extLst>
          </p:cNvPr>
          <p:cNvSpPr/>
          <p:nvPr/>
        </p:nvSpPr>
        <p:spPr>
          <a:xfrm>
            <a:off x="328580" y="366993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Ideal Case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716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32D892-B24E-9EA8-5978-8744B402D18F}"/>
              </a:ext>
            </a:extLst>
          </p:cNvPr>
          <p:cNvSpPr/>
          <p:nvPr/>
        </p:nvSpPr>
        <p:spPr>
          <a:xfrm>
            <a:off x="11133667" y="6333066"/>
            <a:ext cx="584200" cy="3633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0BA20B-BB8D-42CD-BD49-850E71599E74}"/>
              </a:ext>
            </a:extLst>
          </p:cNvPr>
          <p:cNvSpPr/>
          <p:nvPr/>
        </p:nvSpPr>
        <p:spPr>
          <a:xfrm>
            <a:off x="328580" y="366993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CMRR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CBEEFAF-C1E7-4A02-A017-BA8C1F3C3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875" y="1181219"/>
            <a:ext cx="8770249" cy="524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234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6936C43-17C1-4613-AC8B-9D57CC7EE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964" y="1040234"/>
            <a:ext cx="8424072" cy="551576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FDBA37B-6DC5-438A-B683-E264152FA87D}"/>
              </a:ext>
            </a:extLst>
          </p:cNvPr>
          <p:cNvSpPr/>
          <p:nvPr/>
        </p:nvSpPr>
        <p:spPr>
          <a:xfrm>
            <a:off x="328580" y="366993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CMRR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624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460799-DA11-4FA1-A1FE-48B7A378F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157" y="1332958"/>
            <a:ext cx="8293685" cy="509093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85D4F3A-2A06-4CD4-982C-63F555BEEE5D}"/>
              </a:ext>
            </a:extLst>
          </p:cNvPr>
          <p:cNvSpPr/>
          <p:nvPr/>
        </p:nvSpPr>
        <p:spPr>
          <a:xfrm>
            <a:off x="328580" y="366993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Ideal Case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7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A96D5F-B890-30DD-842E-418D292108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86" t="25902" r="16389" b="15926"/>
          <a:stretch/>
        </p:blipFill>
        <p:spPr>
          <a:xfrm>
            <a:off x="1421958" y="1577130"/>
            <a:ext cx="9348083" cy="43311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50FF994-39CC-4A97-8B54-17504E114639}"/>
              </a:ext>
            </a:extLst>
          </p:cNvPr>
          <p:cNvSpPr/>
          <p:nvPr/>
        </p:nvSpPr>
        <p:spPr>
          <a:xfrm>
            <a:off x="328580" y="366993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Slew Rate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968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FBEE15-AEF5-4492-BE2B-15681A0D1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993" y="1125387"/>
            <a:ext cx="8264014" cy="53656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71EC1E-64F8-4370-8BA7-1D2718DF1574}"/>
              </a:ext>
            </a:extLst>
          </p:cNvPr>
          <p:cNvSpPr/>
          <p:nvPr/>
        </p:nvSpPr>
        <p:spPr>
          <a:xfrm>
            <a:off x="328580" y="366993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Ideal Case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383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0B40D5-117E-4002-AFB9-AA28DA832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051" y="1265145"/>
            <a:ext cx="8345898" cy="53591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DEDAD0-BC8C-4B7E-8B6D-B1BBAAF73F50}"/>
              </a:ext>
            </a:extLst>
          </p:cNvPr>
          <p:cNvSpPr/>
          <p:nvPr/>
        </p:nvSpPr>
        <p:spPr>
          <a:xfrm>
            <a:off x="328580" y="366993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Ideal Case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8416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81A635-9B34-4177-9CCF-B5C3FB326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983" y="830511"/>
            <a:ext cx="7756033" cy="584952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E45EB9-6DC4-4FCD-BC3E-7DBFA5BE4D93}"/>
              </a:ext>
            </a:extLst>
          </p:cNvPr>
          <p:cNvSpPr/>
          <p:nvPr/>
        </p:nvSpPr>
        <p:spPr>
          <a:xfrm>
            <a:off x="328580" y="366993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Ideal Case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248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279E69-14C9-4B8A-8E2F-343C2C19E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740" y="1354118"/>
            <a:ext cx="9688520" cy="53078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D7D9F4A-DCB3-4B1D-8A06-541B60A292A1}"/>
              </a:ext>
            </a:extLst>
          </p:cNvPr>
          <p:cNvSpPr/>
          <p:nvPr/>
        </p:nvSpPr>
        <p:spPr>
          <a:xfrm>
            <a:off x="328580" y="559940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Ideal and Practical Values</a:t>
            </a:r>
          </a:p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of Performance Parameters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114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01ACE9-37E7-449D-BADD-7BA0EAEC5E9D}"/>
              </a:ext>
            </a:extLst>
          </p:cNvPr>
          <p:cNvSpPr/>
          <p:nvPr/>
        </p:nvSpPr>
        <p:spPr>
          <a:xfrm>
            <a:off x="328580" y="366993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Open Loop Configuration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DE7BB8-A536-41FA-805F-F42FC9268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424" y="633046"/>
            <a:ext cx="10135152" cy="605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3167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3F041FB-513F-4D50-B50B-A139BCD9F05D}"/>
              </a:ext>
            </a:extLst>
          </p:cNvPr>
          <p:cNvSpPr/>
          <p:nvPr/>
        </p:nvSpPr>
        <p:spPr>
          <a:xfrm>
            <a:off x="328580" y="559940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Open Loop Configuration</a:t>
            </a:r>
          </a:p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- Drawback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259B75-3241-40BC-897E-5AC841A27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5" y="1389643"/>
            <a:ext cx="11984029" cy="546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4118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A333E3-33D4-2149-0612-535723BD24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48" t="24600" r="16528" b="18025"/>
          <a:stretch/>
        </p:blipFill>
        <p:spPr>
          <a:xfrm>
            <a:off x="1102429" y="1593741"/>
            <a:ext cx="9987141" cy="45638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266E98F-440F-4BAC-B3DE-C28BCBE09862}"/>
              </a:ext>
            </a:extLst>
          </p:cNvPr>
          <p:cNvSpPr/>
          <p:nvPr/>
        </p:nvSpPr>
        <p:spPr>
          <a:xfrm>
            <a:off x="328580" y="601885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Concept of Negative feedback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6680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FCE62D-3F74-4EAC-8EAF-E99F2C5A3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54" y="1236133"/>
            <a:ext cx="11600492" cy="550333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8E52E34-4C3A-4B7B-95A8-12D41883B1F6}"/>
              </a:ext>
            </a:extLst>
          </p:cNvPr>
          <p:cNvSpPr/>
          <p:nvPr/>
        </p:nvSpPr>
        <p:spPr>
          <a:xfrm>
            <a:off x="328580" y="610274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Closed Loop Configuration -</a:t>
            </a:r>
          </a:p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Inverting Amplifier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660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49C5280-A5B8-4597-AC78-36E243E5D810}"/>
              </a:ext>
            </a:extLst>
          </p:cNvPr>
          <p:cNvSpPr/>
          <p:nvPr/>
        </p:nvSpPr>
        <p:spPr>
          <a:xfrm>
            <a:off x="328580" y="601885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concept of virtual ground and virtual short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2050" name="Picture 2" descr="virtual ground concept in op amp - YouTube">
            <a:extLst>
              <a:ext uri="{FF2B5EF4-FFF2-40B4-BE49-F238E27FC236}">
                <a16:creationId xmlns:a16="http://schemas.microsoft.com/office/drawing/2014/main" id="{3979C191-CB3A-4E87-824E-05FFA10CC0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96" t="3425" r="17844" b="15718"/>
          <a:stretch/>
        </p:blipFill>
        <p:spPr bwMode="auto">
          <a:xfrm>
            <a:off x="2424419" y="1427449"/>
            <a:ext cx="7526573" cy="534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7685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F0B59C-7FAD-4044-BC3D-E06FF9699E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54"/>
          <a:stretch/>
        </p:blipFill>
        <p:spPr>
          <a:xfrm>
            <a:off x="410767" y="1391266"/>
            <a:ext cx="11370466" cy="53174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CFDF804-0257-4890-9946-AF323AE3AF3D}"/>
              </a:ext>
            </a:extLst>
          </p:cNvPr>
          <p:cNvSpPr/>
          <p:nvPr/>
        </p:nvSpPr>
        <p:spPr>
          <a:xfrm>
            <a:off x="328580" y="610274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Closed Loop Configuration -</a:t>
            </a:r>
          </a:p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Non - Inverting Amplifier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0507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D0DC18-6313-43BF-AB7A-693E49B15409}"/>
              </a:ext>
            </a:extLst>
          </p:cNvPr>
          <p:cNvSpPr/>
          <p:nvPr/>
        </p:nvSpPr>
        <p:spPr>
          <a:xfrm>
            <a:off x="328580" y="491741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numerical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821BF1-558D-4C80-9B33-0B7565C11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38" y="982133"/>
            <a:ext cx="10757123" cy="57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1859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B2C0B8C-8F76-4CD2-98FB-CB9784B397B3}"/>
              </a:ext>
            </a:extLst>
          </p:cNvPr>
          <p:cNvSpPr/>
          <p:nvPr/>
        </p:nvSpPr>
        <p:spPr>
          <a:xfrm>
            <a:off x="328580" y="491741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numerical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B590B0-0FF2-4573-B5C6-D918BA3AF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256" y="953444"/>
            <a:ext cx="5940544" cy="569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412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2425A8-BFF0-2824-D9B4-A93EDCB55BB2}"/>
              </a:ext>
            </a:extLst>
          </p:cNvPr>
          <p:cNvSpPr txBox="1"/>
          <p:nvPr/>
        </p:nvSpPr>
        <p:spPr>
          <a:xfrm>
            <a:off x="3048000" y="15823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solidFill>
                <a:srgbClr val="4A4A4A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6EA8FD-5544-4FE3-A4E7-E631E6AF9896}"/>
              </a:ext>
            </a:extLst>
          </p:cNvPr>
          <p:cNvSpPr/>
          <p:nvPr/>
        </p:nvSpPr>
        <p:spPr>
          <a:xfrm>
            <a:off x="2137410" y="2642616"/>
            <a:ext cx="7917180" cy="2889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600" b="1" dirty="0"/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2906306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6139</TotalTime>
  <Words>255</Words>
  <Application>Microsoft Office PowerPoint</Application>
  <PresentationFormat>Widescreen</PresentationFormat>
  <Paragraphs>44</Paragraphs>
  <Slides>31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Algerian</vt:lpstr>
      <vt:lpstr>Arial</vt:lpstr>
      <vt:lpstr>Calibri</vt:lpstr>
      <vt:lpstr>Calibri Light</vt:lpstr>
      <vt:lpstr>Google Sans</vt:lpstr>
      <vt:lpstr>Source Sans Pro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gaurav singh</dc:creator>
  <cp:lastModifiedBy>DYPIU</cp:lastModifiedBy>
  <cp:revision>136</cp:revision>
  <dcterms:created xsi:type="dcterms:W3CDTF">2023-10-30T08:26:26Z</dcterms:created>
  <dcterms:modified xsi:type="dcterms:W3CDTF">2025-11-18T16:19:33Z</dcterms:modified>
</cp:coreProperties>
</file>