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11" r:id="rId2"/>
    <p:sldId id="312" r:id="rId3"/>
    <p:sldId id="329" r:id="rId4"/>
    <p:sldId id="324" r:id="rId5"/>
    <p:sldId id="325" r:id="rId6"/>
    <p:sldId id="326" r:id="rId7"/>
    <p:sldId id="321" r:id="rId8"/>
    <p:sldId id="322" r:id="rId9"/>
    <p:sldId id="323" r:id="rId10"/>
    <p:sldId id="327" r:id="rId11"/>
    <p:sldId id="328" r:id="rId12"/>
    <p:sldId id="301" r:id="rId13"/>
    <p:sldId id="31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2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4FB8B2-E06C-471F-835E-4575AD93200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E283B9-E602-4ACC-8D5D-8E5DB206C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963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CCC6F-D71C-43FE-B589-BB073785CCC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21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482D5-36F0-6ACE-47B7-5CC8E8122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89C8EE-3ABC-EABB-4F61-8286068032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CAE54-D365-56B5-6F3A-4FCC7158E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C9C92-838A-4D9E-9942-5B120E15784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6B65E-C255-1C3D-E115-AD3573D7B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2398A-E07B-1D05-C120-006729A8E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346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27BD3-CED0-AA97-4F0D-1B6026DD7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7CDF3-3894-7CCB-12F3-9924861B7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46DE0-0B54-6080-15BD-632F8E2BB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C9C92-838A-4D9E-9942-5B120E15784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36803-7F12-38BD-250E-2A47AE568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ADCD3-E655-2859-6200-D611E8BC2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513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B3991-B2CC-5536-1671-A741CB007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729C3-C860-1673-173B-4C5CA834C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A4E1A-4DC2-9628-8A3B-0F12DE2D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C9C92-838A-4D9E-9942-5B120E15784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6D7F1-FAA6-89EE-78B1-E6D353ED3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5D8C7-586E-A374-B1C3-86FC5162F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30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48C84-C6F2-D60D-DD62-89CB616D4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A8E12-3297-CF09-F3D9-ACDFB49738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4C0FB8-99DA-31E4-1145-E696915436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AABA3B-5C36-7359-D3A7-D7B05F0BE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C9C92-838A-4D9E-9942-5B120E15784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056A11-AA50-0A7E-46AC-8FC8766B8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60864F-7293-220A-31CA-C330C5528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507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889D3-548C-8F72-F272-08EB5A01D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59A8F-6FBB-EE7B-5AE1-39A155BB9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A513D-895D-5FD2-9A62-E089958DA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83754E-AE65-7227-D049-5F08D26659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32B4B0-DEE9-C84C-66A3-A1B0665B30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43BAF4-CB8B-20F2-AC02-096BF8927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C9C92-838A-4D9E-9942-5B120E15784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CE27A2-2DF0-04A6-A7EF-391E6F4C7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66A647-2821-E360-B1CF-2D72BBD67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623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9814E-ADA6-7214-6464-DAEF60568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1E6497-A9D7-5A91-D81B-C3C73E485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C9C92-838A-4D9E-9942-5B120E15784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5A60D-BD3D-C5DC-D518-F0D6BA2AE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FF345E-DC77-FA4F-3FB2-FAE2B716E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191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D9C057-06CC-14E4-584D-5EEAE0082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C9C92-838A-4D9E-9942-5B120E15784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81A6EB-B6E1-E295-9F34-7E5B51375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E337FC-436F-440F-0396-39316C1E5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469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044EE-981D-1A1E-17A7-BE44D7173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CE841-6AFB-4B1F-C013-963364C3A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398762-B4CD-5FD4-4D8C-7CF0339F41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3DD10C-C0F9-45E6-E488-17D045062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C9C92-838A-4D9E-9942-5B120E15784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CA4F3-708B-BD2C-1EA3-DF97CE625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3FB5C8-CD53-A25E-EDF0-604033A1D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361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FA212-0680-96BA-C9BF-8E741CDD2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F4AD5A-94A8-9844-ACBD-8B1A1E72C0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9CC1D-55DC-A325-AD67-74FD6F57B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E6A9A-2F64-D5E4-8215-4B9A11708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C9C92-838A-4D9E-9942-5B120E15784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06A03-AE86-0B10-BA6E-C0176AB59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FB175-8BF5-EB67-4E9D-71BD307C8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839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DD408-FB3A-46E3-C734-51B9E150E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34DDDE-83D2-1C9F-8C31-9E9D2327A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EFA5C-C314-BC5A-AB65-2630FCD12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C9C92-838A-4D9E-9942-5B120E15784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AA971-182C-E0A3-40E7-F3774D922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BCCDA-F228-B986-B357-D1ADE7B2B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23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29DBA4-8476-495D-BCB1-D20F3FB025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8AB3A1-0061-3890-17D7-501C71092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10E57-E41A-E0CD-37A5-550A70EE9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C9C92-838A-4D9E-9942-5B120E15784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56535-69D9-6AFD-57F8-AA1B14A21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BD8E5-2EA0-EBF5-8B3B-C47CBBCFF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875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703F04-E98E-FC96-4AE1-AD4F22C4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507B2-0F36-CA3F-F91E-3693DA47A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1EAA6-C164-F841-F56B-10F2C7DD5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C9C92-838A-4D9E-9942-5B120E15784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1CDA4-5A9F-EBCA-EC69-D9607550F1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C9625-4562-FE96-6827-D570FEBAC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07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2D925B0-AE19-E2B9-658A-C8272B84BF68}"/>
              </a:ext>
            </a:extLst>
          </p:cNvPr>
          <p:cNvSpPr txBox="1"/>
          <p:nvPr/>
        </p:nvSpPr>
        <p:spPr>
          <a:xfrm>
            <a:off x="0" y="321839"/>
            <a:ext cx="12191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ELECTRICAL AND ELECTRONICS ENGINEERING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862FAA-F529-C553-DAA9-DE1301ED3032}"/>
              </a:ext>
            </a:extLst>
          </p:cNvPr>
          <p:cNvSpPr txBox="1"/>
          <p:nvPr/>
        </p:nvSpPr>
        <p:spPr>
          <a:xfrm>
            <a:off x="0" y="922475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CSE1002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19A555-6C9B-8A0A-5EF3-8850BD6F8A4C}"/>
              </a:ext>
            </a:extLst>
          </p:cNvPr>
          <p:cNvSpPr txBox="1"/>
          <p:nvPr/>
        </p:nvSpPr>
        <p:spPr>
          <a:xfrm>
            <a:off x="0" y="4624604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Mrunmayee Rahate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Assistant Professor, DYPIU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C1866A-9491-240C-FA66-458DACD07E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886" y="2312437"/>
            <a:ext cx="1800225" cy="18002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642395-5764-B4A9-7211-391B05C4E175}"/>
              </a:ext>
            </a:extLst>
          </p:cNvPr>
          <p:cNvSpPr txBox="1"/>
          <p:nvPr/>
        </p:nvSpPr>
        <p:spPr>
          <a:xfrm>
            <a:off x="2" y="1573301"/>
            <a:ext cx="12191998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SCIENCE ENGINEERING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27088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BBC2278-4B8F-9818-462E-E7E8827B7D79}"/>
              </a:ext>
            </a:extLst>
          </p:cNvPr>
          <p:cNvSpPr txBox="1"/>
          <p:nvPr/>
        </p:nvSpPr>
        <p:spPr>
          <a:xfrm>
            <a:off x="0" y="1997839"/>
            <a:ext cx="1219200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Module 3: Bipolar Junction Transistors and MOSFET</a:t>
            </a:r>
          </a:p>
          <a:p>
            <a:pPr algn="ctr"/>
            <a:endParaRPr lang="en-IN" sz="36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/>
            <a:r>
              <a:rPr lang="en-IN" sz="3200" b="1" dirty="0">
                <a:solidFill>
                  <a:srgbClr val="C00000"/>
                </a:solidFill>
                <a:latin typeface="Arial" panose="020B0604020202020204" pitchFamily="34" charset="0"/>
              </a:rPr>
              <a:t>Lecture 2: </a:t>
            </a:r>
            <a:r>
              <a:rPr lang="en-GB" sz="3200" b="1" dirty="0">
                <a:solidFill>
                  <a:srgbClr val="C00000"/>
                </a:solidFill>
                <a:latin typeface="Arial" panose="020B0604020202020204" pitchFamily="34" charset="0"/>
              </a:rPr>
              <a:t>BJT Configurations: Common Base, Common Emitter, Common Collector and Characteristics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154C5E-51B5-4EEC-C27F-4B5FC2C29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144" y="197614"/>
            <a:ext cx="1366275" cy="136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580628"/>
      </p:ext>
    </p:extLst>
  </p:cSld>
  <p:clrMapOvr>
    <a:masterClrMapping/>
  </p:clrMapOvr>
  <p:transition spd="slow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A7A593-31F6-450E-9C34-A23A2B78C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25" y="726643"/>
            <a:ext cx="11038950" cy="59845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290AEEC-C146-48B6-88D0-C63D3940F437}"/>
              </a:ext>
            </a:extLst>
          </p:cNvPr>
          <p:cNvSpPr/>
          <p:nvPr/>
        </p:nvSpPr>
        <p:spPr>
          <a:xfrm>
            <a:off x="1182932" y="386407"/>
            <a:ext cx="9826135" cy="2931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Bipolar Junction Transistor: configurations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199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274885-472B-AC86-FD43-4EE8873DD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969" y="2054360"/>
            <a:ext cx="8844061" cy="46834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81A1009-BD2C-48B9-89D7-BC7D06A5D0B9}"/>
              </a:ext>
            </a:extLst>
          </p:cNvPr>
          <p:cNvSpPr/>
          <p:nvPr/>
        </p:nvSpPr>
        <p:spPr>
          <a:xfrm>
            <a:off x="685143" y="618660"/>
            <a:ext cx="10821714" cy="2931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Bipolar Junction Transistor: Common Emitter (cE) configuration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22DA64-6966-4982-BACA-9D9D701421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371" t="76811" r="21335" b="16761"/>
          <a:stretch/>
        </p:blipFill>
        <p:spPr>
          <a:xfrm>
            <a:off x="1750586" y="1407294"/>
            <a:ext cx="8690828" cy="52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650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242DB1-2D04-4379-9BE4-A7C1D624CDDF}"/>
              </a:ext>
            </a:extLst>
          </p:cNvPr>
          <p:cNvSpPr/>
          <p:nvPr/>
        </p:nvSpPr>
        <p:spPr>
          <a:xfrm>
            <a:off x="685143" y="618660"/>
            <a:ext cx="10821714" cy="2931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Bipolar Junction Transistor: Common Emitter (cE) configuration – Input dc characteristics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5E8682-F4EE-4D32-9B4A-F59B0D61A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388" y="1484194"/>
            <a:ext cx="10705469" cy="528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057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EB202F-2A58-4CBF-AB34-DAD5BD0F6EAB}"/>
              </a:ext>
            </a:extLst>
          </p:cNvPr>
          <p:cNvSpPr/>
          <p:nvPr/>
        </p:nvSpPr>
        <p:spPr>
          <a:xfrm>
            <a:off x="685143" y="618660"/>
            <a:ext cx="10821714" cy="2931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Bipolar Junction Transistor: Common Emitter (cE) configuration – output dc characteristics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D357A4-1A94-4FFE-92BD-04723D778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12" y="1537330"/>
            <a:ext cx="10632575" cy="532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838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87FEEB-B164-FA44-EF17-CF67EDF79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185" y="2012178"/>
            <a:ext cx="8874619" cy="463345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C8892CB-E19A-477F-A2DC-9A2DB7C8F625}"/>
              </a:ext>
            </a:extLst>
          </p:cNvPr>
          <p:cNvSpPr/>
          <p:nvPr/>
        </p:nvSpPr>
        <p:spPr>
          <a:xfrm>
            <a:off x="685143" y="618660"/>
            <a:ext cx="10821714" cy="2931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Bipolar Junction Transistor: Common base (cb) configuration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6D0443-7EF1-433D-B07C-539E970305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857" t="76402" r="21540" b="16582"/>
          <a:stretch/>
        </p:blipFill>
        <p:spPr>
          <a:xfrm>
            <a:off x="1535185" y="1325459"/>
            <a:ext cx="8978069" cy="59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134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CABE381-6431-4503-BDD8-251405444FA5}"/>
              </a:ext>
            </a:extLst>
          </p:cNvPr>
          <p:cNvSpPr/>
          <p:nvPr/>
        </p:nvSpPr>
        <p:spPr>
          <a:xfrm>
            <a:off x="685143" y="618660"/>
            <a:ext cx="10821714" cy="2931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Bipolar Junction Transistor: Common base (cb) configuration – Input dc characteristics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C16773-3361-4C6A-B7F1-170D167C2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67" y="1342238"/>
            <a:ext cx="10576666" cy="519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499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B69F26-E4F4-419E-8F41-3961FE3F0B16}"/>
              </a:ext>
            </a:extLst>
          </p:cNvPr>
          <p:cNvSpPr/>
          <p:nvPr/>
        </p:nvSpPr>
        <p:spPr>
          <a:xfrm>
            <a:off x="685143" y="618660"/>
            <a:ext cx="10821714" cy="2931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Bipolar Junction Transistor: Common base (cb) configuration – output dc characteristics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2F6280-CAC4-4554-B264-9EAFFC54B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02" y="1602425"/>
            <a:ext cx="10404395" cy="525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332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D74F04-41FD-5C05-B2D6-718E46649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285" y="2282946"/>
            <a:ext cx="8617427" cy="454988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F141EA2-26CD-4FC5-B1C0-6708C54A9835}"/>
              </a:ext>
            </a:extLst>
          </p:cNvPr>
          <p:cNvSpPr/>
          <p:nvPr/>
        </p:nvSpPr>
        <p:spPr>
          <a:xfrm>
            <a:off x="436250" y="694163"/>
            <a:ext cx="11319499" cy="15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Bipolar Junction Transistor: Common Collect0r (cc) configuration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53DEBB-6BDD-4F47-B18D-FB28FD4E06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3007" b="9559"/>
          <a:stretch/>
        </p:blipFill>
        <p:spPr>
          <a:xfrm>
            <a:off x="1709936" y="1359016"/>
            <a:ext cx="8772128" cy="75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041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F7D712-4553-B0A2-56A6-2F2E49486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586" y="1112826"/>
            <a:ext cx="10180827" cy="530538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1E3802A-F958-45ED-8EED-46316F9B626A}"/>
              </a:ext>
            </a:extLst>
          </p:cNvPr>
          <p:cNvSpPr/>
          <p:nvPr/>
        </p:nvSpPr>
        <p:spPr>
          <a:xfrm>
            <a:off x="436250" y="694163"/>
            <a:ext cx="11319499" cy="15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Bipolar Junction Transistor: Common Collect0r (cc) configuration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613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E190E9-42E2-41F8-B854-6C7DD5D32C44}"/>
              </a:ext>
            </a:extLst>
          </p:cNvPr>
          <p:cNvSpPr/>
          <p:nvPr/>
        </p:nvSpPr>
        <p:spPr>
          <a:xfrm>
            <a:off x="328579" y="434104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Bipolar Junction Transistor: configuration summery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B5FF0D-E67C-4E3B-96AA-92D1FDE54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67" y="1158524"/>
            <a:ext cx="11464266" cy="5577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620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2425A8-BFF0-2824-D9B4-A93EDCB55BB2}"/>
              </a:ext>
            </a:extLst>
          </p:cNvPr>
          <p:cNvSpPr txBox="1"/>
          <p:nvPr/>
        </p:nvSpPr>
        <p:spPr>
          <a:xfrm>
            <a:off x="3048000" y="15823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b="0" i="0" dirty="0">
              <a:solidFill>
                <a:srgbClr val="4A4A4A"/>
              </a:solidFill>
              <a:effectLst/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6EA8FD-5544-4FE3-A4E7-E631E6AF9896}"/>
              </a:ext>
            </a:extLst>
          </p:cNvPr>
          <p:cNvSpPr/>
          <p:nvPr/>
        </p:nvSpPr>
        <p:spPr>
          <a:xfrm>
            <a:off x="2137410" y="2642616"/>
            <a:ext cx="7917180" cy="2889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600" b="1" dirty="0"/>
              <a:t>Thank You !!!</a:t>
            </a:r>
          </a:p>
        </p:txBody>
      </p:sp>
    </p:spTree>
    <p:extLst>
      <p:ext uri="{BB962C8B-B14F-4D97-AF65-F5344CB8AC3E}">
        <p14:creationId xmlns:p14="http://schemas.microsoft.com/office/powerpoint/2010/main" val="702146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2761</TotalTime>
  <Words>158</Words>
  <Application>Microsoft Office PowerPoint</Application>
  <PresentationFormat>Widescreen</PresentationFormat>
  <Paragraphs>20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Algerian</vt:lpstr>
      <vt:lpstr>Arial</vt:lpstr>
      <vt:lpstr>Calibri</vt:lpstr>
      <vt:lpstr>Calibri Light</vt:lpstr>
      <vt:lpstr>Source Sans Pro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gaurav singh</dc:creator>
  <cp:lastModifiedBy>DYPIU</cp:lastModifiedBy>
  <cp:revision>95</cp:revision>
  <dcterms:created xsi:type="dcterms:W3CDTF">2023-10-17T05:38:42Z</dcterms:created>
  <dcterms:modified xsi:type="dcterms:W3CDTF">2025-11-13T13:49:20Z</dcterms:modified>
</cp:coreProperties>
</file>