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6"/>
  </p:notesMasterIdLst>
  <p:sldIdLst>
    <p:sldId id="278" r:id="rId3"/>
    <p:sldId id="294" r:id="rId4"/>
    <p:sldId id="291" r:id="rId5"/>
    <p:sldId id="292" r:id="rId6"/>
    <p:sldId id="263" r:id="rId7"/>
    <p:sldId id="264" r:id="rId8"/>
    <p:sldId id="265" r:id="rId9"/>
    <p:sldId id="295" r:id="rId10"/>
    <p:sldId id="260" r:id="rId11"/>
    <p:sldId id="261" r:id="rId12"/>
    <p:sldId id="262" r:id="rId13"/>
    <p:sldId id="288" r:id="rId14"/>
    <p:sldId id="289" r:id="rId15"/>
    <p:sldId id="293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2" autoAdjust="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620C3-DCD6-4F44-966E-39DDDFFAE4F8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1DB87-C5F7-42C8-B0F2-BC0C02C52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6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9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Source transformation</a:t>
            </a:r>
            <a:r>
              <a:rPr lang="en-GB" dirty="0"/>
              <a:t> allows you to convert between two equivalent representations of a source + resistor combination:</a:t>
            </a:r>
          </a:p>
          <a:p>
            <a:endParaRPr lang="en-GB" b="1" dirty="0"/>
          </a:p>
          <a:p>
            <a:r>
              <a:rPr lang="en-GB" b="1" dirty="0"/>
              <a:t>Voltage Source → Current Source:</a:t>
            </a:r>
          </a:p>
          <a:p>
            <a:r>
              <a:rPr lang="en-GB" dirty="0"/>
              <a:t>A </a:t>
            </a:r>
            <a:r>
              <a:rPr lang="en-GB" b="1" dirty="0"/>
              <a:t>voltage source</a:t>
            </a:r>
            <a:r>
              <a:rPr lang="en-GB" dirty="0"/>
              <a:t> </a:t>
            </a:r>
            <a:r>
              <a:rPr lang="en-GB" b="1" dirty="0"/>
              <a:t>vs</a:t>
            </a:r>
            <a:r>
              <a:rPr lang="en-GB" dirty="0"/>
              <a:t> in </a:t>
            </a:r>
            <a:r>
              <a:rPr lang="en-GB" b="1" dirty="0"/>
              <a:t>series</a:t>
            </a:r>
            <a:r>
              <a:rPr lang="en-GB" dirty="0"/>
              <a:t> with a resistor </a:t>
            </a:r>
            <a:r>
              <a:rPr lang="en-GB" b="1" dirty="0"/>
              <a:t>R</a:t>
            </a:r>
            <a:r>
              <a:rPr lang="en-GB" dirty="0"/>
              <a:t> can be </a:t>
            </a:r>
            <a:r>
              <a:rPr lang="en-GB" b="1" dirty="0"/>
              <a:t>transformed</a:t>
            </a:r>
            <a:r>
              <a:rPr lang="en-GB" dirty="0"/>
              <a:t> into a </a:t>
            </a:r>
            <a:r>
              <a:rPr lang="en-GB" b="1" dirty="0"/>
              <a:t>current source</a:t>
            </a:r>
            <a:r>
              <a:rPr lang="en-GB" dirty="0"/>
              <a:t> </a:t>
            </a:r>
            <a:r>
              <a:rPr lang="en-GB" b="1" dirty="0"/>
              <a:t>is </a:t>
            </a:r>
            <a:r>
              <a:rPr lang="en-GB" dirty="0"/>
              <a:t>in </a:t>
            </a:r>
            <a:r>
              <a:rPr lang="en-GB" b="1" dirty="0"/>
              <a:t>parallel</a:t>
            </a:r>
            <a:r>
              <a:rPr lang="en-GB" dirty="0"/>
              <a:t> with the same resistor </a:t>
            </a:r>
            <a:r>
              <a:rPr lang="en-GB" b="1" dirty="0"/>
              <a:t>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Given:</a:t>
            </a:r>
            <a:r>
              <a:rPr lang="en-GB" dirty="0"/>
              <a:t> Voltage source vs, Series resistor R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Transformation:</a:t>
            </a:r>
            <a:endParaRPr lang="en-GB" dirty="0"/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        is = vs*R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The new circuit has a </a:t>
            </a:r>
            <a:r>
              <a:rPr lang="en-GB" b="1" dirty="0"/>
              <a:t>current source</a:t>
            </a:r>
            <a:r>
              <a:rPr lang="en-GB" dirty="0"/>
              <a:t> is in </a:t>
            </a:r>
            <a:r>
              <a:rPr lang="en-GB" b="1" dirty="0"/>
              <a:t>parallel</a:t>
            </a:r>
            <a:r>
              <a:rPr lang="en-GB" dirty="0"/>
              <a:t> with R.</a:t>
            </a:r>
          </a:p>
          <a:p>
            <a:pPr>
              <a:buFont typeface="Arial" panose="020B0604020202020204" pitchFamily="34" charset="0"/>
              <a:buNone/>
            </a:pPr>
            <a:endParaRPr lang="en-GB" dirty="0"/>
          </a:p>
          <a:p>
            <a:r>
              <a:rPr lang="en-GB" b="1" dirty="0"/>
              <a:t>Current Source → Voltage Source:</a:t>
            </a:r>
          </a:p>
          <a:p>
            <a:r>
              <a:rPr lang="en-GB" dirty="0"/>
              <a:t>A </a:t>
            </a:r>
            <a:r>
              <a:rPr lang="en-GB" b="1" dirty="0"/>
              <a:t>current source is </a:t>
            </a:r>
            <a:r>
              <a:rPr lang="en-GB" dirty="0"/>
              <a:t>in </a:t>
            </a:r>
            <a:r>
              <a:rPr lang="en-GB" b="1" dirty="0"/>
              <a:t>parallel</a:t>
            </a:r>
            <a:r>
              <a:rPr lang="en-GB" dirty="0"/>
              <a:t> with a resistor </a:t>
            </a:r>
            <a:r>
              <a:rPr lang="en-GB" b="1" dirty="0"/>
              <a:t>R</a:t>
            </a:r>
            <a:r>
              <a:rPr lang="en-GB" dirty="0"/>
              <a:t> can be transformed into a </a:t>
            </a:r>
            <a:r>
              <a:rPr lang="en-GB" b="1" dirty="0"/>
              <a:t>voltage source vs </a:t>
            </a:r>
            <a:r>
              <a:rPr lang="en-GB" dirty="0"/>
              <a:t>in </a:t>
            </a:r>
            <a:r>
              <a:rPr lang="en-GB" b="1" dirty="0"/>
              <a:t>series</a:t>
            </a:r>
            <a:r>
              <a:rPr lang="en-GB" dirty="0"/>
              <a:t> with</a:t>
            </a:r>
            <a:r>
              <a:rPr lang="en-GB" b="1" dirty="0"/>
              <a:t> 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Given:</a:t>
            </a:r>
            <a:r>
              <a:rPr lang="en-GB" dirty="0"/>
              <a:t> Current source is, Parallel resistor R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Transformation:</a:t>
            </a:r>
            <a:endParaRPr lang="en-GB" dirty="0"/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      vs = is*R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The new circuit has a </a:t>
            </a:r>
            <a:r>
              <a:rPr lang="en-GB" b="1" dirty="0"/>
              <a:t>voltage source</a:t>
            </a:r>
            <a:r>
              <a:rPr lang="en-GB" dirty="0"/>
              <a:t> vs in </a:t>
            </a:r>
            <a:r>
              <a:rPr lang="en-GB" b="1" dirty="0"/>
              <a:t>series</a:t>
            </a:r>
            <a:r>
              <a:rPr lang="en-GB" dirty="0"/>
              <a:t> with R.</a:t>
            </a:r>
          </a:p>
          <a:p>
            <a:endParaRPr lang="en-GB" b="1" dirty="0"/>
          </a:p>
          <a:p>
            <a:r>
              <a:rPr lang="en-GB" b="1" dirty="0"/>
              <a:t>Why It Works:</a:t>
            </a:r>
          </a:p>
          <a:p>
            <a:r>
              <a:rPr lang="en-GB" dirty="0"/>
              <a:t>Both circuits present the </a:t>
            </a:r>
            <a:r>
              <a:rPr lang="en-GB" b="1" dirty="0"/>
              <a:t>same voltage-current behaviour at the terminals (a-b)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you measure voltage and current at terminals </a:t>
            </a:r>
            <a:r>
              <a:rPr lang="en-GB" b="1" dirty="0"/>
              <a:t>a-b</a:t>
            </a:r>
            <a:r>
              <a:rPr lang="en-GB" dirty="0"/>
              <a:t>, you’ll get the </a:t>
            </a:r>
            <a:r>
              <a:rPr lang="en-GB" b="1" dirty="0"/>
              <a:t>same result</a:t>
            </a:r>
            <a:r>
              <a:rPr lang="en-GB" dirty="0"/>
              <a:t> in both configurations.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That means they are </a:t>
            </a:r>
            <a:r>
              <a:rPr lang="en-GB" b="1" dirty="0"/>
              <a:t>electrically equivalent</a:t>
            </a:r>
            <a:r>
              <a:rPr lang="en-GB" dirty="0"/>
              <a:t> or </a:t>
            </a:r>
            <a:r>
              <a:rPr lang="en-GB" b="1" dirty="0"/>
              <a:t>Thevenin/ Norton equivalents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1DB87-C5F7-42C8-B0F2-BC0C02C522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65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Source transformation is also valid</a:t>
            </a:r>
            <a:r>
              <a:rPr lang="en-GB" dirty="0"/>
              <a:t> when dealing with </a:t>
            </a:r>
            <a:r>
              <a:rPr lang="en-GB" b="1" dirty="0"/>
              <a:t>dependent (controlled) sources</a:t>
            </a:r>
            <a:r>
              <a:rPr lang="en-GB" dirty="0"/>
              <a:t>, not just independent ones.</a:t>
            </a:r>
          </a:p>
          <a:p>
            <a:endParaRPr lang="en-GB" b="1" dirty="0"/>
          </a:p>
          <a:p>
            <a:r>
              <a:rPr lang="en-GB" b="1" dirty="0"/>
              <a:t>Source Transformation with Dependent Sources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The</a:t>
            </a:r>
            <a:r>
              <a:rPr lang="en-GB" b="1" dirty="0"/>
              <a:t> voltage source vs </a:t>
            </a:r>
            <a:r>
              <a:rPr lang="en-GB" dirty="0"/>
              <a:t>shown on the left is a </a:t>
            </a:r>
            <a:r>
              <a:rPr lang="en-GB" b="1" dirty="0"/>
              <a:t>dependent (controlled) voltage source</a:t>
            </a:r>
            <a:r>
              <a:rPr lang="en-GB" dirty="0"/>
              <a:t> in series with a resistor </a:t>
            </a:r>
            <a:r>
              <a:rPr lang="en-GB" b="1" dirty="0"/>
              <a:t>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It is transformed into a </a:t>
            </a:r>
            <a:r>
              <a:rPr lang="en-GB" b="1" dirty="0"/>
              <a:t>dependent current source is </a:t>
            </a:r>
            <a:r>
              <a:rPr lang="en-GB" dirty="0"/>
              <a:t>in </a:t>
            </a:r>
            <a:r>
              <a:rPr lang="en-GB" b="1" dirty="0"/>
              <a:t>parallel</a:t>
            </a:r>
            <a:r>
              <a:rPr lang="en-GB" dirty="0"/>
              <a:t> with the same resistor </a:t>
            </a:r>
            <a:r>
              <a:rPr lang="en-GB" b="1" dirty="0"/>
              <a:t>R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Rule remains the same:</a:t>
            </a:r>
            <a:endParaRPr lang="en-GB" dirty="0"/>
          </a:p>
          <a:p>
            <a:r>
              <a:rPr lang="en-GB" dirty="0"/>
              <a:t>	vs = is*R or is = vs*R</a:t>
            </a:r>
          </a:p>
          <a:p>
            <a:r>
              <a:rPr lang="en-GB" dirty="0"/>
              <a:t>This transformation does </a:t>
            </a:r>
            <a:r>
              <a:rPr lang="en-GB" b="1" dirty="0"/>
              <a:t>not affect the dependent nature</a:t>
            </a:r>
            <a:r>
              <a:rPr lang="en-GB" dirty="0"/>
              <a:t> of the source — it remains dependent on some variable elsewhere in the circuit.</a:t>
            </a:r>
          </a:p>
          <a:p>
            <a:endParaRPr lang="en-GB" b="1" dirty="0"/>
          </a:p>
          <a:p>
            <a:r>
              <a:rPr lang="en-GB" b="1" dirty="0"/>
              <a:t>Source Transformation Does Not Affect the Rest of the Circuit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This transformation only affects the </a:t>
            </a:r>
            <a:r>
              <a:rPr lang="en-GB" b="1" dirty="0"/>
              <a:t>local part</a:t>
            </a:r>
            <a:r>
              <a:rPr lang="en-GB" dirty="0"/>
              <a:t> of the circuit (i.e., the source and resistor). </a:t>
            </a:r>
            <a:r>
              <a:rPr lang="en-GB" b="1" dirty="0"/>
              <a:t>All other elements</a:t>
            </a:r>
            <a:r>
              <a:rPr lang="en-GB" dirty="0"/>
              <a:t> connected to the terminals a and b remain </a:t>
            </a:r>
            <a:r>
              <a:rPr lang="en-GB" b="1" dirty="0"/>
              <a:t>unaffected</a:t>
            </a:r>
            <a:r>
              <a:rPr lang="en-GB" dirty="0"/>
              <a:t> in terms of behaviour.</a:t>
            </a:r>
          </a:p>
          <a:p>
            <a:endParaRPr lang="en-GB" b="1" dirty="0"/>
          </a:p>
          <a:p>
            <a:r>
              <a:rPr lang="en-GB" b="1" dirty="0"/>
              <a:t>Important Considerations for Source Transformation</a:t>
            </a:r>
          </a:p>
          <a:p>
            <a:r>
              <a:rPr lang="en-GB" b="1" dirty="0"/>
              <a:t>1. Direction of the Current Source Arrow</a:t>
            </a:r>
          </a:p>
          <a:p>
            <a:r>
              <a:rPr lang="en-GB" dirty="0"/>
              <a:t>The arrow of the current source is directed toward the positive terminal of the voltage source. This ensures that the </a:t>
            </a:r>
            <a:r>
              <a:rPr lang="en-GB" b="1" dirty="0"/>
              <a:t>polarity</a:t>
            </a:r>
            <a:r>
              <a:rPr lang="en-GB" dirty="0"/>
              <a:t> and </a:t>
            </a:r>
            <a:r>
              <a:rPr lang="en-GB" b="1" dirty="0"/>
              <a:t>direction of power</a:t>
            </a:r>
            <a:r>
              <a:rPr lang="en-GB" dirty="0"/>
              <a:t> are preserved after transformation. It maintains the </a:t>
            </a:r>
            <a:r>
              <a:rPr lang="en-GB" b="1" dirty="0"/>
              <a:t>equivalence</a:t>
            </a:r>
            <a:r>
              <a:rPr lang="en-GB" dirty="0"/>
              <a:t> between the two configurations in terms of voltage-current relationships.</a:t>
            </a:r>
          </a:p>
          <a:p>
            <a:r>
              <a:rPr lang="en-GB" b="1" dirty="0"/>
              <a:t>2. Not Possible When R=0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If R=0, then you're dealing with an </a:t>
            </a:r>
            <a:r>
              <a:rPr lang="en-GB" b="1" dirty="0"/>
              <a:t>ideal voltage source</a:t>
            </a:r>
            <a:r>
              <a:rPr lang="en-GB" dirty="0"/>
              <a:t>. An ideal voltage source </a:t>
            </a:r>
            <a:r>
              <a:rPr lang="en-GB" b="1" dirty="0"/>
              <a:t>cannot</a:t>
            </a:r>
            <a:r>
              <a:rPr lang="en-GB" dirty="0"/>
              <a:t> be converted into a current source. In </a:t>
            </a:r>
            <a:r>
              <a:rPr lang="en-GB" b="1" dirty="0"/>
              <a:t>practical cases</a:t>
            </a:r>
            <a:r>
              <a:rPr lang="en-GB" dirty="0"/>
              <a:t>, real voltage sources have </a:t>
            </a:r>
            <a:r>
              <a:rPr lang="en-GB" b="1" dirty="0"/>
              <a:t>non-zero internal resistance</a:t>
            </a:r>
            <a:r>
              <a:rPr lang="en-GB" dirty="0"/>
              <a:t> R≠0, so transformation is possible.</a:t>
            </a:r>
          </a:p>
          <a:p>
            <a:r>
              <a:rPr lang="en-GB" b="1" dirty="0"/>
              <a:t>3. Not Possible When R=∞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This represents an </a:t>
            </a:r>
            <a:r>
              <a:rPr lang="en-GB" b="1" dirty="0"/>
              <a:t>ideal current source</a:t>
            </a:r>
            <a:r>
              <a:rPr lang="en-GB" dirty="0"/>
              <a:t>, where the resistance is effectively </a:t>
            </a:r>
            <a:r>
              <a:rPr lang="en-GB" b="1" dirty="0"/>
              <a:t>open circuit</a:t>
            </a:r>
            <a:r>
              <a:rPr lang="en-GB" dirty="0"/>
              <a:t>. A current source in parallel with R=∞ cannot be converted into a voltage source with finite voltage.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1DB87-C5F7-42C8-B0F2-BC0C02C522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8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Voltage Division</a:t>
                </a:r>
              </a:p>
              <a:p>
                <a:r>
                  <a:rPr lang="en-IN" dirty="0"/>
                  <a:t>In a </a:t>
                </a:r>
                <a:r>
                  <a:rPr lang="en-IN" b="1" dirty="0"/>
                  <a:t>series circuit</a:t>
                </a:r>
                <a:r>
                  <a:rPr lang="en-IN" dirty="0"/>
                  <a:t>, the </a:t>
                </a:r>
                <a:r>
                  <a:rPr lang="en-IN" b="1" dirty="0"/>
                  <a:t>same current</a:t>
                </a:r>
                <a:r>
                  <a:rPr lang="en-IN" dirty="0"/>
                  <a:t> flows through all components. However, the </a:t>
                </a:r>
                <a:r>
                  <a:rPr lang="en-IN" b="1" dirty="0"/>
                  <a:t>total voltage</a:t>
                </a:r>
                <a:r>
                  <a:rPr lang="en-IN" dirty="0"/>
                  <a:t> across the series circuit gets </a:t>
                </a:r>
                <a:r>
                  <a:rPr lang="en-IN" b="1" dirty="0"/>
                  <a:t>divided</a:t>
                </a:r>
                <a:r>
                  <a:rPr lang="en-IN" dirty="0"/>
                  <a:t> across each resistor </a:t>
                </a:r>
                <a:r>
                  <a:rPr lang="en-IN" b="1" dirty="0"/>
                  <a:t>in proportion to its resistance</a:t>
                </a:r>
                <a:r>
                  <a:rPr lang="en-IN" dirty="0"/>
                  <a:t>.</a:t>
                </a:r>
              </a:p>
              <a:p>
                <a:endParaRPr lang="en-IN" b="1" dirty="0"/>
              </a:p>
              <a:p>
                <a:r>
                  <a:rPr lang="en-IN" b="1" dirty="0"/>
                  <a:t>Voltage Division Rule (Using 2 Resistors)</a:t>
                </a:r>
              </a:p>
              <a:p>
                <a:r>
                  <a:rPr lang="en-IN" dirty="0"/>
                  <a:t>A voltage source v is applied across two resistors, R1 and R2, connected </a:t>
                </a:r>
                <a:r>
                  <a:rPr lang="en-IN" b="1" dirty="0"/>
                  <a:t>in series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IN" dirty="0"/>
                  <a:t>Let the voltage drops across R1 and R2 be v1 and v2 respectively.</a:t>
                </a:r>
              </a:p>
              <a:p>
                <a:endParaRPr lang="en-IN" b="1" dirty="0"/>
              </a:p>
              <a:p>
                <a:pPr>
                  <a:buFont typeface="+mj-lt"/>
                  <a:buNone/>
                </a:pPr>
                <a:r>
                  <a:rPr lang="en-IN" b="1" dirty="0"/>
                  <a:t>Voltage drop across R1</a:t>
                </a:r>
                <a:r>
                  <a:rPr lang="en-IN" dirty="0"/>
                  <a:t>:</a:t>
                </a:r>
              </a:p>
              <a:p>
                <a:pPr>
                  <a:buFont typeface="+mj-lt"/>
                  <a:buNone/>
                </a:pPr>
                <a:r>
                  <a:rPr lang="en-US" b="1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dirty="0"/>
              </a:p>
              <a:p>
                <a:pPr>
                  <a:buFont typeface="+mj-lt"/>
                  <a:buNone/>
                </a:pPr>
                <a:endParaRPr lang="en-IN" b="1" dirty="0"/>
              </a:p>
              <a:p>
                <a:pPr>
                  <a:buFont typeface="+mj-lt"/>
                  <a:buNone/>
                </a:pPr>
                <a:r>
                  <a:rPr lang="en-IN" b="1" dirty="0"/>
                  <a:t>Voltage drop across R2</a:t>
                </a:r>
                <a:r>
                  <a:rPr lang="en-IN" dirty="0"/>
                  <a:t>:</a:t>
                </a:r>
              </a:p>
              <a:p>
                <a:pPr>
                  <a:buFont typeface="+mj-lt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IN" dirty="0"/>
              </a:p>
              <a:p>
                <a:endParaRPr lang="en-IN" b="1" dirty="0"/>
              </a:p>
              <a:p>
                <a:r>
                  <a:rPr lang="en-IN" b="1" dirty="0"/>
                  <a:t>Interpretation: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Voltage is divided in </a:t>
                </a:r>
                <a:r>
                  <a:rPr lang="en-IN" b="1" dirty="0"/>
                  <a:t>proportion to resistance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</a:t>
                </a:r>
                <a:r>
                  <a:rPr lang="en-IN" b="1" dirty="0"/>
                  <a:t>larger</a:t>
                </a:r>
                <a:r>
                  <a:rPr lang="en-IN" dirty="0"/>
                  <a:t> the resistor, the </a:t>
                </a:r>
                <a:r>
                  <a:rPr lang="en-IN" b="1" dirty="0"/>
                  <a:t>greater</a:t>
                </a:r>
                <a:r>
                  <a:rPr lang="en-IN" dirty="0"/>
                  <a:t> its share of the total voltage.</a:t>
                </a:r>
              </a:p>
              <a:p>
                <a:endParaRPr lang="en-IN" b="1" dirty="0"/>
              </a:p>
              <a:p>
                <a:r>
                  <a:rPr lang="en-IN" b="1" dirty="0"/>
                  <a:t>General Formula (For n Resistors in Series)</a:t>
                </a:r>
              </a:p>
              <a:p>
                <a:r>
                  <a:rPr lang="en-IN" dirty="0"/>
                  <a:t>If you have n resistors R1,R2,…,Rn in series with a total voltage V, then the voltage across the nth resistor is:</a:t>
                </a:r>
              </a:p>
              <a:p>
                <a:r>
                  <a:rPr lang="en-US" sz="1200" b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+..…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00" b="1" dirty="0"/>
                  <a:t> V</a:t>
                </a:r>
                <a:endParaRPr lang="en-IN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Voltage Division</a:t>
                </a:r>
              </a:p>
              <a:p>
                <a:r>
                  <a:rPr lang="en-IN" dirty="0"/>
                  <a:t>In a </a:t>
                </a:r>
                <a:r>
                  <a:rPr lang="en-IN" b="1" dirty="0"/>
                  <a:t>series circuit</a:t>
                </a:r>
                <a:r>
                  <a:rPr lang="en-IN" dirty="0"/>
                  <a:t>, the </a:t>
                </a:r>
                <a:r>
                  <a:rPr lang="en-IN" b="1" dirty="0"/>
                  <a:t>same current</a:t>
                </a:r>
                <a:r>
                  <a:rPr lang="en-IN" dirty="0"/>
                  <a:t> flows through all components. However, the </a:t>
                </a:r>
                <a:r>
                  <a:rPr lang="en-IN" b="1" dirty="0"/>
                  <a:t>total voltage</a:t>
                </a:r>
                <a:r>
                  <a:rPr lang="en-IN" dirty="0"/>
                  <a:t> across the series circuit gets </a:t>
                </a:r>
                <a:r>
                  <a:rPr lang="en-IN" b="1" dirty="0"/>
                  <a:t>divided</a:t>
                </a:r>
                <a:r>
                  <a:rPr lang="en-IN" dirty="0"/>
                  <a:t> across each resistor </a:t>
                </a:r>
                <a:r>
                  <a:rPr lang="en-IN" b="1" dirty="0"/>
                  <a:t>in proportion to its resistance</a:t>
                </a:r>
                <a:r>
                  <a:rPr lang="en-IN" dirty="0"/>
                  <a:t>.</a:t>
                </a:r>
              </a:p>
              <a:p>
                <a:endParaRPr lang="en-IN" b="1" dirty="0"/>
              </a:p>
              <a:p>
                <a:r>
                  <a:rPr lang="en-IN" b="1" dirty="0"/>
                  <a:t>Voltage Division Rule (Using 2 Resistors)</a:t>
                </a:r>
              </a:p>
              <a:p>
                <a:r>
                  <a:rPr lang="en-IN" dirty="0"/>
                  <a:t>A voltage source v is applied across two resistors, R1 and R2, connected </a:t>
                </a:r>
                <a:r>
                  <a:rPr lang="en-IN" b="1" dirty="0"/>
                  <a:t>in series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IN" dirty="0"/>
                  <a:t>Let the voltage drops across R1 and R2 be v1 and v2 respectively.</a:t>
                </a:r>
              </a:p>
              <a:p>
                <a:endParaRPr lang="en-IN" b="1" dirty="0"/>
              </a:p>
              <a:p>
                <a:pPr>
                  <a:buFont typeface="+mj-lt"/>
                  <a:buNone/>
                </a:pPr>
                <a:r>
                  <a:rPr lang="en-IN" b="1" dirty="0"/>
                  <a:t>Voltage drop across R1</a:t>
                </a:r>
                <a:r>
                  <a:rPr lang="en-IN" dirty="0"/>
                  <a:t>:</a:t>
                </a:r>
              </a:p>
              <a:p>
                <a:pPr>
                  <a:buFont typeface="+mj-lt"/>
                  <a:buNone/>
                </a:pPr>
                <a:r>
                  <a:rPr lang="en-US" b="1" dirty="0"/>
                  <a:t>        </a:t>
                </a:r>
                <a:r>
                  <a:rPr lang="en-US" b="1" i="0">
                    <a:latin typeface="Cambria Math" panose="02040503050406030204" pitchFamily="18" charset="0"/>
                  </a:rPr>
                  <a:t>𝒗_𝟏=𝑹_𝟏/((𝑹_𝟏+𝑹_𝟐 ) ) 𝒗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dirty="0"/>
              </a:p>
              <a:p>
                <a:pPr>
                  <a:buFont typeface="+mj-lt"/>
                  <a:buNone/>
                </a:pPr>
                <a:endParaRPr lang="en-IN" b="1" dirty="0"/>
              </a:p>
              <a:p>
                <a:pPr>
                  <a:buFont typeface="+mj-lt"/>
                  <a:buNone/>
                </a:pPr>
                <a:r>
                  <a:rPr lang="en-IN" b="1" dirty="0"/>
                  <a:t>Voltage drop across R2</a:t>
                </a:r>
                <a:r>
                  <a:rPr lang="en-IN" dirty="0"/>
                  <a:t>:</a:t>
                </a:r>
              </a:p>
              <a:p>
                <a:pPr>
                  <a:buFont typeface="+mj-lt"/>
                  <a:buNone/>
                </a:pPr>
                <a:r>
                  <a:rPr lang="en-IN" b="1" i="0">
                    <a:latin typeface="Cambria Math" panose="02040503050406030204" pitchFamily="18" charset="0"/>
                  </a:rPr>
                  <a:t>         </a:t>
                </a:r>
                <a:r>
                  <a:rPr lang="en-US" b="1" i="0">
                    <a:latin typeface="Cambria Math" panose="02040503050406030204" pitchFamily="18" charset="0"/>
                  </a:rPr>
                  <a:t>𝒗_𝟐=𝑹_𝟐/((𝑹_𝟏+𝑹_𝟐 ) ) 𝒗</a:t>
                </a:r>
                <a:endParaRPr lang="en-IN" dirty="0"/>
              </a:p>
              <a:p>
                <a:endParaRPr lang="en-IN" b="1" dirty="0"/>
              </a:p>
              <a:p>
                <a:r>
                  <a:rPr lang="en-IN" b="1" dirty="0"/>
                  <a:t>Interpretation: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Voltage is divided in </a:t>
                </a:r>
                <a:r>
                  <a:rPr lang="en-IN" b="1" dirty="0"/>
                  <a:t>proportion to resistance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</a:t>
                </a:r>
                <a:r>
                  <a:rPr lang="en-IN" b="1" dirty="0"/>
                  <a:t>larger</a:t>
                </a:r>
                <a:r>
                  <a:rPr lang="en-IN" dirty="0"/>
                  <a:t> the resistor, the </a:t>
                </a:r>
                <a:r>
                  <a:rPr lang="en-IN" b="1" dirty="0"/>
                  <a:t>greater</a:t>
                </a:r>
                <a:r>
                  <a:rPr lang="en-IN" dirty="0"/>
                  <a:t> its share of the total voltage.</a:t>
                </a:r>
              </a:p>
              <a:p>
                <a:endParaRPr lang="en-IN" b="1" dirty="0"/>
              </a:p>
              <a:p>
                <a:r>
                  <a:rPr lang="en-IN" b="1" dirty="0"/>
                  <a:t>General Formula (For n Resistors in Series)</a:t>
                </a:r>
              </a:p>
              <a:p>
                <a:r>
                  <a:rPr lang="en-IN" dirty="0"/>
                  <a:t>If you have n resistors R1,R2,…,Rn in series with a total voltage V, then the voltage across the nth resistor is:</a:t>
                </a:r>
              </a:p>
              <a:p>
                <a:r>
                  <a:rPr lang="en-US" sz="1200" b="1" dirty="0"/>
                  <a:t>  </a:t>
                </a:r>
                <a:r>
                  <a:rPr lang="en-US" sz="1200" b="1" i="0">
                    <a:latin typeface="Cambria Math" panose="02040503050406030204" pitchFamily="18" charset="0"/>
                  </a:rPr>
                  <a:t>𝑽_𝒏=𝑹_𝒏/(𝑹_𝟏+𝑹_𝟐+𝑹_𝟑+..…𝑹_𝒏 )</a:t>
                </a:r>
                <a:r>
                  <a:rPr lang="en-US" sz="1200" b="1" dirty="0"/>
                  <a:t> V</a:t>
                </a:r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1DB87-C5F7-42C8-B0F2-BC0C02C522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24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b="1" dirty="0"/>
                  <a:t>Current Division</a:t>
                </a:r>
              </a:p>
              <a:p>
                <a:r>
                  <a:rPr lang="en-GB" b="1" dirty="0"/>
                  <a:t>Current Division</a:t>
                </a:r>
                <a:r>
                  <a:rPr lang="en-GB" dirty="0"/>
                  <a:t> is a method used in electrical circuits to determine how current divides between multiple branches that are connected in </a:t>
                </a:r>
                <a:r>
                  <a:rPr lang="en-GB" b="1" dirty="0"/>
                  <a:t>parallel</a:t>
                </a:r>
                <a:r>
                  <a:rPr lang="en-GB" dirty="0"/>
                  <a:t>.</a:t>
                </a:r>
                <a:endParaRPr lang="en-GB" b="1" dirty="0"/>
              </a:p>
              <a:p>
                <a:r>
                  <a:rPr lang="en-GB" dirty="0"/>
                  <a:t>Use the </a:t>
                </a:r>
                <a:r>
                  <a:rPr lang="en-GB" b="1" dirty="0"/>
                  <a:t>current division rule</a:t>
                </a:r>
                <a:r>
                  <a:rPr lang="en-GB" dirty="0"/>
                  <a:t> when you have </a:t>
                </a:r>
                <a:r>
                  <a:rPr lang="en-GB" b="1" dirty="0"/>
                  <a:t>parallel resistors</a:t>
                </a:r>
                <a:r>
                  <a:rPr lang="en-GB" dirty="0"/>
                  <a:t>, and you know the </a:t>
                </a:r>
                <a:r>
                  <a:rPr lang="en-GB" b="1" dirty="0"/>
                  <a:t>total current</a:t>
                </a:r>
                <a:r>
                  <a:rPr lang="en-GB" dirty="0"/>
                  <a:t> entering the parallel network.</a:t>
                </a:r>
              </a:p>
              <a:p>
                <a:endParaRPr lang="en-GB" b="1" dirty="0"/>
              </a:p>
              <a:p>
                <a:r>
                  <a:rPr lang="en-GB" dirty="0"/>
                  <a:t>In a parallel circuit, the </a:t>
                </a:r>
                <a:r>
                  <a:rPr lang="en-GB" b="1" dirty="0"/>
                  <a:t>voltage across each branch</a:t>
                </a:r>
                <a:r>
                  <a:rPr lang="en-GB" dirty="0"/>
                  <a:t> is the same and the </a:t>
                </a:r>
                <a:r>
                  <a:rPr lang="en-GB" b="1" dirty="0"/>
                  <a:t>current divides</a:t>
                </a:r>
                <a:r>
                  <a:rPr lang="en-GB" dirty="0"/>
                  <a:t> inversely proportional to the resistance of each branch. That is, </a:t>
                </a:r>
                <a:r>
                  <a:rPr lang="en-GB" b="1" dirty="0"/>
                  <a:t>lower resistance gets more current</a:t>
                </a:r>
                <a:r>
                  <a:rPr lang="en-GB" dirty="0"/>
                  <a:t>, and </a:t>
                </a:r>
                <a:r>
                  <a:rPr lang="en-GB" b="1" dirty="0"/>
                  <a:t>higher resistance gets less</a:t>
                </a:r>
                <a:r>
                  <a:rPr lang="en-GB" dirty="0"/>
                  <a:t>.</a:t>
                </a:r>
              </a:p>
              <a:p>
                <a:endParaRPr lang="en-GB" b="1" dirty="0"/>
              </a:p>
              <a:p>
                <a:r>
                  <a:rPr lang="en-GB" b="1" dirty="0"/>
                  <a:t>Formula:</a:t>
                </a:r>
              </a:p>
              <a:p>
                <a:r>
                  <a:rPr lang="en-GB" dirty="0"/>
                  <a:t>If two resistors R1 and R2 are in parallel and a total current </a:t>
                </a:r>
                <a:r>
                  <a:rPr lang="en-GB" dirty="0" err="1"/>
                  <a:t>i</a:t>
                </a:r>
                <a:r>
                  <a:rPr lang="en-GB" dirty="0"/>
                  <a:t> enters the junction, then: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b="1" dirty="0"/>
                  <a:t>Current through R1:</a:t>
                </a:r>
              </a:p>
              <a:p>
                <a:pPr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endParaRPr lang="en-GB" b="1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b="1" dirty="0"/>
                  <a:t>Current through R2: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Notice that each current is </a:t>
                </a:r>
                <a:r>
                  <a:rPr lang="en-GB" b="1" dirty="0"/>
                  <a:t>proportional to the resistance of the </a:t>
                </a:r>
                <a:r>
                  <a:rPr lang="en-GB" b="1" i="1" dirty="0"/>
                  <a:t>other</a:t>
                </a:r>
                <a:r>
                  <a:rPr lang="en-GB" b="1" dirty="0"/>
                  <a:t> branch</a:t>
                </a:r>
                <a:r>
                  <a:rPr lang="en-GB" dirty="0"/>
                  <a:t>, due to the inverse relationship.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b="1" dirty="0"/>
                  <a:t>Current Division</a:t>
                </a:r>
              </a:p>
              <a:p>
                <a:r>
                  <a:rPr lang="en-GB" b="1" dirty="0"/>
                  <a:t>Current Division</a:t>
                </a:r>
                <a:r>
                  <a:rPr lang="en-GB" dirty="0"/>
                  <a:t> is a method used in electrical circuits to determine how current divides between multiple branches that are connected in </a:t>
                </a:r>
                <a:r>
                  <a:rPr lang="en-GB" b="1" dirty="0"/>
                  <a:t>parallel</a:t>
                </a:r>
                <a:r>
                  <a:rPr lang="en-GB" dirty="0"/>
                  <a:t>.</a:t>
                </a:r>
                <a:endParaRPr lang="en-GB" b="1" dirty="0"/>
              </a:p>
              <a:p>
                <a:r>
                  <a:rPr lang="en-GB" dirty="0"/>
                  <a:t>Use the </a:t>
                </a:r>
                <a:r>
                  <a:rPr lang="en-GB" b="1" dirty="0"/>
                  <a:t>current division rule</a:t>
                </a:r>
                <a:r>
                  <a:rPr lang="en-GB" dirty="0"/>
                  <a:t> when you have </a:t>
                </a:r>
                <a:r>
                  <a:rPr lang="en-GB" b="1" dirty="0"/>
                  <a:t>parallel resistors</a:t>
                </a:r>
                <a:r>
                  <a:rPr lang="en-GB" dirty="0"/>
                  <a:t>, and you know the </a:t>
                </a:r>
                <a:r>
                  <a:rPr lang="en-GB" b="1" dirty="0"/>
                  <a:t>total current</a:t>
                </a:r>
                <a:r>
                  <a:rPr lang="en-GB" dirty="0"/>
                  <a:t> entering the parallel network.</a:t>
                </a:r>
              </a:p>
              <a:p>
                <a:endParaRPr lang="en-GB" b="1" dirty="0"/>
              </a:p>
              <a:p>
                <a:r>
                  <a:rPr lang="en-GB" dirty="0"/>
                  <a:t>In a parallel circuit, the </a:t>
                </a:r>
                <a:r>
                  <a:rPr lang="en-GB" b="1" dirty="0"/>
                  <a:t>voltage across each branch</a:t>
                </a:r>
                <a:r>
                  <a:rPr lang="en-GB" dirty="0"/>
                  <a:t> is the same and the </a:t>
                </a:r>
                <a:r>
                  <a:rPr lang="en-GB" b="1" dirty="0"/>
                  <a:t>current divides</a:t>
                </a:r>
                <a:r>
                  <a:rPr lang="en-GB" dirty="0"/>
                  <a:t> inversely proportional to the resistance of each branch. That is, </a:t>
                </a:r>
                <a:r>
                  <a:rPr lang="en-GB" b="1" dirty="0"/>
                  <a:t>lower resistance gets more current</a:t>
                </a:r>
                <a:r>
                  <a:rPr lang="en-GB" dirty="0"/>
                  <a:t>, and </a:t>
                </a:r>
                <a:r>
                  <a:rPr lang="en-GB" b="1" dirty="0"/>
                  <a:t>higher resistance gets less</a:t>
                </a:r>
                <a:r>
                  <a:rPr lang="en-GB" dirty="0"/>
                  <a:t>.</a:t>
                </a:r>
              </a:p>
              <a:p>
                <a:endParaRPr lang="en-GB" b="1" dirty="0"/>
              </a:p>
              <a:p>
                <a:r>
                  <a:rPr lang="en-GB" b="1" dirty="0"/>
                  <a:t>Formula:</a:t>
                </a:r>
              </a:p>
              <a:p>
                <a:r>
                  <a:rPr lang="en-GB" dirty="0"/>
                  <a:t>If two resistors R1 and R2 are in parallel and a total current </a:t>
                </a:r>
                <a:r>
                  <a:rPr lang="en-GB" dirty="0" err="1"/>
                  <a:t>i</a:t>
                </a:r>
                <a:r>
                  <a:rPr lang="en-GB" dirty="0"/>
                  <a:t> enters the junction, then: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b="1" dirty="0"/>
                  <a:t>Current through R1: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b="1" i="0">
                    <a:latin typeface="Cambria Math" panose="02040503050406030204" pitchFamily="18" charset="0"/>
                  </a:rPr>
                  <a:t>𝒊_𝟏=(𝒊𝑹_𝟐)/(𝑹_𝟏+𝑹_𝟐 )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endParaRPr lang="en-GB" b="1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b="1" dirty="0"/>
                  <a:t>Current through R2: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b="1" i="0">
                    <a:latin typeface="Cambria Math" panose="02040503050406030204" pitchFamily="18" charset="0"/>
                  </a:rPr>
                  <a:t>𝒊_𝟐=(𝒊𝑹_𝟏)/(𝑹_𝟏+𝑹_𝟐 )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Notice that each current is </a:t>
                </a:r>
                <a:r>
                  <a:rPr lang="en-GB" b="1" dirty="0"/>
                  <a:t>proportional to the resistance of the </a:t>
                </a:r>
                <a:r>
                  <a:rPr lang="en-GB" b="1" i="1" dirty="0"/>
                  <a:t>other</a:t>
                </a:r>
                <a:r>
                  <a:rPr lang="en-GB" b="1" dirty="0"/>
                  <a:t> branch</a:t>
                </a:r>
                <a:r>
                  <a:rPr lang="en-GB" dirty="0"/>
                  <a:t>, due to the inverse relationship.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1DB87-C5F7-42C8-B0F2-BC0C02C522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71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Branch:</a:t>
            </a: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 A branch is a single, continuous electrical component. This can be a voltage source, a current source, a resistor, a capacitor, an inductor, or any other two-terminal element. Each branch represents a single path for current to flow.</a:t>
            </a:r>
          </a:p>
          <a:p>
            <a:pPr rtl="0">
              <a:buFont typeface="Arial" panose="020B0604020202020204" pitchFamily="34" charset="0"/>
              <a:buNone/>
            </a:pPr>
            <a:endParaRPr lang="en-GB" b="1" dirty="0">
              <a:solidFill>
                <a:srgbClr val="1B1C1D"/>
              </a:solidFill>
              <a:effectLst/>
              <a:latin typeface="Google Sans Text"/>
            </a:endParaRPr>
          </a:p>
          <a:p>
            <a:pPr rtl="0"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Node:</a:t>
            </a: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 A node is a point in a circuit where two or more branches connect. It's a point of common potential. All points along a single connecting wire, even if it's bent, constitute a single node. The key idea is that the voltage is the same at every point on a given node.</a:t>
            </a:r>
          </a:p>
          <a:p>
            <a:pPr rtl="0">
              <a:buFont typeface="Arial" panose="020B0604020202020204" pitchFamily="34" charset="0"/>
              <a:buNone/>
            </a:pPr>
            <a:endParaRPr lang="en-GB" b="1" dirty="0">
              <a:solidFill>
                <a:srgbClr val="1B1C1D"/>
              </a:solidFill>
              <a:effectLst/>
              <a:latin typeface="Google Sans Text"/>
            </a:endParaRPr>
          </a:p>
          <a:p>
            <a:pPr rtl="0"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Loop:</a:t>
            </a: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 A loop is any closed path in a circuit. Starting from a point and tracing a path through a series of branches and nodes, a loop is completed when you return to your starting point without crossing any intermediate node or branch more than once.</a:t>
            </a:r>
          </a:p>
          <a:p>
            <a:pPr rtl="0">
              <a:buFont typeface="Arial" panose="020B0604020202020204" pitchFamily="34" charset="0"/>
              <a:buNone/>
            </a:pPr>
            <a:endParaRPr lang="en-GB" b="1" dirty="0">
              <a:solidFill>
                <a:srgbClr val="1B1C1D"/>
              </a:solidFill>
              <a:effectLst/>
              <a:latin typeface="Google Sans Text"/>
            </a:endParaRPr>
          </a:p>
          <a:p>
            <a:pPr rtl="0"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The Fundamental Theorem of Network Topology</a:t>
            </a:r>
            <a:endParaRPr lang="en-GB" dirty="0">
              <a:solidFill>
                <a:srgbClr val="1B1C1D"/>
              </a:solidFill>
              <a:effectLst/>
              <a:latin typeface="Google Sans Text"/>
            </a:endParaRPr>
          </a:p>
          <a:p>
            <a:pPr rtl="0"/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       b=n+l−1</a:t>
            </a:r>
          </a:p>
          <a:p>
            <a:pPr rtl="0"/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where: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b is the number of branches.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n is the number of nodes.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l is the number of independent loops.</a:t>
            </a:r>
          </a:p>
          <a:p>
            <a:pPr rtl="0"/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This equation is a fundamental relationship in graph theory applied to electrical circuits. It states that the number of branches in a connected network is directly related to the number of nodes and independent loops. </a:t>
            </a:r>
          </a:p>
          <a:p>
            <a:pPr rtl="0"/>
            <a:endParaRPr lang="en-GB" b="1" dirty="0">
              <a:solidFill>
                <a:srgbClr val="1B1C1D"/>
              </a:solidFill>
              <a:effectLst/>
              <a:latin typeface="Google Sans Text"/>
            </a:endParaRPr>
          </a:p>
          <a:p>
            <a:pPr rtl="0"/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The fundamental theorem of network topology (b=n+l−1) is a powerful tool because it directly links the number of equations needed for KCL (n−1) and KVL (l) for any given circuit. It confirms that both methods, despite their different approaches, yield the same number of independent equations and, therefore, provide a complete solution for the circuit variables (all branch currents and voltages).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1DB87-C5F7-42C8-B0F2-BC0C02C522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03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Kirchhoff's Current Law (KCL)</a:t>
            </a:r>
            <a:endParaRPr lang="en-GB" b="1" dirty="0">
              <a:solidFill>
                <a:srgbClr val="1B1C1D"/>
              </a:solidFill>
              <a:effectLst/>
              <a:latin typeface="Google Sans"/>
            </a:endParaRPr>
          </a:p>
          <a:p>
            <a:pPr rtl="0"/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KCL</a:t>
            </a: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 is based on the </a:t>
            </a:r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principle of conservation of charge</a:t>
            </a: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. It states that the algebraic sum of all currents entering and leaving a node (or junction) in an electrical circuit must be equal to zero. This is because charge cannot accumulate at a node; it must be conserved. </a:t>
            </a:r>
          </a:p>
          <a:p>
            <a:pPr rtl="0"/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Currents entering the node are typically assigned a negative sign, while currents leaving are assigned a positive sign.</a:t>
            </a:r>
          </a:p>
          <a:p>
            <a:pPr rtl="0"/>
            <a:endParaRPr lang="en-GB" b="1" dirty="0">
              <a:solidFill>
                <a:srgbClr val="1B1C1D"/>
              </a:solidFill>
              <a:effectLst/>
              <a:latin typeface="Google Sans Text"/>
            </a:endParaRPr>
          </a:p>
          <a:p>
            <a:pPr rtl="0"/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Kirchhoff's Voltage Law (KVL)</a:t>
            </a:r>
            <a:endParaRPr lang="en-GB" b="1" dirty="0">
              <a:solidFill>
                <a:srgbClr val="1B1C1D"/>
              </a:solidFill>
              <a:effectLst/>
              <a:latin typeface="Google Sans"/>
            </a:endParaRPr>
          </a:p>
          <a:p>
            <a:pPr rtl="0"/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KVL</a:t>
            </a: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 is based on the </a:t>
            </a:r>
            <a:r>
              <a:rPr lang="en-GB" b="1" dirty="0">
                <a:solidFill>
                  <a:srgbClr val="1B1C1D"/>
                </a:solidFill>
                <a:effectLst/>
                <a:latin typeface="Google Sans Text"/>
              </a:rPr>
              <a:t>principle of conservation of energy</a:t>
            </a:r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. It states that the algebraic sum of all potential differences (voltages) around any closed loop in a circuit is equal to zero. This is because, for a charge to return to its starting point in a closed loop, the net change in its potential energy must be zero. The energy supplied by sources must equal the energy dissipated or stored by other components. </a:t>
            </a:r>
          </a:p>
          <a:p>
            <a:pPr rtl="0"/>
            <a:r>
              <a:rPr lang="en-GB" dirty="0">
                <a:solidFill>
                  <a:srgbClr val="1B1C1D"/>
                </a:solidFill>
                <a:effectLst/>
                <a:latin typeface="Google Sans Text"/>
              </a:rPr>
              <a:t>Voltage rises (e.g., across a battery from the negative to the positive terminal) are typically positive, while voltage drops (e.g., across a resistor in the direction of current flow) are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1DB87-C5F7-42C8-B0F2-BC0C02C522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1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6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7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3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6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6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4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8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2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09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2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6C3C-3E52-83DB-D4E2-6889C78BB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93714-88F7-2D5F-1C49-B68C46E12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A2481-77D6-7FC9-7FC3-3C7CBF3C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52B2C-9F71-B217-39AF-F08E6FD9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FB537-2C75-90F8-A0AD-3A69EB4C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91A2-6B13-E26E-9043-AE25835C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1C18B-E678-8E37-0287-A7B3FB6A0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99A07-0DE9-4E72-4C78-30525B63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111C-FEB3-2E37-6D13-7DEF4396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8600F-3712-7E95-F7B5-0CA97DE5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83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5938-1558-D3F2-CBA0-CAEB461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01303-E7CB-5CA0-B343-453CD92CD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EC315-7EC9-AE34-BEEA-41F50BC6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4F5D2-0CD7-BBFA-6E93-8DE83CC3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C35E1-D297-B199-DA5C-2162D064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24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7605-5214-F148-2041-8CF4F664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5E81-3448-0A27-C750-46C653091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B0CFE-DAB7-F7E7-0EB7-074779688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D2E71-9E80-73EF-D2B6-E4B56D4D9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AB369-B0A9-6964-BC06-29480C8B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886DF-34A2-E6D7-102D-8173B335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65F5-9BAF-4813-7287-62C14DBB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F3EC6-777D-ECFD-A0BF-7A6476F8F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F4029-63C8-D11A-1615-926CAFBF8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788A7-23E5-FB7B-F108-73AA85817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5CE80-D63D-710A-E9D5-17AA126D4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AD181E-EBD6-1316-64E4-E7937583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7E64A-EFA3-C532-7EF4-5B6CE93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A865E-DCCC-5BB5-65DF-14D73678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8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AC13-17CE-C670-D74A-3F0EBC4B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C2A3F-E98C-3C6D-C515-07A60424C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03BC5-8705-2180-1B21-B230675A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50261-B8B4-447C-CD0F-B5ADD13C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103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173EB-1271-6EF5-7AFA-FFD2B50E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CB064-425E-76A2-19AB-A18F9FBC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E68D5-8B57-6277-6497-5922F174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17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FEBB-9206-44F4-C521-20BC5D66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F3A66-9557-6D55-D3F7-40FB8039E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172FB-3248-78CF-5C15-88D7BA8F4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8A411-3742-C407-2001-EF43FCE7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4D754-079E-A600-2936-5CA96D42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62ED3-6795-71A3-D69E-C6B443C0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7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6292-E866-696B-C15B-5F10D3A79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C4759-24CC-E52F-C65E-CBC456FD9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F0B36-0526-49C2-157F-319310F61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98A5E-5E5B-7952-CA7B-339783F7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E7DDF-B368-1B9C-1BC8-155E1DE6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E9B74-8746-97E0-C058-CBA1B6A33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93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71FA-BCEF-1A89-77FE-6AE0667C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7618F-7C25-08AF-179F-8EC06DB1D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CF921-9DFB-02D4-0D42-9082B795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9634-A8F5-54A5-2F42-C7BD8D7F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3E20-2579-9D6F-218D-3E95D02C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50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9BC6D-7A0B-49B0-381A-6CC6022E7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67C7B-E3A8-9F5D-697A-760862CE5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4B40A-6075-48AE-BE52-5A192568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44D9-BCDB-CBC3-3C4D-7F3E203D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C0EBA-F4EC-0D12-B71F-3C2F4CF8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7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8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9EAEB-88C1-D2E1-3C66-0BC3A661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A6B2B-A318-8EDD-D737-C8A914E4E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9B795-1B06-27D8-1AD6-24A700360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BADFF-F3F4-46EB-BB04-602F59D20966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B8DE1-B3CA-EA83-F9EF-6B3EE0686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6202-6142-3DC0-B9CA-1275E8020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F9E13-646D-48FC-913A-1EBBE02BE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5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6.png"/><Relationship Id="rId5" Type="http://schemas.openxmlformats.org/officeDocument/2006/relationships/image" Target="../media/image80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3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1613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0662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1: Fundamentals of Electrical Circuits</a:t>
            </a:r>
          </a:p>
          <a:p>
            <a:pPr algn="ctr"/>
            <a:endParaRPr lang="en-I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FFFF00"/>
                </a:solidFill>
                <a:latin typeface="Arial" panose="020B0604020202020204" pitchFamily="34" charset="0"/>
              </a:rPr>
              <a:t>Lecture 3: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</a:p>
          <a:p>
            <a:pPr algn="ctr" defTabSz="457200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Source Transformation, Kirchhoff’s Laws</a:t>
            </a:r>
            <a:endParaRPr lang="en-IN" sz="40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9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BF93FA-932A-8088-FA34-1C4351323763}"/>
              </a:ext>
            </a:extLst>
          </p:cNvPr>
          <p:cNvSpPr txBox="1"/>
          <p:nvPr/>
        </p:nvSpPr>
        <p:spPr>
          <a:xfrm>
            <a:off x="457200" y="196334"/>
            <a:ext cx="112776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SOURCE TRANSFORMATION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16D9A-1E6B-F023-E385-2F86ECC3B3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0" t="39167" r="57031" b="31805"/>
          <a:stretch/>
        </p:blipFill>
        <p:spPr>
          <a:xfrm>
            <a:off x="647701" y="1053565"/>
            <a:ext cx="3705224" cy="2375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9D67EA-9921-9F17-E3E9-22DEA42B37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39167" r="24375" b="32778"/>
          <a:stretch/>
        </p:blipFill>
        <p:spPr>
          <a:xfrm>
            <a:off x="7038975" y="1053565"/>
            <a:ext cx="3867150" cy="238159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BDE1BB-D62B-6C90-787E-E3257ACA5ED8}"/>
              </a:ext>
            </a:extLst>
          </p:cNvPr>
          <p:cNvCxnSpPr>
            <a:cxnSpLocks/>
          </p:cNvCxnSpPr>
          <p:nvPr/>
        </p:nvCxnSpPr>
        <p:spPr>
          <a:xfrm flipV="1">
            <a:off x="4800599" y="2241282"/>
            <a:ext cx="1743075" cy="1"/>
          </a:xfrm>
          <a:prstGeom prst="straightConnector1">
            <a:avLst/>
          </a:prstGeom>
          <a:ln w="8255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D6A6E34-B833-2BA3-9668-2EB9A3F88F9D}"/>
              </a:ext>
            </a:extLst>
          </p:cNvPr>
          <p:cNvSpPr txBox="1"/>
          <p:nvPr/>
        </p:nvSpPr>
        <p:spPr>
          <a:xfrm>
            <a:off x="3705225" y="3455234"/>
            <a:ext cx="4789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Transformation of independent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BA7CC-7760-162A-A810-E47C68DB956C}"/>
                  </a:ext>
                </a:extLst>
              </p:cNvPr>
              <p:cNvSpPr txBox="1"/>
              <p:nvPr/>
            </p:nvSpPr>
            <p:spPr>
              <a:xfrm>
                <a:off x="4137780" y="4057650"/>
                <a:ext cx="3434595" cy="74122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𝒗</m:t>
                          </m:r>
                        </m:e>
                        <m:sub>
                          <m: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𝒔</m:t>
                          </m:r>
                        </m:sub>
                      </m:sSub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e>
                        <m:sub>
                          <m: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𝒔</m:t>
                          </m:r>
                        </m:sub>
                      </m:sSub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𝑹</m:t>
                      </m:r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𝒐𝒓</m:t>
                      </m:r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e>
                        <m:sub>
                          <m: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𝒔</m:t>
                          </m:r>
                        </m:sub>
                      </m:sSub>
                      <m:r>
                        <a:rPr kumimoji="0" lang="en-US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𝒗</m:t>
                              </m:r>
                            </m:e>
                            <m:sub>
                              <m:r>
                                <a:rPr kumimoji="0" lang="en-US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r>
                            <a:rPr kumimoji="0" 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BA7CC-7760-162A-A810-E47C68DB9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780" y="4057650"/>
                <a:ext cx="3434595" cy="7412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50D3F1-7256-6696-4462-2F424475ACD6}"/>
                  </a:ext>
                </a:extLst>
              </p:cNvPr>
              <p:cNvSpPr txBox="1"/>
              <p:nvPr/>
            </p:nvSpPr>
            <p:spPr>
              <a:xfrm>
                <a:off x="457200" y="5266070"/>
                <a:ext cx="11277600" cy="830997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source transformation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is the process of replacing a voltage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in series with a resistor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𝑹</m:t>
                    </m:r>
                  </m:oMath>
                </a14:m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by a current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e>
                      <m:sub>
                        <m:r>
                          <a:rPr kumimoji="0" lang="en-US" sz="2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in parallel with a resistor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𝑹</m:t>
                    </m:r>
                  </m:oMath>
                </a14:m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or vice versa.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50D3F1-7256-6696-4462-2F424475A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66070"/>
                <a:ext cx="11277600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73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81637F-E387-3C0A-C634-4F2E0C50FB78}"/>
              </a:ext>
            </a:extLst>
          </p:cNvPr>
          <p:cNvSpPr txBox="1"/>
          <p:nvPr/>
        </p:nvSpPr>
        <p:spPr>
          <a:xfrm>
            <a:off x="542925" y="14585"/>
            <a:ext cx="11029950" cy="122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Source transformation also applies to dependent sources.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source transformation does not affect the remaining part of the circuit.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23288-1F6C-8289-3547-8E68667564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69" t="32084" r="18906" b="35833"/>
          <a:stretch/>
        </p:blipFill>
        <p:spPr>
          <a:xfrm>
            <a:off x="1771650" y="1357289"/>
            <a:ext cx="8305800" cy="22002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5BD042-E9C7-C1D9-A1C0-6B20C39C6289}"/>
              </a:ext>
            </a:extLst>
          </p:cNvPr>
          <p:cNvSpPr txBox="1"/>
          <p:nvPr/>
        </p:nvSpPr>
        <p:spPr>
          <a:xfrm>
            <a:off x="542925" y="3575388"/>
            <a:ext cx="11029950" cy="307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One should keep the following points in mind when dealing with source transformation: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arrow of the current source is directed toward the positive terminal of the voltage source.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Source transformation is not possible when R = 0, which is the case with an ideal voltage source. However, for a practical, non-ideal voltage source, R ≠ 0.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Similarly, an ideal current source with R = ∞ cannot be replaced by a finite voltage source.</a:t>
            </a:r>
          </a:p>
        </p:txBody>
      </p:sp>
    </p:spTree>
    <p:extLst>
      <p:ext uri="{BB962C8B-B14F-4D97-AF65-F5344CB8AC3E}">
        <p14:creationId xmlns:p14="http://schemas.microsoft.com/office/powerpoint/2010/main" val="245639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305EB4-064C-8076-E37D-1B465B4C60A0}"/>
              </a:ext>
            </a:extLst>
          </p:cNvPr>
          <p:cNvSpPr txBox="1"/>
          <p:nvPr/>
        </p:nvSpPr>
        <p:spPr>
          <a:xfrm>
            <a:off x="528915" y="106687"/>
            <a:ext cx="1121484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DIVISION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E2156-49BA-FC31-8D49-3081B1C9E308}"/>
              </a:ext>
            </a:extLst>
          </p:cNvPr>
          <p:cNvSpPr txBox="1"/>
          <p:nvPr/>
        </p:nvSpPr>
        <p:spPr>
          <a:xfrm>
            <a:off x="528915" y="484580"/>
            <a:ext cx="11492756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voltage gets divided in series circuit while the current flowing through every element is the same. Hence, voltage division is applicable in series circuit.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division rule can be understood by considering a series circuit shown below.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ED382-C596-7DC7-70FB-A2EE6575D2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647" t="31372" r="24191" b="25360"/>
          <a:stretch/>
        </p:blipFill>
        <p:spPr>
          <a:xfrm>
            <a:off x="528916" y="1765583"/>
            <a:ext cx="4551665" cy="25666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8F3FAF-D826-6A2C-CD68-575C463651F0}"/>
              </a:ext>
            </a:extLst>
          </p:cNvPr>
          <p:cNvSpPr txBox="1"/>
          <p:nvPr/>
        </p:nvSpPr>
        <p:spPr>
          <a:xfrm>
            <a:off x="5647764" y="17621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voltages across series resistors are,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934980-BED7-34F1-7510-214BF5888A87}"/>
                  </a:ext>
                </a:extLst>
              </p:cNvPr>
              <p:cNvSpPr txBox="1"/>
              <p:nvPr/>
            </p:nvSpPr>
            <p:spPr>
              <a:xfrm>
                <a:off x="5674660" y="2791696"/>
                <a:ext cx="6248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Putting (1) in (2), Voltage drop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934980-BED7-34F1-7510-214BF588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660" y="2791696"/>
                <a:ext cx="6248400" cy="369332"/>
              </a:xfrm>
              <a:prstGeom prst="rect">
                <a:avLst/>
              </a:prstGeom>
              <a:blipFill>
                <a:blip r:embed="rId4"/>
                <a:stretch>
                  <a:fillRect l="-878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11D803-EDB5-9C2D-91B5-3FCDAABCCD65}"/>
                  </a:ext>
                </a:extLst>
              </p:cNvPr>
              <p:cNvSpPr txBox="1"/>
              <p:nvPr/>
            </p:nvSpPr>
            <p:spPr>
              <a:xfrm>
                <a:off x="5674660" y="3687201"/>
                <a:ext cx="6338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Putting (1) in (3), Voltage drop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11D803-EDB5-9C2D-91B5-3FCDAABCC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660" y="3687201"/>
                <a:ext cx="6338046" cy="369332"/>
              </a:xfrm>
              <a:prstGeom prst="rect">
                <a:avLst/>
              </a:prstGeom>
              <a:blipFill>
                <a:blip r:embed="rId5"/>
                <a:stretch>
                  <a:fillRect l="-86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79C73C8-6D76-38F8-9E97-1DA371F03363}"/>
              </a:ext>
            </a:extLst>
          </p:cNvPr>
          <p:cNvSpPr txBox="1"/>
          <p:nvPr/>
        </p:nvSpPr>
        <p:spPr>
          <a:xfrm>
            <a:off x="528915" y="4815374"/>
            <a:ext cx="11340353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is divided among the resistors in direct proportion to their resistance. Larger the resistance, larger is voltage drop. This is called the principle of voltage division.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 resistors in series, voltage across nth resistor is given by,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846EF0-1729-8457-A7DF-7CF36D03064A}"/>
                  </a:ext>
                </a:extLst>
              </p:cNvPr>
              <p:cNvSpPr txBox="1"/>
              <p:nvPr/>
            </p:nvSpPr>
            <p:spPr>
              <a:xfrm>
                <a:off x="5772965" y="2127153"/>
                <a:ext cx="1620636" cy="4023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(1)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846EF0-1729-8457-A7DF-7CF36D030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965" y="2127153"/>
                <a:ext cx="1620636" cy="402354"/>
              </a:xfrm>
              <a:prstGeom prst="rect">
                <a:avLst/>
              </a:prstGeom>
              <a:blipFill>
                <a:blip r:embed="rId6"/>
                <a:stretch>
                  <a:fillRect l="-4887" t="-12121" r="-8647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3994E9-428B-AC5D-EE02-18662B506BD0}"/>
                  </a:ext>
                </a:extLst>
              </p:cNvPr>
              <p:cNvSpPr txBox="1"/>
              <p:nvPr/>
            </p:nvSpPr>
            <p:spPr>
              <a:xfrm>
                <a:off x="7902310" y="2186957"/>
                <a:ext cx="167821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(2)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3994E9-428B-AC5D-EE02-18662B506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310" y="2186957"/>
                <a:ext cx="1678216" cy="276999"/>
              </a:xfrm>
              <a:prstGeom prst="rect">
                <a:avLst/>
              </a:prstGeom>
              <a:blipFill>
                <a:blip r:embed="rId7"/>
                <a:stretch>
                  <a:fillRect l="-3623" t="-28889" r="-7971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66141B-94B0-E66C-24FA-AA1A7198CF0C}"/>
                  </a:ext>
                </a:extLst>
              </p:cNvPr>
              <p:cNvSpPr txBox="1"/>
              <p:nvPr/>
            </p:nvSpPr>
            <p:spPr>
              <a:xfrm>
                <a:off x="9841411" y="2166755"/>
                <a:ext cx="167821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(3)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66141B-94B0-E66C-24FA-AA1A7198C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411" y="2166755"/>
                <a:ext cx="1678216" cy="276999"/>
              </a:xfrm>
              <a:prstGeom prst="rect">
                <a:avLst/>
              </a:prstGeom>
              <a:blipFill>
                <a:blip r:embed="rId8"/>
                <a:stretch>
                  <a:fillRect l="-3623" t="-28261" r="-797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8E3124-7695-5359-67DB-2CEB333D91E7}"/>
                  </a:ext>
                </a:extLst>
              </p:cNvPr>
              <p:cNvSpPr txBox="1"/>
              <p:nvPr/>
            </p:nvSpPr>
            <p:spPr>
              <a:xfrm>
                <a:off x="5772965" y="3208480"/>
                <a:ext cx="1960408" cy="4317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(4)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8E3124-7695-5359-67DB-2CEB333D9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965" y="3208480"/>
                <a:ext cx="1960408" cy="431785"/>
              </a:xfrm>
              <a:prstGeom prst="rect">
                <a:avLst/>
              </a:prstGeom>
              <a:blipFill>
                <a:blip r:embed="rId9"/>
                <a:stretch>
                  <a:fillRect l="-3106" t="-4225" r="-6832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B8F519-90EA-E537-3D5E-E3499D370102}"/>
                  </a:ext>
                </a:extLst>
              </p:cNvPr>
              <p:cNvSpPr txBox="1"/>
              <p:nvPr/>
            </p:nvSpPr>
            <p:spPr>
              <a:xfrm>
                <a:off x="5772964" y="4158127"/>
                <a:ext cx="1960408" cy="4317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(5)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B8F519-90EA-E537-3D5E-E3499D370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964" y="4158127"/>
                <a:ext cx="1960408" cy="431785"/>
              </a:xfrm>
              <a:prstGeom prst="rect">
                <a:avLst/>
              </a:prstGeom>
              <a:blipFill>
                <a:blip r:embed="rId10"/>
                <a:stretch>
                  <a:fillRect l="-3106" t="-4225" r="-6832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7B9421-A85D-8A9D-9BC7-17ED12E78ADD}"/>
                  </a:ext>
                </a:extLst>
              </p:cNvPr>
              <p:cNvSpPr txBox="1"/>
              <p:nvPr/>
            </p:nvSpPr>
            <p:spPr>
              <a:xfrm>
                <a:off x="8170042" y="5637532"/>
                <a:ext cx="3573721" cy="5772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+..…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/>
                  <a:t> V</a:t>
                </a:r>
                <a:endParaRPr lang="en-US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7B9421-A85D-8A9D-9BC7-17ED12E78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042" y="5637532"/>
                <a:ext cx="3573721" cy="577209"/>
              </a:xfrm>
              <a:prstGeom prst="rect">
                <a:avLst/>
              </a:prstGeom>
              <a:blipFill>
                <a:blip r:embed="rId11"/>
                <a:stretch>
                  <a:fillRect t="-2128" b="-10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792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3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F85C3-6291-214D-862C-192314705B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47" t="16732" r="13089" b="19738"/>
          <a:stretch/>
        </p:blipFill>
        <p:spPr>
          <a:xfrm>
            <a:off x="0" y="676835"/>
            <a:ext cx="12209191" cy="550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8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37D6E-D0CE-4F4B-879A-604902063A53}"/>
              </a:ext>
            </a:extLst>
          </p:cNvPr>
          <p:cNvSpPr txBox="1"/>
          <p:nvPr/>
        </p:nvSpPr>
        <p:spPr>
          <a:xfrm>
            <a:off x="457200" y="250122"/>
            <a:ext cx="1132242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DIVISION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A4110-C3B0-8BFF-D6F8-55F10808247E}"/>
              </a:ext>
            </a:extLst>
          </p:cNvPr>
          <p:cNvSpPr txBox="1"/>
          <p:nvPr/>
        </p:nvSpPr>
        <p:spPr>
          <a:xfrm>
            <a:off x="434787" y="711787"/>
            <a:ext cx="11322425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current gets divided in parallel circuit while the voltage across each element is the same. Hence, current division is applicable in parallel circuit.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division rule can be understood by considering a parallel circuit shown below.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77B749-BE77-6485-2F09-C62170D0E4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09" t="55948" r="32500" b="8366"/>
          <a:stretch/>
        </p:blipFill>
        <p:spPr>
          <a:xfrm>
            <a:off x="582707" y="2131158"/>
            <a:ext cx="4473388" cy="24473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AF301B-F201-B5F3-DFBC-6196F64323DC}"/>
                  </a:ext>
                </a:extLst>
              </p:cNvPr>
              <p:cNvSpPr txBox="1"/>
              <p:nvPr/>
            </p:nvSpPr>
            <p:spPr>
              <a:xfrm>
                <a:off x="6096000" y="2259446"/>
                <a:ext cx="1365566" cy="5668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AF301B-F201-B5F3-DFBC-6196F6432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59446"/>
                <a:ext cx="1365566" cy="566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259B9D-BA33-E54C-D7FC-64DD99D98B00}"/>
                  </a:ext>
                </a:extLst>
              </p:cNvPr>
              <p:cNvSpPr txBox="1"/>
              <p:nvPr/>
            </p:nvSpPr>
            <p:spPr>
              <a:xfrm>
                <a:off x="9490693" y="3819266"/>
                <a:ext cx="1365566" cy="5668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259B9D-BA33-E54C-D7FC-64DD99D98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693" y="3819266"/>
                <a:ext cx="1365566" cy="566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C37977D-C27A-FA1C-6BF6-B38129173B4A}"/>
              </a:ext>
            </a:extLst>
          </p:cNvPr>
          <p:cNvSpPr txBox="1"/>
          <p:nvPr/>
        </p:nvSpPr>
        <p:spPr>
          <a:xfrm>
            <a:off x="582707" y="4983050"/>
            <a:ext cx="11196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current I is shared by the resistors in inverse proportion to their resistances. This is known as the principle of current division.</a:t>
            </a:r>
          </a:p>
        </p:txBody>
      </p:sp>
    </p:spTree>
    <p:extLst>
      <p:ext uri="{BB962C8B-B14F-4D97-AF65-F5344CB8AC3E}">
        <p14:creationId xmlns:p14="http://schemas.microsoft.com/office/powerpoint/2010/main" val="3769314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4CA6DC-5C46-497D-B870-6AD3BADD95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51" t="33405" r="11911" b="15163"/>
          <a:stretch/>
        </p:blipFill>
        <p:spPr>
          <a:xfrm>
            <a:off x="1345874" y="2028039"/>
            <a:ext cx="9235440" cy="3367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778319-663E-4BA1-BE84-3928BE72147A}"/>
              </a:ext>
            </a:extLst>
          </p:cNvPr>
          <p:cNvSpPr txBox="1"/>
          <p:nvPr/>
        </p:nvSpPr>
        <p:spPr>
          <a:xfrm>
            <a:off x="629175" y="408964"/>
            <a:ext cx="10997965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 Voltage Division finds applications in construction of electric meters and sensor devices</a:t>
            </a:r>
          </a:p>
        </p:txBody>
      </p:sp>
    </p:spTree>
    <p:extLst>
      <p:ext uri="{BB962C8B-B14F-4D97-AF65-F5344CB8AC3E}">
        <p14:creationId xmlns:p14="http://schemas.microsoft.com/office/powerpoint/2010/main" val="440482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ADF06E-93A8-779F-DF7A-93A5148DA50F}"/>
              </a:ext>
            </a:extLst>
          </p:cNvPr>
          <p:cNvSpPr txBox="1"/>
          <p:nvPr/>
        </p:nvSpPr>
        <p:spPr>
          <a:xfrm>
            <a:off x="107576" y="644166"/>
            <a:ext cx="113224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division concept is used in making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rheostat, potentiometers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9BEA6-2567-73D0-544A-A2A9347477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33" t="34510" r="12720" b="13784"/>
          <a:stretch/>
        </p:blipFill>
        <p:spPr>
          <a:xfrm>
            <a:off x="0" y="1647045"/>
            <a:ext cx="12192000" cy="45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16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2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4D9AA4-063B-DBC4-9237-3CE138BBA2D9}"/>
              </a:ext>
            </a:extLst>
          </p:cNvPr>
          <p:cNvSpPr txBox="1"/>
          <p:nvPr/>
        </p:nvSpPr>
        <p:spPr>
          <a:xfrm>
            <a:off x="466164" y="622611"/>
            <a:ext cx="112417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division concept is used in making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radios, amplifiers and electronic devices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adjusting signal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46946-ECD0-F31E-6324-5B63039CD0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83" t="34248" r="12500" b="21307"/>
          <a:stretch/>
        </p:blipFill>
        <p:spPr>
          <a:xfrm>
            <a:off x="0" y="1860177"/>
            <a:ext cx="12192000" cy="38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97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9553B7-6055-B344-8356-12BB04ACD53B}"/>
              </a:ext>
            </a:extLst>
          </p:cNvPr>
          <p:cNvSpPr txBox="1"/>
          <p:nvPr/>
        </p:nvSpPr>
        <p:spPr>
          <a:xfrm>
            <a:off x="475128" y="394464"/>
            <a:ext cx="11152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of voltage division and current division is used in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transformers and current transformers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stepping down high voltage and high current in power plants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CEB8A-9BC7-415C-5872-9490555ED6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03" t="30327" r="40368" b="22353"/>
          <a:stretch/>
        </p:blipFill>
        <p:spPr>
          <a:xfrm>
            <a:off x="3702424" y="1778246"/>
            <a:ext cx="4141694" cy="468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26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444D04-0BBF-2F4B-D5EA-BBE328CBA8B5}"/>
              </a:ext>
            </a:extLst>
          </p:cNvPr>
          <p:cNvSpPr txBox="1"/>
          <p:nvPr/>
        </p:nvSpPr>
        <p:spPr>
          <a:xfrm>
            <a:off x="574923" y="228126"/>
            <a:ext cx="1115091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Lighting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2B02DB-6438-E1CB-D272-B05B0E3B6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282"/>
          <a:stretch/>
        </p:blipFill>
        <p:spPr>
          <a:xfrm>
            <a:off x="574922" y="865312"/>
            <a:ext cx="6977534" cy="2899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FEAC78-7987-D06A-910E-1613393767C1}"/>
              </a:ext>
            </a:extLst>
          </p:cNvPr>
          <p:cNvSpPr txBox="1"/>
          <p:nvPr/>
        </p:nvSpPr>
        <p:spPr>
          <a:xfrm>
            <a:off x="7657042" y="1870183"/>
            <a:ext cx="40687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Rest of the bulbs are ON except the parallel path with break in circuit.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A29496-062D-D6EF-7A54-9780C2876E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226"/>
          <a:stretch/>
        </p:blipFill>
        <p:spPr>
          <a:xfrm>
            <a:off x="559515" y="3983781"/>
            <a:ext cx="6977535" cy="18086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809C0E-998C-F6E7-AEFA-1E28DA584446}"/>
              </a:ext>
            </a:extLst>
          </p:cNvPr>
          <p:cNvSpPr txBox="1"/>
          <p:nvPr/>
        </p:nvSpPr>
        <p:spPr>
          <a:xfrm>
            <a:off x="7657041" y="4072519"/>
            <a:ext cx="43023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Rest of the bulbs are OFF after breaking point. Lighting System Series Connection Correct?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3EB843-5259-CC7A-A955-AB2783627957}"/>
              </a:ext>
            </a:extLst>
          </p:cNvPr>
          <p:cNvSpPr txBox="1"/>
          <p:nvPr/>
        </p:nvSpPr>
        <p:spPr>
          <a:xfrm>
            <a:off x="5162550" y="5281958"/>
            <a:ext cx="6399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F9CA05-1CB0-05FA-2D7D-B75756D2F971}"/>
              </a:ext>
            </a:extLst>
          </p:cNvPr>
          <p:cNvSpPr txBox="1"/>
          <p:nvPr/>
        </p:nvSpPr>
        <p:spPr>
          <a:xfrm>
            <a:off x="6061356" y="552817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No! These 2 bulbs will also be OFF. There will be no current on the entire line because of open circuit.</a:t>
            </a:r>
          </a:p>
        </p:txBody>
      </p:sp>
    </p:spTree>
    <p:extLst>
      <p:ext uri="{BB962C8B-B14F-4D97-AF65-F5344CB8AC3E}">
        <p14:creationId xmlns:p14="http://schemas.microsoft.com/office/powerpoint/2010/main" val="74565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8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F6491E-70BA-BC67-58D6-4787FE5C8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23" y="1435442"/>
            <a:ext cx="9827604" cy="3834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08BEF-ED47-9F10-E91A-3EE642C7F921}"/>
              </a:ext>
            </a:extLst>
          </p:cNvPr>
          <p:cNvSpPr txBox="1"/>
          <p:nvPr/>
        </p:nvSpPr>
        <p:spPr>
          <a:xfrm>
            <a:off x="1077423" y="433899"/>
            <a:ext cx="60960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Lighting System Circuit Representation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E095F-DE9F-05CA-D078-8C2977C4C72A}"/>
              </a:ext>
            </a:extLst>
          </p:cNvPr>
          <p:cNvSpPr txBox="1"/>
          <p:nvPr/>
        </p:nvSpPr>
        <p:spPr>
          <a:xfrm>
            <a:off x="1182197" y="5350043"/>
            <a:ext cx="106207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(a) Parallel connection of light bulbs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(b) series connection of light bulbs.</a:t>
            </a:r>
          </a:p>
        </p:txBody>
      </p:sp>
    </p:spTree>
    <p:extLst>
      <p:ext uri="{BB962C8B-B14F-4D97-AF65-F5344CB8AC3E}">
        <p14:creationId xmlns:p14="http://schemas.microsoft.com/office/powerpoint/2010/main" val="218175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766501-418C-C4E5-BED5-6F58624C8AAD}"/>
              </a:ext>
            </a:extLst>
          </p:cNvPr>
          <p:cNvSpPr txBox="1"/>
          <p:nvPr/>
        </p:nvSpPr>
        <p:spPr>
          <a:xfrm>
            <a:off x="342899" y="221238"/>
            <a:ext cx="114300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NODE , BRANCHES AND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8D620-6594-344A-3BF2-7A40B1E81534}"/>
              </a:ext>
            </a:extLst>
          </p:cNvPr>
          <p:cNvSpPr txBox="1"/>
          <p:nvPr/>
        </p:nvSpPr>
        <p:spPr>
          <a:xfrm>
            <a:off x="342899" y="1096060"/>
            <a:ext cx="11429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branch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represents a single element such as a voltage source or a resistor in a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C1161-B9FD-7775-4B39-F53E5DD022E2}"/>
              </a:ext>
            </a:extLst>
          </p:cNvPr>
          <p:cNvSpPr txBox="1"/>
          <p:nvPr/>
        </p:nvSpPr>
        <p:spPr>
          <a:xfrm>
            <a:off x="342900" y="1580377"/>
            <a:ext cx="11429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the point of connection between two or more branches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11FE1A-BA96-1142-CD27-1120A683899C}"/>
              </a:ext>
            </a:extLst>
          </p:cNvPr>
          <p:cNvSpPr txBox="1"/>
          <p:nvPr/>
        </p:nvSpPr>
        <p:spPr>
          <a:xfrm>
            <a:off x="342899" y="2064694"/>
            <a:ext cx="114299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any closed path in a circuit.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DE94EF-D63F-AFEB-E805-960739C134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50" t="30106" r="57344" b="41111"/>
          <a:stretch/>
        </p:blipFill>
        <p:spPr>
          <a:xfrm>
            <a:off x="438150" y="2683819"/>
            <a:ext cx="3524250" cy="19739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263669-BC28-A50E-0DFE-A83B4B6BFCDD}"/>
              </a:ext>
            </a:extLst>
          </p:cNvPr>
          <p:cNvSpPr txBox="1"/>
          <p:nvPr/>
        </p:nvSpPr>
        <p:spPr>
          <a:xfrm>
            <a:off x="1057275" y="4657725"/>
            <a:ext cx="2428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 branches and 3 nodes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0BC4C4-8A4C-6847-C7D6-AB3EA1CE45B7}"/>
              </a:ext>
            </a:extLst>
          </p:cNvPr>
          <p:cNvSpPr txBox="1"/>
          <p:nvPr/>
        </p:nvSpPr>
        <p:spPr>
          <a:xfrm>
            <a:off x="4495800" y="3006209"/>
            <a:ext cx="2724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Same Circuit reconfigured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8BE7037-AC27-4CAE-52EB-1534A8BE40F2}"/>
              </a:ext>
            </a:extLst>
          </p:cNvPr>
          <p:cNvSpPr/>
          <p:nvPr/>
        </p:nvSpPr>
        <p:spPr>
          <a:xfrm>
            <a:off x="4572000" y="3316888"/>
            <a:ext cx="2667000" cy="241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C548483-6918-5AEC-E73C-83F8C5A71F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344" t="32617" r="15468" b="38600"/>
          <a:stretch/>
        </p:blipFill>
        <p:spPr>
          <a:xfrm>
            <a:off x="7656650" y="2249360"/>
            <a:ext cx="4354371" cy="25930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DBAD39-42B3-57F9-9B77-0C18FE274340}"/>
              </a:ext>
            </a:extLst>
          </p:cNvPr>
          <p:cNvSpPr txBox="1"/>
          <p:nvPr/>
        </p:nvSpPr>
        <p:spPr>
          <a:xfrm>
            <a:off x="438150" y="5219639"/>
            <a:ext cx="11334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network with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 branches, n nodes,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 independent loops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will satisfy the fundamental theorem of network topology: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3F8472-4D90-6D5F-E295-DF788724A2C9}"/>
                  </a:ext>
                </a:extLst>
              </p:cNvPr>
              <p:cNvSpPr txBox="1"/>
              <p:nvPr/>
            </p:nvSpPr>
            <p:spPr>
              <a:xfrm>
                <a:off x="4657725" y="5920052"/>
                <a:ext cx="18857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𝒏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𝒍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3F8472-4D90-6D5F-E295-DF788724A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725" y="5920052"/>
                <a:ext cx="1885709" cy="369332"/>
              </a:xfrm>
              <a:prstGeom prst="rect">
                <a:avLst/>
              </a:prstGeom>
              <a:blipFill>
                <a:blip r:embed="rId5"/>
                <a:stretch>
                  <a:fillRect l="-3560" r="-356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778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3" grpId="0"/>
      <p:bldP spid="15" grpId="0"/>
      <p:bldP spid="16" grpId="0" animBg="1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BF364-9F48-BC87-7707-CD838D93AF1A}"/>
              </a:ext>
            </a:extLst>
          </p:cNvPr>
          <p:cNvSpPr txBox="1"/>
          <p:nvPr/>
        </p:nvSpPr>
        <p:spPr>
          <a:xfrm>
            <a:off x="331695" y="522983"/>
            <a:ext cx="1186030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Kirchhoff’s laws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two equalities that deal with the current and voltage in electrical circuits.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were first described in 1845 by German physicist </a:t>
            </a:r>
            <a:r>
              <a:rPr 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Gustav Kirchhoff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498D7-F5D0-545A-1F12-610D0D4E7F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88" t="54641" r="47574" b="11895"/>
          <a:stretch/>
        </p:blipFill>
        <p:spPr>
          <a:xfrm>
            <a:off x="9000565" y="3751506"/>
            <a:ext cx="3191435" cy="3106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009A30-31C9-2039-D1D9-D17CBC6883B9}"/>
              </a:ext>
            </a:extLst>
          </p:cNvPr>
          <p:cNvSpPr txBox="1"/>
          <p:nvPr/>
        </p:nvSpPr>
        <p:spPr>
          <a:xfrm>
            <a:off x="331695" y="1527909"/>
            <a:ext cx="8668870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 by itself is not sufficient to analyze circuits.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it is coupled with Kirchhoff’s laws, we have a sufficient, powerful set of tools for analyzing a large variety of electric circuits.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Kirchhoff’s current law is based on the law of conservation of </a:t>
            </a:r>
            <a:r>
              <a:rPr 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Kirchhoff’s voltage law is based on the law of conservation of </a:t>
            </a:r>
            <a:r>
              <a:rPr 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laws can be applied to AC circuits in the same way as for DC circuits provided we use phasor sums rather than algebraic sums.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8A447-7574-E910-763C-EA1EFEC0722C}"/>
              </a:ext>
            </a:extLst>
          </p:cNvPr>
          <p:cNvSpPr txBox="1"/>
          <p:nvPr/>
        </p:nvSpPr>
        <p:spPr>
          <a:xfrm>
            <a:off x="506506" y="9525"/>
            <a:ext cx="1117898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KIRCHHOFF’S LAWS </a:t>
            </a:r>
          </a:p>
        </p:txBody>
      </p:sp>
    </p:spTree>
    <p:extLst>
      <p:ext uri="{BB962C8B-B14F-4D97-AF65-F5344CB8AC3E}">
        <p14:creationId xmlns:p14="http://schemas.microsoft.com/office/powerpoint/2010/main" val="16646938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3E16E-2FF0-F5B5-A782-AECF917265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6" t="2744" r="2059" b="3791"/>
          <a:stretch/>
        </p:blipFill>
        <p:spPr>
          <a:xfrm>
            <a:off x="8961" y="-277905"/>
            <a:ext cx="12183039" cy="684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0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61F984-1053-2CC6-0EA8-C2E2E0C3A2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2" t="2745" r="2425" b="6219"/>
          <a:stretch/>
        </p:blipFill>
        <p:spPr>
          <a:xfrm>
            <a:off x="0" y="0"/>
            <a:ext cx="12192000" cy="652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0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01EEE6-9503-6AFC-197A-B149A2EF65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2" t="2778" r="2108" b="6944"/>
          <a:stretch/>
        </p:blipFill>
        <p:spPr>
          <a:xfrm>
            <a:off x="4762" y="9524"/>
            <a:ext cx="12187238" cy="645615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1193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9E47D-850F-1250-A62B-B605D22B75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9" t="3194" r="2187" b="4445"/>
          <a:stretch/>
        </p:blipFill>
        <p:spPr>
          <a:xfrm>
            <a:off x="0" y="-1"/>
            <a:ext cx="12194505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973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BF10AF-7E97-D817-BB7F-61D74FAA5E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2" t="3195" r="2187" b="7361"/>
          <a:stretch/>
        </p:blipFill>
        <p:spPr>
          <a:xfrm>
            <a:off x="0" y="0"/>
            <a:ext cx="12202443" cy="640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7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B0097D-A33E-8A74-1C6D-74A5B2B8CF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2" t="2779" r="2108" b="4860"/>
          <a:stretch/>
        </p:blipFill>
        <p:spPr>
          <a:xfrm>
            <a:off x="-2" y="-1"/>
            <a:ext cx="12181376" cy="660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2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7FA8D-179F-F4E8-A8E0-1AF3EC0DB5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2" t="3333" r="2187" b="5694"/>
          <a:stretch/>
        </p:blipFill>
        <p:spPr>
          <a:xfrm>
            <a:off x="-1" y="-62366"/>
            <a:ext cx="12151887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4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735580" y="2752344"/>
            <a:ext cx="6720840" cy="268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5060</TotalTime>
  <Words>2111</Words>
  <Application>Microsoft Office PowerPoint</Application>
  <PresentationFormat>Widescreen</PresentationFormat>
  <Paragraphs>172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Google Sans</vt:lpstr>
      <vt:lpstr>Google Sans Text</vt:lpstr>
      <vt:lpstr>Source Sans Pro</vt:lpstr>
      <vt:lpstr>Times New Roman</vt:lpstr>
      <vt:lpstr>Wingdings</vt:lpstr>
      <vt:lpstr>Metropolitan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59</cp:revision>
  <dcterms:created xsi:type="dcterms:W3CDTF">2022-09-14T07:44:26Z</dcterms:created>
  <dcterms:modified xsi:type="dcterms:W3CDTF">2025-09-21T19:41:44Z</dcterms:modified>
</cp:coreProperties>
</file>